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166" r:id="rId3"/>
    <p:sldId id="332" r:id="rId5"/>
    <p:sldId id="2457" r:id="rId6"/>
    <p:sldId id="2489" r:id="rId7"/>
    <p:sldId id="2456" r:id="rId8"/>
    <p:sldId id="2461" r:id="rId9"/>
    <p:sldId id="2462" r:id="rId10"/>
    <p:sldId id="2463" r:id="rId11"/>
    <p:sldId id="2464" r:id="rId12"/>
    <p:sldId id="2460" r:id="rId13"/>
    <p:sldId id="2486" r:id="rId14"/>
    <p:sldId id="2487" r:id="rId15"/>
    <p:sldId id="2488" r:id="rId16"/>
  </p:sldIdLst>
  <p:sldSz cx="12193270" cy="7019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80" userDrawn="1">
          <p15:clr>
            <a:srgbClr val="A4A3A4"/>
          </p15:clr>
        </p15:guide>
        <p15:guide id="2" pos="7085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547" userDrawn="1">
          <p15:clr>
            <a:srgbClr val="A4A3A4"/>
          </p15:clr>
        </p15:guide>
        <p15:guide id="5" orient="horz" pos="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F57136"/>
    <a:srgbClr val="FD8551"/>
    <a:srgbClr val="DA6343"/>
    <a:srgbClr val="823932"/>
    <a:srgbClr val="006C67"/>
    <a:srgbClr val="92251D"/>
    <a:srgbClr val="350D0A"/>
    <a:srgbClr val="000C28"/>
    <a:srgbClr val="000820"/>
    <a:srgbClr val="FFC7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5" autoAdjust="0"/>
    <p:restoredTop sz="80970" autoAdjust="0"/>
  </p:normalViewPr>
  <p:slideViewPr>
    <p:cSldViewPr snapToGrid="0" snapToObjects="1" showGuides="1">
      <p:cViewPr varScale="1">
        <p:scale>
          <a:sx n="129" d="100"/>
          <a:sy n="129" d="100"/>
        </p:scale>
        <p:origin x="216" y="712"/>
      </p:cViewPr>
      <p:guideLst>
        <p:guide orient="horz" pos="4180"/>
        <p:guide pos="7085"/>
        <p:guide pos="3840"/>
        <p:guide pos="547"/>
        <p:guide orient="horz" pos="37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 Light" panose="020F0302020204030204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 Light" panose="020F0302020204030204"/>
              </a:defRPr>
            </a:lvl1pPr>
          </a:lstStyle>
          <a:p>
            <a:fld id="{EFC10EE1-B198-C942-8235-326C972CBB3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0850" y="685800"/>
            <a:ext cx="59563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 Light" panose="020F0302020204030204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 Light" panose="020F0302020204030204"/>
              </a:defRPr>
            </a:lvl1pPr>
          </a:lstStyle>
          <a:p>
            <a:fld id="{006BE02D-20C0-F840-AFAC-BEA99C74FDC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61010" rtl="0" eaLnBrk="1" latinLnBrk="0" hangingPunct="1">
      <a:defRPr sz="1210" kern="1200">
        <a:solidFill>
          <a:schemeClr val="tx1"/>
        </a:solidFill>
        <a:latin typeface="Calibri Light" panose="020F0302020204030204"/>
        <a:ea typeface="+mn-ea"/>
        <a:cs typeface="+mn-cs"/>
      </a:defRPr>
    </a:lvl1pPr>
    <a:lvl2pPr marL="461010" algn="l" defTabSz="461010" rtl="0" eaLnBrk="1" latinLnBrk="0" hangingPunct="1">
      <a:defRPr sz="1210" kern="1200">
        <a:solidFill>
          <a:schemeClr val="tx1"/>
        </a:solidFill>
        <a:latin typeface="Calibri Light" panose="020F0302020204030204"/>
        <a:ea typeface="+mn-ea"/>
        <a:cs typeface="+mn-cs"/>
      </a:defRPr>
    </a:lvl2pPr>
    <a:lvl3pPr marL="922020" algn="l" defTabSz="461010" rtl="0" eaLnBrk="1" latinLnBrk="0" hangingPunct="1">
      <a:defRPr sz="1210" kern="1200">
        <a:solidFill>
          <a:schemeClr val="tx1"/>
        </a:solidFill>
        <a:latin typeface="Calibri Light" panose="020F0302020204030204"/>
        <a:ea typeface="+mn-ea"/>
        <a:cs typeface="+mn-cs"/>
      </a:defRPr>
    </a:lvl3pPr>
    <a:lvl4pPr marL="1383030" algn="l" defTabSz="461010" rtl="0" eaLnBrk="1" latinLnBrk="0" hangingPunct="1">
      <a:defRPr sz="1210" kern="1200">
        <a:solidFill>
          <a:schemeClr val="tx1"/>
        </a:solidFill>
        <a:latin typeface="Calibri Light" panose="020F0302020204030204"/>
        <a:ea typeface="+mn-ea"/>
        <a:cs typeface="+mn-cs"/>
      </a:defRPr>
    </a:lvl4pPr>
    <a:lvl5pPr marL="1844040" algn="l" defTabSz="461010" rtl="0" eaLnBrk="1" latinLnBrk="0" hangingPunct="1">
      <a:defRPr sz="1210" kern="1200">
        <a:solidFill>
          <a:schemeClr val="tx1"/>
        </a:solidFill>
        <a:latin typeface="Calibri Light" panose="020F0302020204030204"/>
        <a:ea typeface="+mn-ea"/>
        <a:cs typeface="+mn-cs"/>
      </a:defRPr>
    </a:lvl5pPr>
    <a:lvl6pPr marL="2305050" algn="l" defTabSz="461010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6pPr>
    <a:lvl7pPr marL="2766060" algn="l" defTabSz="461010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7pPr>
    <a:lvl8pPr marL="3227070" algn="l" defTabSz="461010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8pPr>
    <a:lvl9pPr marL="3688080" algn="l" defTabSz="461010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0850" y="685800"/>
            <a:ext cx="59563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33.87</a:t>
            </a:r>
            <a:r>
              <a:rPr lang="zh-CN" altLang="en-US" dirty="0"/>
              <a:t> </a:t>
            </a:r>
            <a:r>
              <a:rPr lang="en-US" altLang="zh-CN" dirty="0"/>
              <a:t>19.5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0850" y="685800"/>
            <a:ext cx="59563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0850" y="685800"/>
            <a:ext cx="59563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0850" y="685800"/>
            <a:ext cx="59563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0850" y="685800"/>
            <a:ext cx="59563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0850" y="685800"/>
            <a:ext cx="59563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06BE02D-20C0-F840-AFAC-BEA99C74FD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0850" y="685800"/>
            <a:ext cx="59563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610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dirty="0">
              <a:ln>
                <a:noFill/>
              </a:ln>
              <a:solidFill>
                <a:schemeClr val="bg1"/>
              </a:solidFill>
              <a:effectLst/>
              <a:uFillTx/>
              <a:cs typeface="+mn-ea"/>
              <a:sym typeface="+mn-l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0850" y="685800"/>
            <a:ext cx="59563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610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dirty="0">
              <a:ln>
                <a:noFill/>
              </a:ln>
              <a:solidFill>
                <a:schemeClr val="bg1"/>
              </a:solidFill>
              <a:effectLst/>
              <a:uFillTx/>
              <a:cs typeface="+mn-ea"/>
              <a:sym typeface="+mn-l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0850" y="685800"/>
            <a:ext cx="59563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0850" y="685800"/>
            <a:ext cx="59563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0850" y="685800"/>
            <a:ext cx="59563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0850" y="685800"/>
            <a:ext cx="59563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199" y="1148863"/>
            <a:ext cx="9145191" cy="244397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3687086"/>
            <a:ext cx="9145191" cy="169485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8" y="1750107"/>
            <a:ext cx="10516970" cy="292009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8" y="4697826"/>
            <a:ext cx="10516970" cy="153560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1868730"/>
            <a:ext cx="5182275" cy="44540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1868730"/>
            <a:ext cx="5182275" cy="44540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373747"/>
            <a:ext cx="10516970" cy="13568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8" y="1720857"/>
            <a:ext cx="5158459" cy="8433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8" y="2564223"/>
            <a:ext cx="5158459" cy="37715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4" y="1720857"/>
            <a:ext cx="5183863" cy="8433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4" y="2564223"/>
            <a:ext cx="5183863" cy="37715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67995"/>
            <a:ext cx="3932749" cy="163798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1010740"/>
            <a:ext cx="6173004" cy="49886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2105977"/>
            <a:ext cx="3932749" cy="390158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67995"/>
            <a:ext cx="3932749" cy="163798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1010740"/>
            <a:ext cx="6173004" cy="498869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2105977"/>
            <a:ext cx="3932749" cy="390158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373746"/>
            <a:ext cx="2629242" cy="5949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09" y="373746"/>
            <a:ext cx="7735307" cy="5949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3588" cy="7019925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Lato Light" charset="0"/>
                <a:ea typeface="Lato Light" charset="0"/>
                <a:cs typeface="Lato Light" charset="0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onr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3484974" y="1027060"/>
            <a:ext cx="1928648" cy="2697626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Lato Light" charset="0"/>
                <a:ea typeface="Lato Light" charset="0"/>
                <a:cs typeface="Lato Light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3474336" y="3888291"/>
            <a:ext cx="1939286" cy="248814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Lato Light" charset="0"/>
                <a:ea typeface="Lato Light" charset="0"/>
                <a:cs typeface="Lato Light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1381924" y="1027059"/>
            <a:ext cx="1939286" cy="1577143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Lato Light" charset="0"/>
                <a:ea typeface="Lato Light" charset="0"/>
                <a:cs typeface="Lato Light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1381924" y="2779320"/>
            <a:ext cx="1939286" cy="3597111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Lato Light" charset="0"/>
                <a:ea typeface="Lato Light" charset="0"/>
                <a:cs typeface="Lato Light" charset="0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of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-4911" y="1661382"/>
            <a:ext cx="12198499" cy="3357864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Lato Light" charset="0"/>
                <a:ea typeface="Lato Light" charset="0"/>
                <a:cs typeface="Lato Light" charset="0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s of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3639693" y="2161948"/>
            <a:ext cx="2268702" cy="2225505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15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Poppins Light" charset="0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975463" y="2161948"/>
            <a:ext cx="2268702" cy="2225505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15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Poppins Light" charset="0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8968155" y="2161948"/>
            <a:ext cx="2268702" cy="2225505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15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Poppins Light" charset="0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6303925" y="2161948"/>
            <a:ext cx="2268702" cy="2225505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15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Poppins Light" charset="0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3412096" y="3013613"/>
            <a:ext cx="1848851" cy="1090092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15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Poppins Light" charset="0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1188093" y="3013613"/>
            <a:ext cx="1848851" cy="1090092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15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Poppins Light" charset="0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3412096" y="4485162"/>
            <a:ext cx="1848851" cy="1090092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15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Poppins Light" charset="0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1188093" y="4485162"/>
            <a:ext cx="1848851" cy="1090092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15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Poppins Light" charset="0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3412096" y="1571314"/>
            <a:ext cx="1848851" cy="1090092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15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Poppins Light" charset="0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1188093" y="1571314"/>
            <a:ext cx="1848851" cy="1090092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15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Poppins Light" charset="0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ess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2620373" y="1616412"/>
            <a:ext cx="1427771" cy="1458712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000" b="0" i="0">
                <a:latin typeface="Poppins Light" charset="0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2"/>
            <a:ext cx="12193588" cy="3509961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dirty="0"/>
              <a:t>Image placeholder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73747"/>
            <a:ext cx="10516970" cy="1356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868730"/>
            <a:ext cx="10516970" cy="4454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6506431"/>
            <a:ext cx="2743557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6506431"/>
            <a:ext cx="4115336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6506431"/>
            <a:ext cx="2743557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7" name="TextBox 9"/>
          <p:cNvSpPr txBox="1"/>
          <p:nvPr userDrawn="1"/>
        </p:nvSpPr>
        <p:spPr>
          <a:xfrm>
            <a:off x="11122016" y="338651"/>
            <a:ext cx="370649" cy="230851"/>
          </a:xfrm>
          <a:prstGeom prst="rect">
            <a:avLst/>
          </a:prstGeom>
          <a:noFill/>
        </p:spPr>
        <p:txBody>
          <a:bodyPr wrap="none" lIns="91457" tIns="45729" rIns="91457" bIns="45729" rtlCol="0">
            <a:spAutoFit/>
          </a:bodyPr>
          <a:lstStyle/>
          <a:p>
            <a:pPr algn="ctr"/>
            <a:fld id="{260E2A6B-A809-4840-BF14-8648BC0BDF87}" type="slidenum">
              <a:rPr lang="id-ID" sz="900" b="0" i="0" smtClean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</a:fld>
            <a:r>
              <a:rPr lang="id-ID" sz="900" b="0" i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  </a:t>
            </a:r>
            <a:endParaRPr lang="id-ID" sz="900" b="0" i="0">
              <a:solidFill>
                <a:schemeClr val="tx1"/>
              </a:solidFill>
              <a:latin typeface="Montserrat Light" charset="0"/>
              <a:ea typeface="Montserrat Light" charset="0"/>
              <a:cs typeface="Montserrat Light" charset="0"/>
            </a:endParaRPr>
          </a:p>
        </p:txBody>
      </p:sp>
      <p:sp>
        <p:nvSpPr>
          <p:cNvPr id="8" name="Rectangle 11"/>
          <p:cNvSpPr/>
          <p:nvPr userDrawn="1"/>
        </p:nvSpPr>
        <p:spPr bwMode="auto">
          <a:xfrm>
            <a:off x="10823945" y="388333"/>
            <a:ext cx="302968" cy="138499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ctr" anchorCtr="0">
            <a:spAutoFit/>
          </a:bodyPr>
          <a:lstStyle/>
          <a:p>
            <a:pPr algn="ctr" defTabSz="2286635"/>
            <a:r>
              <a:rPr lang="en-US" sz="900" b="0" i="0" spc="15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  <a:sym typeface="Bebas Neue" charset="0"/>
              </a:rPr>
              <a:t>Page</a:t>
            </a:r>
            <a:endParaRPr lang="en-US" sz="900" b="0" i="0" spc="150">
              <a:solidFill>
                <a:schemeClr val="tx1"/>
              </a:solidFill>
              <a:latin typeface="Montserrat Light" charset="0"/>
              <a:ea typeface="Montserrat Light" charset="0"/>
              <a:cs typeface="Montserrat Light" charset="0"/>
              <a:sym typeface="Bebas Neue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/>
          <a:stretch>
            <a:fillRect/>
          </a:stretch>
        </p:blipFill>
        <p:spPr>
          <a:xfrm>
            <a:off x="-81023" y="-97976"/>
            <a:ext cx="12309336" cy="7179152"/>
          </a:xfrm>
        </p:spPr>
      </p:pic>
      <p:sp>
        <p:nvSpPr>
          <p:cNvPr id="9" name="Rectangle 8"/>
          <p:cNvSpPr/>
          <p:nvPr/>
        </p:nvSpPr>
        <p:spPr>
          <a:xfrm>
            <a:off x="-88722" y="-94933"/>
            <a:ext cx="12295505" cy="7209790"/>
          </a:xfrm>
          <a:prstGeom prst="rect">
            <a:avLst/>
          </a:prstGeom>
          <a:gradFill flip="none" rotWithShape="1">
            <a:gsLst>
              <a:gs pos="13000">
                <a:schemeClr val="accent5">
                  <a:lumMod val="75000"/>
                  <a:alpha val="78563"/>
                </a:schemeClr>
              </a:gs>
              <a:gs pos="83000">
                <a:schemeClr val="accent5">
                  <a:lumMod val="50000"/>
                  <a:alpha val="19000"/>
                </a:scheme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10" dirty="0"/>
          </a:p>
        </p:txBody>
      </p:sp>
      <p:sp>
        <p:nvSpPr>
          <p:cNvPr id="44" name="Subtitle 2"/>
          <p:cNvSpPr txBox="1"/>
          <p:nvPr/>
        </p:nvSpPr>
        <p:spPr>
          <a:xfrm>
            <a:off x="5308142" y="4491717"/>
            <a:ext cx="1501775" cy="366395"/>
          </a:xfrm>
          <a:prstGeom prst="rect">
            <a:avLst/>
          </a:prstGeom>
        </p:spPr>
        <p:txBody>
          <a:bodyPr vert="horz" wrap="none" lIns="108787" tIns="54394" rIns="108787" bIns="54394" rtlCol="0">
            <a:spAutoFit/>
          </a:bodyPr>
          <a:lstStyle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90204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2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Poppins Medium" charset="0"/>
              </a:rPr>
              <a:t>2026年校招生培训
Mini AI 项目</a:t>
            </a:r>
            <a:endParaRPr lang="en-US" sz="1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Poppins Medium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614309" y="2691462"/>
            <a:ext cx="6411057" cy="2353310"/>
            <a:chOff x="2695976" y="2793071"/>
            <a:chExt cx="6411057" cy="2353310"/>
          </a:xfrm>
        </p:grpSpPr>
        <p:sp>
          <p:nvSpPr>
            <p:cNvPr id="2" name="TextBox 1"/>
            <p:cNvSpPr txBox="1"/>
            <p:nvPr/>
          </p:nvSpPr>
          <p:spPr>
            <a:xfrm>
              <a:off x="3629523" y="2793071"/>
              <a:ext cx="5477510" cy="23533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9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Semi" charset="0"/>
                </a:rPr>
                <a:t>2026届校招生培训</a:t>
              </a:r>
              <a:endParaRPr lang="en-US" altLang="zh-CN" sz="4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Semi" charset="0"/>
              </a:endParaRPr>
            </a:p>
            <a:p>
              <a:pPr algn="ctr"/>
              <a:r>
                <a:rPr lang="en-US" altLang="zh-CN" sz="49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Semi" charset="0"/>
                </a:rPr>
                <a:t>AI+Mini项目研发</a:t>
              </a:r>
              <a:endParaRPr lang="en-US" altLang="zh-CN" sz="4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Semi" charset="0"/>
              </a:endParaRPr>
            </a:p>
            <a:p>
              <a:pPr algn="ctr"/>
              <a:endParaRPr lang="en-US" altLang="zh-CN" sz="4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Semi" charset="0"/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2695976" y="2870264"/>
              <a:ext cx="790905" cy="630124"/>
              <a:chOff x="3565293" y="2926020"/>
              <a:chExt cx="7052803" cy="5108242"/>
            </a:xfrm>
            <a:solidFill>
              <a:schemeClr val="bg1"/>
            </a:solidFill>
          </p:grpSpPr>
          <p:sp>
            <p:nvSpPr>
              <p:cNvPr id="11" name="Freeform 1"/>
              <p:cNvSpPr>
                <a:spLocks noChangeArrowheads="1"/>
              </p:cNvSpPr>
              <p:nvPr/>
            </p:nvSpPr>
            <p:spPr bwMode="auto">
              <a:xfrm>
                <a:off x="6770247" y="2926020"/>
                <a:ext cx="3847849" cy="5108242"/>
              </a:xfrm>
              <a:custGeom>
                <a:avLst/>
                <a:gdLst>
                  <a:gd name="T0" fmla="*/ 3607 w 10687"/>
                  <a:gd name="T1" fmla="*/ 0 h 14189"/>
                  <a:gd name="T2" fmla="*/ 0 w 10687"/>
                  <a:gd name="T3" fmla="*/ 7248 h 14189"/>
                  <a:gd name="T4" fmla="*/ 3518 w 10687"/>
                  <a:gd name="T5" fmla="*/ 14188 h 14189"/>
                  <a:gd name="T6" fmla="*/ 10686 w 10687"/>
                  <a:gd name="T7" fmla="*/ 14188 h 14189"/>
                  <a:gd name="T8" fmla="*/ 3607 w 10687"/>
                  <a:gd name="T9" fmla="*/ 0 h 14189"/>
                  <a:gd name="T10" fmla="*/ 3607 w 10687"/>
                  <a:gd name="T11" fmla="*/ 0 h 14189"/>
                  <a:gd name="T12" fmla="*/ 3607 w 10687"/>
                  <a:gd name="T13" fmla="*/ 0 h 14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87" h="14189">
                    <a:moveTo>
                      <a:pt x="3607" y="0"/>
                    </a:moveTo>
                    <a:lnTo>
                      <a:pt x="0" y="7248"/>
                    </a:lnTo>
                    <a:lnTo>
                      <a:pt x="3518" y="14188"/>
                    </a:lnTo>
                    <a:lnTo>
                      <a:pt x="10686" y="14188"/>
                    </a:lnTo>
                    <a:lnTo>
                      <a:pt x="3607" y="0"/>
                    </a:lnTo>
                    <a:close/>
                    <a:moveTo>
                      <a:pt x="3607" y="0"/>
                    </a:moveTo>
                    <a:lnTo>
                      <a:pt x="3607" y="0"/>
                    </a:lnTo>
                    <a:close/>
                  </a:path>
                </a:pathLst>
              </a:custGeom>
              <a:grpFill/>
              <a:ln w="38100" cap="flat">
                <a:noFill/>
                <a:bevel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10"/>
              </a:p>
            </p:txBody>
          </p:sp>
          <p:sp>
            <p:nvSpPr>
              <p:cNvPr id="12" name="Freeform 11"/>
              <p:cNvSpPr>
                <a:spLocks noChangeArrowheads="1"/>
              </p:cNvSpPr>
              <p:nvPr/>
            </p:nvSpPr>
            <p:spPr bwMode="auto">
              <a:xfrm>
                <a:off x="3565293" y="4603897"/>
                <a:ext cx="3419252" cy="3430365"/>
              </a:xfrm>
              <a:custGeom>
                <a:avLst/>
                <a:gdLst>
                  <a:gd name="T0" fmla="*/ 0 w 9498"/>
                  <a:gd name="T1" fmla="*/ 9529 h 9530"/>
                  <a:gd name="T2" fmla="*/ 9497 w 9498"/>
                  <a:gd name="T3" fmla="*/ 9529 h 9530"/>
                  <a:gd name="T4" fmla="*/ 4749 w 9498"/>
                  <a:gd name="T5" fmla="*/ 0 h 9530"/>
                  <a:gd name="T6" fmla="*/ 0 w 9498"/>
                  <a:gd name="T7" fmla="*/ 9529 h 9530"/>
                  <a:gd name="T8" fmla="*/ 0 w 9498"/>
                  <a:gd name="T9" fmla="*/ 9529 h 9530"/>
                  <a:gd name="T10" fmla="*/ 0 w 9498"/>
                  <a:gd name="T11" fmla="*/ 9529 h 95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98" h="9530">
                    <a:moveTo>
                      <a:pt x="0" y="9529"/>
                    </a:moveTo>
                    <a:lnTo>
                      <a:pt x="9497" y="9529"/>
                    </a:lnTo>
                    <a:lnTo>
                      <a:pt x="4749" y="0"/>
                    </a:lnTo>
                    <a:lnTo>
                      <a:pt x="0" y="9529"/>
                    </a:lnTo>
                    <a:close/>
                    <a:moveTo>
                      <a:pt x="0" y="9529"/>
                    </a:moveTo>
                    <a:lnTo>
                      <a:pt x="0" y="9529"/>
                    </a:lnTo>
                    <a:close/>
                  </a:path>
                </a:pathLst>
              </a:custGeom>
              <a:grpFill/>
              <a:ln w="38100" cap="flat">
                <a:noFill/>
                <a:bevel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10"/>
              </a:p>
            </p:txBody>
          </p:sp>
        </p:grpSp>
      </p:grpSp>
      <p:pic>
        <p:nvPicPr>
          <p:cNvPr id="13" name="图片 12" descr="文本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49" y="337992"/>
            <a:ext cx="1421646" cy="483448"/>
          </a:xfrm>
          <a:prstGeom prst="rect">
            <a:avLst/>
          </a:prstGeom>
          <a:effectLst>
            <a:glow rad="130969">
              <a:schemeClr val="bg1">
                <a:alpha val="73000"/>
              </a:schemeClr>
            </a:glo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11822"/>
            <a:ext cx="12193588" cy="36145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-20992"/>
            <a:ext cx="12193588" cy="3623678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88000"/>
                </a:schemeClr>
              </a:gs>
              <a:gs pos="90000">
                <a:schemeClr val="accent2">
                  <a:alpha val="8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2446481" y="1145917"/>
            <a:ext cx="6193249" cy="2353587"/>
            <a:chOff x="2384433" y="1145917"/>
            <a:chExt cx="6193249" cy="2353587"/>
          </a:xfrm>
        </p:grpSpPr>
        <p:sp>
          <p:nvSpPr>
            <p:cNvPr id="39" name="TextBox 1"/>
            <p:cNvSpPr txBox="1"/>
            <p:nvPr/>
          </p:nvSpPr>
          <p:spPr>
            <a:xfrm>
              <a:off x="3479902" y="1146194"/>
              <a:ext cx="5097780" cy="23533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9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Semi" charset="0"/>
                </a:rPr>
                <a:t>AI+Mini 开发实战</a:t>
              </a:r>
              <a:endParaRPr lang="en-US" sz="4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Semi" charset="0"/>
              </a:endParaRPr>
            </a:p>
            <a:p>
              <a:pPr algn="ctr"/>
              <a:r>
                <a:rPr lang="en-US" sz="49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ontserrat Semi" charset="0"/>
                </a:rPr>
                <a:t>项目目录</a:t>
              </a:r>
              <a:endParaRPr lang="en-US" altLang="zh-CN" sz="4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Semi" charset="0"/>
              </a:endParaRPr>
            </a:p>
            <a:p>
              <a:pPr algn="ctr"/>
              <a:endParaRPr lang="en-US" sz="4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 Semi" charset="0"/>
              </a:endParaRPr>
            </a:p>
          </p:txBody>
        </p:sp>
        <p:grpSp>
          <p:nvGrpSpPr>
            <p:cNvPr id="40" name="Group 9"/>
            <p:cNvGrpSpPr/>
            <p:nvPr/>
          </p:nvGrpSpPr>
          <p:grpSpPr>
            <a:xfrm>
              <a:off x="2384433" y="1145917"/>
              <a:ext cx="747092" cy="630124"/>
              <a:chOff x="-330550" y="2926020"/>
              <a:chExt cx="6662104" cy="5108242"/>
            </a:xfrm>
            <a:solidFill>
              <a:schemeClr val="bg1"/>
            </a:solidFill>
          </p:grpSpPr>
          <p:sp>
            <p:nvSpPr>
              <p:cNvPr id="41" name="Freeform 1"/>
              <p:cNvSpPr>
                <a:spLocks noChangeArrowheads="1"/>
              </p:cNvSpPr>
              <p:nvPr/>
            </p:nvSpPr>
            <p:spPr bwMode="auto">
              <a:xfrm>
                <a:off x="2483705" y="2926020"/>
                <a:ext cx="3847849" cy="5108242"/>
              </a:xfrm>
              <a:custGeom>
                <a:avLst/>
                <a:gdLst>
                  <a:gd name="T0" fmla="*/ 3607 w 10687"/>
                  <a:gd name="T1" fmla="*/ 0 h 14189"/>
                  <a:gd name="T2" fmla="*/ 0 w 10687"/>
                  <a:gd name="T3" fmla="*/ 7248 h 14189"/>
                  <a:gd name="T4" fmla="*/ 3518 w 10687"/>
                  <a:gd name="T5" fmla="*/ 14188 h 14189"/>
                  <a:gd name="T6" fmla="*/ 10686 w 10687"/>
                  <a:gd name="T7" fmla="*/ 14188 h 14189"/>
                  <a:gd name="T8" fmla="*/ 3607 w 10687"/>
                  <a:gd name="T9" fmla="*/ 0 h 14189"/>
                  <a:gd name="T10" fmla="*/ 3607 w 10687"/>
                  <a:gd name="T11" fmla="*/ 0 h 14189"/>
                  <a:gd name="T12" fmla="*/ 3607 w 10687"/>
                  <a:gd name="T13" fmla="*/ 0 h 14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87" h="14189">
                    <a:moveTo>
                      <a:pt x="3607" y="0"/>
                    </a:moveTo>
                    <a:lnTo>
                      <a:pt x="0" y="7248"/>
                    </a:lnTo>
                    <a:lnTo>
                      <a:pt x="3518" y="14188"/>
                    </a:lnTo>
                    <a:lnTo>
                      <a:pt x="10686" y="14188"/>
                    </a:lnTo>
                    <a:lnTo>
                      <a:pt x="3607" y="0"/>
                    </a:lnTo>
                    <a:close/>
                    <a:moveTo>
                      <a:pt x="3607" y="0"/>
                    </a:moveTo>
                    <a:lnTo>
                      <a:pt x="3607" y="0"/>
                    </a:lnTo>
                    <a:close/>
                  </a:path>
                </a:pathLst>
              </a:custGeom>
              <a:grpFill/>
              <a:ln w="38100" cap="flat">
                <a:noFill/>
                <a:bevel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10"/>
              </a:p>
            </p:txBody>
          </p:sp>
          <p:sp>
            <p:nvSpPr>
              <p:cNvPr id="42" name="Freeform 11"/>
              <p:cNvSpPr>
                <a:spLocks noChangeArrowheads="1"/>
              </p:cNvSpPr>
              <p:nvPr/>
            </p:nvSpPr>
            <p:spPr bwMode="auto">
              <a:xfrm>
                <a:off x="-330550" y="4603897"/>
                <a:ext cx="3419252" cy="3430365"/>
              </a:xfrm>
              <a:custGeom>
                <a:avLst/>
                <a:gdLst>
                  <a:gd name="T0" fmla="*/ 0 w 9498"/>
                  <a:gd name="T1" fmla="*/ 9529 h 9530"/>
                  <a:gd name="T2" fmla="*/ 9497 w 9498"/>
                  <a:gd name="T3" fmla="*/ 9529 h 9530"/>
                  <a:gd name="T4" fmla="*/ 4749 w 9498"/>
                  <a:gd name="T5" fmla="*/ 0 h 9530"/>
                  <a:gd name="T6" fmla="*/ 0 w 9498"/>
                  <a:gd name="T7" fmla="*/ 9529 h 9530"/>
                  <a:gd name="T8" fmla="*/ 0 w 9498"/>
                  <a:gd name="T9" fmla="*/ 9529 h 9530"/>
                  <a:gd name="T10" fmla="*/ 0 w 9498"/>
                  <a:gd name="T11" fmla="*/ 9529 h 95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98" h="9530">
                    <a:moveTo>
                      <a:pt x="0" y="9529"/>
                    </a:moveTo>
                    <a:lnTo>
                      <a:pt x="9497" y="9529"/>
                    </a:lnTo>
                    <a:lnTo>
                      <a:pt x="4749" y="0"/>
                    </a:lnTo>
                    <a:lnTo>
                      <a:pt x="0" y="9529"/>
                    </a:lnTo>
                    <a:close/>
                    <a:moveTo>
                      <a:pt x="0" y="9529"/>
                    </a:moveTo>
                    <a:lnTo>
                      <a:pt x="0" y="9529"/>
                    </a:lnTo>
                    <a:close/>
                  </a:path>
                </a:pathLst>
              </a:custGeom>
              <a:grpFill/>
              <a:ln w="38100" cap="flat">
                <a:noFill/>
                <a:bevel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910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465681" y="4040631"/>
            <a:ext cx="1616075" cy="1796467"/>
            <a:chOff x="465681" y="3839271"/>
            <a:chExt cx="1616075" cy="1796467"/>
          </a:xfrm>
        </p:grpSpPr>
        <p:sp>
          <p:nvSpPr>
            <p:cNvPr id="11" name="TextBox 11" descr="e7d195523061f1c029d8a470330beef7eecbf578a74c67be34E755975358C32C42B60046E65E5AB2B817CFACDA70963A03272FA99D31C85E250EFEC4061BFB07F05F931B289192FCB8E0285A555C1F23662AD2F61A5346A0F4FA43697DED20B8C88F1A16FBE5FB1796995C9EF491E812BDED40285E8921AE23E59DD92B56EBAE8FF0999985B6B7CC95639FABFF667730"/>
            <p:cNvSpPr txBox="1"/>
            <p:nvPr/>
          </p:nvSpPr>
          <p:spPr>
            <a:xfrm>
              <a:off x="492870" y="3947007"/>
              <a:ext cx="1343200" cy="784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4500" spc="100" dirty="0">
                  <a:latin typeface="Montserrat ExtraBold" panose="00000900000000000000" pitchFamily="50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01.</a:t>
              </a:r>
              <a:endParaRPr lang="id-ID" sz="4500" spc="100" dirty="0">
                <a:latin typeface="Montserrat ExtraBold" panose="00000900000000000000" pitchFamily="50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9" name="TextBox 12" descr="e7d195523061f1c029d8a470330beef7eecbf578a74c67be34E755975358C32C42B60046E65E5AB2B817CFACDA70963A03272FA99D31C85E250EFEC4061BFB07F05F931B289192FCB8E0285A555C1F23662AD2F61A5346A0F4FA43697DED20B8C88F1A16FBE5FB1796995C9EF491E812BDED40285E8921AE23E59DD92B56EBAE8FF0999985B6B7CC95639FABFF667730"/>
            <p:cNvSpPr txBox="1"/>
            <p:nvPr/>
          </p:nvSpPr>
          <p:spPr>
            <a:xfrm>
              <a:off x="591307" y="3839271"/>
              <a:ext cx="1047886" cy="215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8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Process step</a:t>
              </a:r>
              <a:endParaRPr lang="id-ID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tangle 14" descr="e7d195523061f1c029d8a470330beef7eecbf578a74c67be34E755975358C32C42B60046E65E5AB2B817CFACDA70963A03272FA99D31C85E250EFEC4061BFB07F05F931B289192FCB8E0285A555C1F23662AD2F61A5346A0F4FA43697DED20B8C88F1A16FBE5FB1796995C9EF491E812BDED40285E8921AE23E59DD92B56EBAE8FF0999985B6B7CC95639FABFF667730"/>
            <p:cNvSpPr/>
            <p:nvPr/>
          </p:nvSpPr>
          <p:spPr>
            <a:xfrm>
              <a:off x="591307" y="4938194"/>
              <a:ext cx="781151" cy="4572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465681" y="5267438"/>
              <a:ext cx="1616075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GB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Mini项目介绍</a:t>
              </a:r>
              <a:endPara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47" name="图片 46" descr="文本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2733" y="6431233"/>
            <a:ext cx="1180401" cy="401409"/>
          </a:xfrm>
          <a:prstGeom prst="rect">
            <a:avLst/>
          </a:prstGeom>
        </p:spPr>
      </p:pic>
      <p:grpSp>
        <p:nvGrpSpPr>
          <p:cNvPr id="67" name="组合 66"/>
          <p:cNvGrpSpPr/>
          <p:nvPr/>
        </p:nvGrpSpPr>
        <p:grpSpPr>
          <a:xfrm>
            <a:off x="3554464" y="4040631"/>
            <a:ext cx="1554480" cy="1796467"/>
            <a:chOff x="3554464" y="3839271"/>
            <a:chExt cx="1554480" cy="1796467"/>
          </a:xfrm>
        </p:grpSpPr>
        <p:sp>
          <p:nvSpPr>
            <p:cNvPr id="48" name="TextBox 11" descr="e7d195523061f1c029d8a470330beef7eecbf578a74c67be34E755975358C32C42B60046E65E5AB2B817CFACDA70963A03272FA99D31C85E250EFEC4061BFB07F05F931B289192FCB8E0285A555C1F23662AD2F61A5346A0F4FA43697DED20B8C88F1A16FBE5FB1796995C9EF491E812BDED40285E8921AE23E59DD92B56EBAE8FF0999985B6B7CC95639FABFF667730"/>
            <p:cNvSpPr txBox="1"/>
            <p:nvPr/>
          </p:nvSpPr>
          <p:spPr>
            <a:xfrm>
              <a:off x="3581653" y="3947007"/>
              <a:ext cx="1343200" cy="784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4500" spc="100" dirty="0">
                  <a:latin typeface="Montserrat ExtraBold" panose="00000900000000000000" pitchFamily="50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0</a:t>
              </a:r>
              <a:r>
                <a:rPr lang="en-US" altLang="zh-CN" sz="4500" spc="100" dirty="0">
                  <a:latin typeface="Montserrat ExtraBold" panose="00000900000000000000" pitchFamily="50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2</a:t>
              </a:r>
              <a:r>
                <a:rPr lang="id-ID" sz="4500" spc="100" dirty="0">
                  <a:latin typeface="Montserrat ExtraBold" panose="00000900000000000000" pitchFamily="50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.</a:t>
              </a:r>
              <a:endParaRPr lang="id-ID" sz="4500" spc="100" dirty="0">
                <a:latin typeface="Montserrat ExtraBold" panose="00000900000000000000" pitchFamily="50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9" name="TextBox 12" descr="e7d195523061f1c029d8a470330beef7eecbf578a74c67be34E755975358C32C42B60046E65E5AB2B817CFACDA70963A03272FA99D31C85E250EFEC4061BFB07F05F931B289192FCB8E0285A555C1F23662AD2F61A5346A0F4FA43697DED20B8C88F1A16FBE5FB1796995C9EF491E812BDED40285E8921AE23E59DD92B56EBAE8FF0999985B6B7CC95639FABFF667730"/>
            <p:cNvSpPr txBox="1"/>
            <p:nvPr/>
          </p:nvSpPr>
          <p:spPr>
            <a:xfrm>
              <a:off x="3680090" y="3839271"/>
              <a:ext cx="1047886" cy="215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8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Process step</a:t>
              </a:r>
              <a:endParaRPr lang="id-ID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0" name="Rectangle 14" descr="e7d195523061f1c029d8a470330beef7eecbf578a74c67be34E755975358C32C42B60046E65E5AB2B817CFACDA70963A03272FA99D31C85E250EFEC4061BFB07F05F931B289192FCB8E0285A555C1F23662AD2F61A5346A0F4FA43697DED20B8C88F1A16FBE5FB1796995C9EF491E812BDED40285E8921AE23E59DD92B56EBAE8FF0999985B6B7CC95639FABFF667730"/>
            <p:cNvSpPr/>
            <p:nvPr/>
          </p:nvSpPr>
          <p:spPr>
            <a:xfrm>
              <a:off x="3680090" y="4938194"/>
              <a:ext cx="781151" cy="4572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3554464" y="5267438"/>
              <a:ext cx="15544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人员分组建议</a:t>
              </a:r>
              <a:endPara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5643852" y="4040631"/>
            <a:ext cx="1554480" cy="1796467"/>
            <a:chOff x="5142957" y="3839271"/>
            <a:chExt cx="1554480" cy="1796467"/>
          </a:xfrm>
        </p:grpSpPr>
        <p:sp>
          <p:nvSpPr>
            <p:cNvPr id="52" name="TextBox 11" descr="e7d195523061f1c029d8a470330beef7eecbf578a74c67be34E755975358C32C42B60046E65E5AB2B817CFACDA70963A03272FA99D31C85E250EFEC4061BFB07F05F931B289192FCB8E0285A555C1F23662AD2F61A5346A0F4FA43697DED20B8C88F1A16FBE5FB1796995C9EF491E812BDED40285E8921AE23E59DD92B56EBAE8FF0999985B6B7CC95639FABFF667730"/>
            <p:cNvSpPr txBox="1"/>
            <p:nvPr/>
          </p:nvSpPr>
          <p:spPr>
            <a:xfrm>
              <a:off x="5170146" y="3947007"/>
              <a:ext cx="1343200" cy="784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4500" spc="100" dirty="0">
                  <a:latin typeface="Montserrat ExtraBold" panose="00000900000000000000" pitchFamily="50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0</a:t>
              </a:r>
              <a:r>
                <a:rPr lang="en-US" altLang="zh-CN" sz="4500" spc="100" dirty="0">
                  <a:latin typeface="Montserrat ExtraBold" panose="00000900000000000000" pitchFamily="50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3</a:t>
              </a:r>
              <a:r>
                <a:rPr lang="id-ID" sz="4500" spc="100" dirty="0">
                  <a:latin typeface="Montserrat ExtraBold" panose="00000900000000000000" pitchFamily="50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.</a:t>
              </a:r>
              <a:endParaRPr lang="id-ID" sz="4500" spc="100" dirty="0">
                <a:latin typeface="Montserrat ExtraBold" panose="00000900000000000000" pitchFamily="50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3" name="TextBox 12" descr="e7d195523061f1c029d8a470330beef7eecbf578a74c67be34E755975358C32C42B60046E65E5AB2B817CFACDA70963A03272FA99D31C85E250EFEC4061BFB07F05F931B289192FCB8E0285A555C1F23662AD2F61A5346A0F4FA43697DED20B8C88F1A16FBE5FB1796995C9EF491E812BDED40285E8921AE23E59DD92B56EBAE8FF0999985B6B7CC95639FABFF667730"/>
            <p:cNvSpPr txBox="1"/>
            <p:nvPr/>
          </p:nvSpPr>
          <p:spPr>
            <a:xfrm>
              <a:off x="5268583" y="3839271"/>
              <a:ext cx="1047886" cy="215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8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Process step</a:t>
              </a:r>
              <a:endParaRPr lang="id-ID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4" name="Rectangle 14" descr="e7d195523061f1c029d8a470330beef7eecbf578a74c67be34E755975358C32C42B60046E65E5AB2B817CFACDA70963A03272FA99D31C85E250EFEC4061BFB07F05F931B289192FCB8E0285A555C1F23662AD2F61A5346A0F4FA43697DED20B8C88F1A16FBE5FB1796995C9EF491E812BDED40285E8921AE23E59DD92B56EBAE8FF0999985B6B7CC95639FABFF667730"/>
            <p:cNvSpPr/>
            <p:nvPr/>
          </p:nvSpPr>
          <p:spPr>
            <a:xfrm>
              <a:off x="5268583" y="4938194"/>
              <a:ext cx="781151" cy="4572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5142957" y="5267438"/>
              <a:ext cx="15544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项目功能说明</a:t>
              </a:r>
              <a:endPara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7733240" y="4040631"/>
            <a:ext cx="1370389" cy="1796467"/>
            <a:chOff x="6559751" y="3839271"/>
            <a:chExt cx="1370389" cy="1796467"/>
          </a:xfrm>
        </p:grpSpPr>
        <p:sp>
          <p:nvSpPr>
            <p:cNvPr id="56" name="TextBox 11" descr="e7d195523061f1c029d8a470330beef7eecbf578a74c67be34E755975358C32C42B60046E65E5AB2B817CFACDA70963A03272FA99D31C85E250EFEC4061BFB07F05F931B289192FCB8E0285A555C1F23662AD2F61A5346A0F4FA43697DED20B8C88F1A16FBE5FB1796995C9EF491E812BDED40285E8921AE23E59DD92B56EBAE8FF0999985B6B7CC95639FABFF667730"/>
            <p:cNvSpPr txBox="1"/>
            <p:nvPr/>
          </p:nvSpPr>
          <p:spPr>
            <a:xfrm>
              <a:off x="6586940" y="3947007"/>
              <a:ext cx="1343200" cy="784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4500" spc="100" dirty="0">
                  <a:latin typeface="Montserrat ExtraBold" panose="00000900000000000000" pitchFamily="50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0</a:t>
              </a:r>
              <a:r>
                <a:rPr lang="en-US" altLang="zh-CN" sz="4500" spc="100" dirty="0">
                  <a:latin typeface="Montserrat ExtraBold" panose="00000900000000000000" pitchFamily="50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4</a:t>
              </a:r>
              <a:r>
                <a:rPr lang="id-ID" sz="4500" spc="100" dirty="0">
                  <a:latin typeface="Montserrat ExtraBold" panose="00000900000000000000" pitchFamily="50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.</a:t>
              </a:r>
              <a:endParaRPr lang="id-ID" sz="4500" spc="100" dirty="0">
                <a:latin typeface="Montserrat ExtraBold" panose="00000900000000000000" pitchFamily="50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7" name="TextBox 12" descr="e7d195523061f1c029d8a470330beef7eecbf578a74c67be34E755975358C32C42B60046E65E5AB2B817CFACDA70963A03272FA99D31C85E250EFEC4061BFB07F05F931B289192FCB8E0285A555C1F23662AD2F61A5346A0F4FA43697DED20B8C88F1A16FBE5FB1796995C9EF491E812BDED40285E8921AE23E59DD92B56EBAE8FF0999985B6B7CC95639FABFF667730"/>
            <p:cNvSpPr txBox="1"/>
            <p:nvPr/>
          </p:nvSpPr>
          <p:spPr>
            <a:xfrm>
              <a:off x="6685377" y="3839271"/>
              <a:ext cx="1047886" cy="215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8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Process step</a:t>
              </a:r>
              <a:endParaRPr lang="id-ID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8" name="Rectangle 14" descr="e7d195523061f1c029d8a470330beef7eecbf578a74c67be34E755975358C32C42B60046E65E5AB2B817CFACDA70963A03272FA99D31C85E250EFEC4061BFB07F05F931B289192FCB8E0285A555C1F23662AD2F61A5346A0F4FA43697DED20B8C88F1A16FBE5FB1796995C9EF491E812BDED40285E8921AE23E59DD92B56EBAE8FF0999985B6B7CC95639FABFF667730"/>
            <p:cNvSpPr/>
            <p:nvPr/>
          </p:nvSpPr>
          <p:spPr>
            <a:xfrm>
              <a:off x="6685377" y="4938194"/>
              <a:ext cx="781151" cy="4572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6559751" y="5267438"/>
              <a:ext cx="130556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要求&amp;流程</a:t>
              </a:r>
              <a:endPara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10231892" y="4040631"/>
            <a:ext cx="1370389" cy="1796467"/>
            <a:chOff x="10231892" y="3731535"/>
            <a:chExt cx="1370389" cy="1796467"/>
          </a:xfrm>
        </p:grpSpPr>
        <p:sp>
          <p:nvSpPr>
            <p:cNvPr id="60" name="TextBox 11" descr="e7d195523061f1c029d8a470330beef7eecbf578a74c67be34E755975358C32C42B60046E65E5AB2B817CFACDA70963A03272FA99D31C85E250EFEC4061BFB07F05F931B289192FCB8E0285A555C1F23662AD2F61A5346A0F4FA43697DED20B8C88F1A16FBE5FB1796995C9EF491E812BDED40285E8921AE23E59DD92B56EBAE8FF0999985B6B7CC95639FABFF667730"/>
            <p:cNvSpPr txBox="1"/>
            <p:nvPr/>
          </p:nvSpPr>
          <p:spPr>
            <a:xfrm>
              <a:off x="10259081" y="3839271"/>
              <a:ext cx="1343200" cy="784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4500" spc="100" dirty="0">
                  <a:latin typeface="Montserrat ExtraBold" panose="00000900000000000000" pitchFamily="50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0</a:t>
              </a:r>
              <a:r>
                <a:rPr lang="en-US" altLang="zh-CN" sz="4500" spc="100" dirty="0">
                  <a:latin typeface="Montserrat ExtraBold" panose="00000900000000000000" pitchFamily="50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5</a:t>
              </a:r>
              <a:r>
                <a:rPr lang="id-ID" sz="4500" spc="100" dirty="0">
                  <a:latin typeface="Montserrat ExtraBold" panose="00000900000000000000" pitchFamily="50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.</a:t>
              </a:r>
              <a:endParaRPr lang="id-ID" sz="4500" spc="100" dirty="0">
                <a:latin typeface="Montserrat ExtraBold" panose="00000900000000000000" pitchFamily="50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1" name="TextBox 12" descr="e7d195523061f1c029d8a470330beef7eecbf578a74c67be34E755975358C32C42B60046E65E5AB2B817CFACDA70963A03272FA99D31C85E250EFEC4061BFB07F05F931B289192FCB8E0285A555C1F23662AD2F61A5346A0F4FA43697DED20B8C88F1A16FBE5FB1796995C9EF491E812BDED40285E8921AE23E59DD92B56EBAE8FF0999985B6B7CC95639FABFF667730"/>
            <p:cNvSpPr txBox="1"/>
            <p:nvPr/>
          </p:nvSpPr>
          <p:spPr>
            <a:xfrm>
              <a:off x="10357518" y="3731535"/>
              <a:ext cx="1047886" cy="215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8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Process step</a:t>
              </a:r>
              <a:endParaRPr lang="id-ID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2" name="Rectangle 14" descr="e7d195523061f1c029d8a470330beef7eecbf578a74c67be34E755975358C32C42B60046E65E5AB2B817CFACDA70963A03272FA99D31C85E250EFEC4061BFB07F05F931B289192FCB8E0285A555C1F23662AD2F61A5346A0F4FA43697DED20B8C88F1A16FBE5FB1796995C9EF491E812BDED40285E8921AE23E59DD92B56EBAE8FF0999985B6B7CC95639FABFF667730"/>
            <p:cNvSpPr/>
            <p:nvPr/>
          </p:nvSpPr>
          <p:spPr>
            <a:xfrm>
              <a:off x="10357518" y="4830458"/>
              <a:ext cx="781151" cy="4572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0231892" y="5159702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项目验收</a:t>
              </a:r>
              <a:endPara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图片 71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446" y="506951"/>
            <a:ext cx="1180401" cy="401409"/>
          </a:xfrm>
          <a:prstGeom prst="rect">
            <a:avLst/>
          </a:prstGeom>
        </p:spPr>
      </p:pic>
      <p:pic>
        <p:nvPicPr>
          <p:cNvPr id="110" name="图片占位符 39"/>
          <p:cNvPicPr>
            <a:picLocks noChangeAspect="1"/>
          </p:cNvPicPr>
          <p:nvPr/>
        </p:nvPicPr>
        <p:blipFill>
          <a:blip r:embed="rId2" cstate="screen"/>
          <a:srcRect t="1076" b="1076"/>
          <a:stretch>
            <a:fillRect/>
          </a:stretch>
        </p:blipFill>
        <p:spPr>
          <a:xfrm>
            <a:off x="4508918" y="2019383"/>
            <a:ext cx="2949575" cy="4040187"/>
          </a:xfrm>
          <a:custGeom>
            <a:avLst/>
            <a:gdLst>
              <a:gd name="connsiteX0" fmla="*/ 34423 w 2949678"/>
              <a:gd name="connsiteY0" fmla="*/ 0 h 4041058"/>
              <a:gd name="connsiteX1" fmla="*/ 2915255 w 2949678"/>
              <a:gd name="connsiteY1" fmla="*/ 0 h 4041058"/>
              <a:gd name="connsiteX2" fmla="*/ 2949678 w 2949678"/>
              <a:gd name="connsiteY2" fmla="*/ 34423 h 4041058"/>
              <a:gd name="connsiteX3" fmla="*/ 2949678 w 2949678"/>
              <a:gd name="connsiteY3" fmla="*/ 4006635 h 4041058"/>
              <a:gd name="connsiteX4" fmla="*/ 2915255 w 2949678"/>
              <a:gd name="connsiteY4" fmla="*/ 4041058 h 4041058"/>
              <a:gd name="connsiteX5" fmla="*/ 34423 w 2949678"/>
              <a:gd name="connsiteY5" fmla="*/ 4041058 h 4041058"/>
              <a:gd name="connsiteX6" fmla="*/ 0 w 2949678"/>
              <a:gd name="connsiteY6" fmla="*/ 4006635 h 4041058"/>
              <a:gd name="connsiteX7" fmla="*/ 0 w 2949678"/>
              <a:gd name="connsiteY7" fmla="*/ 34423 h 4041058"/>
              <a:gd name="connsiteX8" fmla="*/ 34423 w 2949678"/>
              <a:gd name="connsiteY8" fmla="*/ 0 h 4041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49678" h="4041058">
                <a:moveTo>
                  <a:pt x="34423" y="0"/>
                </a:moveTo>
                <a:lnTo>
                  <a:pt x="2915255" y="0"/>
                </a:lnTo>
                <a:cubicBezTo>
                  <a:pt x="2934266" y="0"/>
                  <a:pt x="2949678" y="15412"/>
                  <a:pt x="2949678" y="34423"/>
                </a:cubicBezTo>
                <a:lnTo>
                  <a:pt x="2949678" y="4006635"/>
                </a:lnTo>
                <a:cubicBezTo>
                  <a:pt x="2949678" y="4025646"/>
                  <a:pt x="2934266" y="4041058"/>
                  <a:pt x="2915255" y="4041058"/>
                </a:cubicBezTo>
                <a:lnTo>
                  <a:pt x="34423" y="4041058"/>
                </a:lnTo>
                <a:cubicBezTo>
                  <a:pt x="15412" y="4041058"/>
                  <a:pt x="0" y="4025646"/>
                  <a:pt x="0" y="4006635"/>
                </a:cubicBezTo>
                <a:lnTo>
                  <a:pt x="0" y="34423"/>
                </a:lnTo>
                <a:cubicBezTo>
                  <a:pt x="0" y="15412"/>
                  <a:pt x="15412" y="0"/>
                  <a:pt x="34423" y="0"/>
                </a:cubicBezTo>
                <a:close/>
              </a:path>
            </a:pathLst>
          </a:custGeom>
          <a:solidFill>
            <a:sysClr val="window" lastClr="FFFFFF">
              <a:lumMod val="95000"/>
              <a:alpha val="30000"/>
            </a:sysClr>
          </a:solidFill>
          <a:effectLst>
            <a:outerShdw blurRad="774700" dist="495300" dir="5400000" sx="92000" sy="92000" algn="t" rotWithShape="0">
              <a:prstClr val="black">
                <a:alpha val="40000"/>
              </a:prstClr>
            </a:outerShdw>
          </a:effectLst>
        </p:spPr>
      </p:pic>
      <p:sp>
        <p:nvSpPr>
          <p:cNvPr id="111" name="Rectangle: Rounded Corners 17"/>
          <p:cNvSpPr/>
          <p:nvPr/>
        </p:nvSpPr>
        <p:spPr>
          <a:xfrm>
            <a:off x="4508866" y="2018717"/>
            <a:ext cx="2949678" cy="4041058"/>
          </a:xfrm>
          <a:prstGeom prst="roundRect">
            <a:avLst>
              <a:gd name="adj" fmla="val 1167"/>
            </a:avLst>
          </a:prstGeom>
          <a:gradFill flip="none" rotWithShape="1">
            <a:gsLst>
              <a:gs pos="0">
                <a:srgbClr val="F87047"/>
              </a:gs>
              <a:gs pos="90000">
                <a:srgbClr val="E30E1F">
                  <a:alpha val="8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+mn-ea"/>
              <a:cs typeface="+mn-cs"/>
            </a:endParaRPr>
          </a:p>
        </p:txBody>
      </p:sp>
      <p:sp>
        <p:nvSpPr>
          <p:cNvPr id="115" name="Rectangle: Rounded Corners 4"/>
          <p:cNvSpPr/>
          <p:nvPr/>
        </p:nvSpPr>
        <p:spPr>
          <a:xfrm>
            <a:off x="7748595" y="2018717"/>
            <a:ext cx="2949678" cy="4041058"/>
          </a:xfrm>
          <a:prstGeom prst="roundRect">
            <a:avLst>
              <a:gd name="adj" fmla="val 1167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ysClr val="window" lastClr="FFFFFF">
                <a:lumMod val="85000"/>
                <a:alpha val="4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+mn-ea"/>
              <a:cs typeface="+mn-cs"/>
            </a:endParaRPr>
          </a:p>
        </p:txBody>
      </p:sp>
      <p:cxnSp>
        <p:nvCxnSpPr>
          <p:cNvPr id="120" name="Straight Connector 9"/>
          <p:cNvCxnSpPr/>
          <p:nvPr/>
        </p:nvCxnSpPr>
        <p:spPr>
          <a:xfrm>
            <a:off x="7937046" y="3906125"/>
            <a:ext cx="2521975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85000"/>
                <a:alpha val="40000"/>
              </a:sysClr>
            </a:solidFill>
            <a:prstDash val="solid"/>
            <a:miter lim="800000"/>
          </a:ln>
          <a:effectLst/>
        </p:spPr>
      </p:cxnSp>
      <p:sp>
        <p:nvSpPr>
          <p:cNvPr id="136" name="Rectangle: Rounded Corners 28"/>
          <p:cNvSpPr/>
          <p:nvPr/>
        </p:nvSpPr>
        <p:spPr>
          <a:xfrm>
            <a:off x="665480" y="2051685"/>
            <a:ext cx="3491865" cy="4320540"/>
          </a:xfrm>
          <a:prstGeom prst="roundRect">
            <a:avLst>
              <a:gd name="adj" fmla="val 1167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ysClr val="window" lastClr="FFFFFF">
                <a:lumMod val="85000"/>
                <a:alpha val="4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+mn-ea"/>
              <a:cs typeface="+mn-cs"/>
            </a:endParaRPr>
          </a:p>
        </p:txBody>
      </p:sp>
      <p:cxnSp>
        <p:nvCxnSpPr>
          <p:cNvPr id="147" name="Straight Connector 9"/>
          <p:cNvCxnSpPr/>
          <p:nvPr/>
        </p:nvCxnSpPr>
        <p:spPr>
          <a:xfrm>
            <a:off x="1254805" y="3899546"/>
            <a:ext cx="2521975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85000"/>
                <a:alpha val="40000"/>
              </a:sysClr>
            </a:solidFill>
            <a:prstDash val="solid"/>
            <a:miter lim="800000"/>
          </a:ln>
          <a:effectLst/>
        </p:spPr>
      </p:cxnSp>
      <p:sp>
        <p:nvSpPr>
          <p:cNvPr id="148" name="Rectangle 18"/>
          <p:cNvSpPr/>
          <p:nvPr/>
        </p:nvSpPr>
        <p:spPr bwMode="auto">
          <a:xfrm>
            <a:off x="3777171" y="1129421"/>
            <a:ext cx="4217670" cy="47434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ctr" anchorCtr="0">
            <a:spAutoFit/>
          </a:bodyPr>
          <a:lstStyle/>
          <a:p>
            <a:pPr defTabSz="2286635">
              <a:lnSpc>
                <a:spcPts val="3700"/>
              </a:lnSpc>
            </a:pPr>
            <a:r>
              <a:rPr lang="en-US" sz="4000" b="1" spc="25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" charset="0"/>
                <a:sym typeface="Bebas Neue" charset="0"/>
              </a:rPr>
              <a:t>AiMini 项目介绍</a:t>
            </a:r>
            <a:endParaRPr lang="en-US" sz="4000" b="1" spc="25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Poppins" charset="0"/>
              <a:sym typeface="Bebas Neue" charset="0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4611610" y="2051932"/>
            <a:ext cx="2744190" cy="1573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项目目的：检验个人全栈开发能力；检验 AI Agent 应用开发能力；形成端到端工程闭环。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zh-CN" sz="1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zh-CN" altLang="en-US" sz="1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4563753" y="4051946"/>
            <a:ext cx="2792047" cy="2122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  <a:t>开展方式：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  <a:t>68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  <a:t>人拆成 6 组；6 组统一同题，独立开发、独立部署、统一验收。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zh-CN" altLang="en-US" sz="1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706755" y="2009140"/>
            <a:ext cx="3529330" cy="3992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300" b="1" dirty="0">
                <a:solidFill>
                  <a:srgbClr val="DA63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组队要求：</a:t>
            </a:r>
            <a:endParaRPr lang="en-US" altLang="zh-CN" sz="1300" b="1" dirty="0">
              <a:solidFill>
                <a:srgbClr val="DA634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  <a:t>1、建议分 6 组，每组约12 人。</a:t>
            </a:r>
            <a:endParaRPr lang="en-US" altLang="zh-CN" sz="1300" dirty="0"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  <a:t>2、6 组统一做“AI Agent 日程与任务协同助手”，便于横向评分。</a:t>
            </a:r>
            <a:endParaRPr lang="zh-CN" altLang="en-US" sz="1300" dirty="0"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  <a:t>3、每组需覆盖产品、前端、后端、AI、测试和交付支撑能力。</a:t>
            </a:r>
            <a:endParaRPr lang="zh-CN" altLang="en-US" sz="1300" dirty="0"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特别提醒：</a:t>
            </a:r>
            <a:endParaRPr lang="en-US" altLang="zh-CN" sz="13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1、报告只给岗位配比建议，不硬性指定个人任务。</a:t>
            </a:r>
            <a:endParaRPr lang="zh-CN" altLang="en-US" sz="13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2、每组独立完成同题项目，不是 6 组共同拼一个系统。</a:t>
            </a:r>
            <a:endParaRPr lang="zh-CN" altLang="en-US" sz="13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3、各组可在体验、Agent 策略、工程质量和亮点功能上拉开差距。</a:t>
            </a:r>
            <a:endParaRPr lang="zh-CN" altLang="en-US" sz="13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7810634" y="2009067"/>
            <a:ext cx="2862239" cy="171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DA63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前期准备：</a:t>
            </a:r>
            <a:b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</a:b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  <a:t>1、开发环境与数据库脚本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  <a:t>2、接口规范与验收样例</a:t>
            </a:r>
            <a:b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rPr>
            </a:b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  <a:t>3、模型 / 工具调用配置</a:t>
            </a:r>
            <a:b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</a:b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7751945" y="3626090"/>
            <a:ext cx="2862239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DA63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保障措施：</a:t>
            </a:r>
            <a:endParaRPr lang="en-US" altLang="zh-CN" sz="1600" dirty="0">
              <a:solidFill>
                <a:srgbClr val="DA6343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  <a:t>1、统一题目、功能清单和评分标准</a:t>
            </a:r>
            <a:endParaRPr lang="en-US" altLang="zh-CN" sz="1400" dirty="0"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rPr>
              <a:t>2、过程检查覆盖产品、研发、测试、AI
3、验收必须看到系统、接口、数据库和 Agent 日志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图片 71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446" y="506951"/>
            <a:ext cx="1180401" cy="401409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7986395" y="2502535"/>
            <a:ext cx="2655570" cy="2593340"/>
            <a:chOff x="8848" y="1518"/>
            <a:chExt cx="8974" cy="7082"/>
          </a:xfrm>
        </p:grpSpPr>
        <p:grpSp>
          <p:nvGrpSpPr>
            <p:cNvPr id="6" name="Group 1551"/>
            <p:cNvGrpSpPr/>
            <p:nvPr/>
          </p:nvGrpSpPr>
          <p:grpSpPr>
            <a:xfrm>
              <a:off x="8848" y="1518"/>
              <a:ext cx="8975" cy="7083"/>
              <a:chOff x="5445396" y="598487"/>
              <a:chExt cx="5119688" cy="5661025"/>
            </a:xfrm>
          </p:grpSpPr>
          <p:sp>
            <p:nvSpPr>
              <p:cNvPr id="7" name="Freeform: Shape 673"/>
              <p:cNvSpPr/>
              <p:nvPr/>
            </p:nvSpPr>
            <p:spPr bwMode="auto">
              <a:xfrm>
                <a:off x="5445396" y="2589212"/>
                <a:ext cx="3471863" cy="2732088"/>
              </a:xfrm>
              <a:custGeom>
                <a:avLst/>
                <a:gdLst>
                  <a:gd name="connsiteX0" fmla="*/ 2220913 w 3471863"/>
                  <a:gd name="connsiteY0" fmla="*/ 0 h 2732088"/>
                  <a:gd name="connsiteX1" fmla="*/ 3471863 w 3471863"/>
                  <a:gd name="connsiteY1" fmla="*/ 1162050 h 2732088"/>
                  <a:gd name="connsiteX2" fmla="*/ 2580081 w 3471863"/>
                  <a:gd name="connsiteY2" fmla="*/ 1360110 h 2732088"/>
                  <a:gd name="connsiteX3" fmla="*/ 3055938 w 3471863"/>
                  <a:gd name="connsiteY3" fmla="*/ 1803400 h 2732088"/>
                  <a:gd name="connsiteX4" fmla="*/ 2130548 w 3471863"/>
                  <a:gd name="connsiteY4" fmla="*/ 2005730 h 2732088"/>
                  <a:gd name="connsiteX5" fmla="*/ 2586038 w 3471863"/>
                  <a:gd name="connsiteY5" fmla="*/ 2427288 h 2732088"/>
                  <a:gd name="connsiteX6" fmla="*/ 1201738 w 3471863"/>
                  <a:gd name="connsiteY6" fmla="*/ 2732088 h 2732088"/>
                  <a:gd name="connsiteX7" fmla="*/ 0 w 3471863"/>
                  <a:gd name="connsiteY7" fmla="*/ 2032000 h 2732088"/>
                  <a:gd name="connsiteX8" fmla="*/ 775165 w 3471863"/>
                  <a:gd name="connsiteY8" fmla="*/ 1583757 h 2732088"/>
                  <a:gd name="connsiteX9" fmla="*/ 471488 w 3471863"/>
                  <a:gd name="connsiteY9" fmla="*/ 1408112 h 2732088"/>
                  <a:gd name="connsiteX10" fmla="*/ 1232857 w 3471863"/>
                  <a:gd name="connsiteY10" fmla="*/ 967081 h 2732088"/>
                  <a:gd name="connsiteX11" fmla="*/ 892175 w 3471863"/>
                  <a:gd name="connsiteY11" fmla="*/ 768350 h 27320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71863" h="2732088">
                    <a:moveTo>
                      <a:pt x="2220913" y="0"/>
                    </a:moveTo>
                    <a:lnTo>
                      <a:pt x="3471863" y="1162050"/>
                    </a:lnTo>
                    <a:lnTo>
                      <a:pt x="2580081" y="1360110"/>
                    </a:lnTo>
                    <a:lnTo>
                      <a:pt x="3055938" y="1803400"/>
                    </a:lnTo>
                    <a:lnTo>
                      <a:pt x="2130548" y="2005730"/>
                    </a:lnTo>
                    <a:lnTo>
                      <a:pt x="2586038" y="2427288"/>
                    </a:lnTo>
                    <a:lnTo>
                      <a:pt x="1201738" y="2732088"/>
                    </a:lnTo>
                    <a:lnTo>
                      <a:pt x="0" y="2032000"/>
                    </a:lnTo>
                    <a:lnTo>
                      <a:pt x="775165" y="1583757"/>
                    </a:lnTo>
                    <a:lnTo>
                      <a:pt x="471488" y="1408112"/>
                    </a:lnTo>
                    <a:lnTo>
                      <a:pt x="1232857" y="967081"/>
                    </a:lnTo>
                    <a:lnTo>
                      <a:pt x="892175" y="768350"/>
                    </a:lnTo>
                    <a:close/>
                  </a:path>
                </a:pathLst>
              </a:custGeom>
              <a:solidFill>
                <a:schemeClr val="bg1">
                  <a:lumMod val="75000"/>
                  <a:alpha val="1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" name="Freeform 8"/>
              <p:cNvSpPr/>
              <p:nvPr/>
            </p:nvSpPr>
            <p:spPr bwMode="auto">
              <a:xfrm>
                <a:off x="6069284" y="4418012"/>
                <a:ext cx="2190750" cy="1841500"/>
              </a:xfrm>
              <a:custGeom>
                <a:avLst/>
                <a:gdLst>
                  <a:gd name="T0" fmla="*/ 920 w 1380"/>
                  <a:gd name="T1" fmla="*/ 529 h 1160"/>
                  <a:gd name="T2" fmla="*/ 920 w 1380"/>
                  <a:gd name="T3" fmla="*/ 529 h 1160"/>
                  <a:gd name="T4" fmla="*/ 0 w 1380"/>
                  <a:gd name="T5" fmla="*/ 0 h 1160"/>
                  <a:gd name="T6" fmla="*/ 0 w 1380"/>
                  <a:gd name="T7" fmla="*/ 120 h 1160"/>
                  <a:gd name="T8" fmla="*/ 0 w 1380"/>
                  <a:gd name="T9" fmla="*/ 240 h 1160"/>
                  <a:gd name="T10" fmla="*/ 0 w 1380"/>
                  <a:gd name="T11" fmla="*/ 363 h 1160"/>
                  <a:gd name="T12" fmla="*/ 460 w 1380"/>
                  <a:gd name="T13" fmla="*/ 628 h 1160"/>
                  <a:gd name="T14" fmla="*/ 460 w 1380"/>
                  <a:gd name="T15" fmla="*/ 628 h 1160"/>
                  <a:gd name="T16" fmla="*/ 1380 w 1380"/>
                  <a:gd name="T17" fmla="*/ 1160 h 1160"/>
                  <a:gd name="T18" fmla="*/ 1380 w 1380"/>
                  <a:gd name="T19" fmla="*/ 1037 h 1160"/>
                  <a:gd name="T20" fmla="*/ 1380 w 1380"/>
                  <a:gd name="T21" fmla="*/ 917 h 1160"/>
                  <a:gd name="T22" fmla="*/ 1380 w 1380"/>
                  <a:gd name="T23" fmla="*/ 796 h 1160"/>
                  <a:gd name="T24" fmla="*/ 920 w 1380"/>
                  <a:gd name="T25" fmla="*/ 529 h 1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80" h="1160">
                    <a:moveTo>
                      <a:pt x="920" y="529"/>
                    </a:moveTo>
                    <a:lnTo>
                      <a:pt x="920" y="529"/>
                    </a:lnTo>
                    <a:lnTo>
                      <a:pt x="0" y="0"/>
                    </a:lnTo>
                    <a:lnTo>
                      <a:pt x="0" y="120"/>
                    </a:lnTo>
                    <a:lnTo>
                      <a:pt x="0" y="240"/>
                    </a:lnTo>
                    <a:lnTo>
                      <a:pt x="0" y="363"/>
                    </a:lnTo>
                    <a:lnTo>
                      <a:pt x="460" y="628"/>
                    </a:lnTo>
                    <a:lnTo>
                      <a:pt x="460" y="628"/>
                    </a:lnTo>
                    <a:lnTo>
                      <a:pt x="1380" y="1160"/>
                    </a:lnTo>
                    <a:lnTo>
                      <a:pt x="1380" y="1037"/>
                    </a:lnTo>
                    <a:lnTo>
                      <a:pt x="1380" y="917"/>
                    </a:lnTo>
                    <a:lnTo>
                      <a:pt x="1380" y="796"/>
                    </a:lnTo>
                    <a:lnTo>
                      <a:pt x="920" y="529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" name="Freeform 9"/>
              <p:cNvSpPr/>
              <p:nvPr/>
            </p:nvSpPr>
            <p:spPr bwMode="auto">
              <a:xfrm>
                <a:off x="6069284" y="3509962"/>
                <a:ext cx="4495800" cy="2171700"/>
              </a:xfrm>
              <a:custGeom>
                <a:avLst/>
                <a:gdLst>
                  <a:gd name="T0" fmla="*/ 1059 w 1059"/>
                  <a:gd name="T1" fmla="*/ 198 h 512"/>
                  <a:gd name="T2" fmla="*/ 715 w 1059"/>
                  <a:gd name="T3" fmla="*/ 0 h 512"/>
                  <a:gd name="T4" fmla="*/ 534 w 1059"/>
                  <a:gd name="T5" fmla="*/ 104 h 512"/>
                  <a:gd name="T6" fmla="*/ 534 w 1059"/>
                  <a:gd name="T7" fmla="*/ 104 h 512"/>
                  <a:gd name="T8" fmla="*/ 534 w 1059"/>
                  <a:gd name="T9" fmla="*/ 104 h 512"/>
                  <a:gd name="T10" fmla="*/ 362 w 1059"/>
                  <a:gd name="T11" fmla="*/ 5 h 512"/>
                  <a:gd name="T12" fmla="*/ 0 w 1059"/>
                  <a:gd name="T13" fmla="*/ 214 h 512"/>
                  <a:gd name="T14" fmla="*/ 172 w 1059"/>
                  <a:gd name="T15" fmla="*/ 313 h 512"/>
                  <a:gd name="T16" fmla="*/ 172 w 1059"/>
                  <a:gd name="T17" fmla="*/ 313 h 512"/>
                  <a:gd name="T18" fmla="*/ 516 w 1059"/>
                  <a:gd name="T19" fmla="*/ 512 h 512"/>
                  <a:gd name="T20" fmla="*/ 697 w 1059"/>
                  <a:gd name="T21" fmla="*/ 407 h 512"/>
                  <a:gd name="T22" fmla="*/ 697 w 1059"/>
                  <a:gd name="T23" fmla="*/ 407 h 512"/>
                  <a:gd name="T24" fmla="*/ 1059 w 1059"/>
                  <a:gd name="T25" fmla="*/ 198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59" h="512">
                    <a:moveTo>
                      <a:pt x="1059" y="198"/>
                    </a:moveTo>
                    <a:cubicBezTo>
                      <a:pt x="1059" y="198"/>
                      <a:pt x="723" y="5"/>
                      <a:pt x="715" y="0"/>
                    </a:cubicBezTo>
                    <a:cubicBezTo>
                      <a:pt x="534" y="104"/>
                      <a:pt x="534" y="104"/>
                      <a:pt x="534" y="104"/>
                    </a:cubicBezTo>
                    <a:cubicBezTo>
                      <a:pt x="534" y="104"/>
                      <a:pt x="534" y="104"/>
                      <a:pt x="534" y="104"/>
                    </a:cubicBezTo>
                    <a:cubicBezTo>
                      <a:pt x="534" y="104"/>
                      <a:pt x="534" y="104"/>
                      <a:pt x="534" y="104"/>
                    </a:cubicBezTo>
                    <a:cubicBezTo>
                      <a:pt x="450" y="56"/>
                      <a:pt x="366" y="7"/>
                      <a:pt x="362" y="5"/>
                    </a:cubicBezTo>
                    <a:cubicBezTo>
                      <a:pt x="0" y="214"/>
                      <a:pt x="0" y="214"/>
                      <a:pt x="0" y="214"/>
                    </a:cubicBezTo>
                    <a:cubicBezTo>
                      <a:pt x="172" y="313"/>
                      <a:pt x="172" y="313"/>
                      <a:pt x="172" y="313"/>
                    </a:cubicBezTo>
                    <a:cubicBezTo>
                      <a:pt x="172" y="313"/>
                      <a:pt x="172" y="313"/>
                      <a:pt x="172" y="313"/>
                    </a:cubicBezTo>
                    <a:cubicBezTo>
                      <a:pt x="516" y="512"/>
                      <a:pt x="516" y="512"/>
                      <a:pt x="516" y="512"/>
                    </a:cubicBezTo>
                    <a:cubicBezTo>
                      <a:pt x="697" y="407"/>
                      <a:pt x="697" y="407"/>
                      <a:pt x="697" y="407"/>
                    </a:cubicBezTo>
                    <a:cubicBezTo>
                      <a:pt x="697" y="407"/>
                      <a:pt x="697" y="407"/>
                      <a:pt x="697" y="407"/>
                    </a:cubicBezTo>
                    <a:lnTo>
                      <a:pt x="1059" y="198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" name="Freeform 10"/>
              <p:cNvSpPr/>
              <p:nvPr/>
            </p:nvSpPr>
            <p:spPr bwMode="auto">
              <a:xfrm>
                <a:off x="8260034" y="4349749"/>
                <a:ext cx="2305050" cy="1909763"/>
              </a:xfrm>
              <a:custGeom>
                <a:avLst/>
                <a:gdLst>
                  <a:gd name="T0" fmla="*/ 968 w 1452"/>
                  <a:gd name="T1" fmla="*/ 281 h 1203"/>
                  <a:gd name="T2" fmla="*/ 968 w 1452"/>
                  <a:gd name="T3" fmla="*/ 281 h 1203"/>
                  <a:gd name="T4" fmla="*/ 0 w 1452"/>
                  <a:gd name="T5" fmla="*/ 839 h 1203"/>
                  <a:gd name="T6" fmla="*/ 0 w 1452"/>
                  <a:gd name="T7" fmla="*/ 960 h 1203"/>
                  <a:gd name="T8" fmla="*/ 0 w 1452"/>
                  <a:gd name="T9" fmla="*/ 1080 h 1203"/>
                  <a:gd name="T10" fmla="*/ 0 w 1452"/>
                  <a:gd name="T11" fmla="*/ 1203 h 1203"/>
                  <a:gd name="T12" fmla="*/ 484 w 1452"/>
                  <a:gd name="T13" fmla="*/ 922 h 1203"/>
                  <a:gd name="T14" fmla="*/ 484 w 1452"/>
                  <a:gd name="T15" fmla="*/ 922 h 1203"/>
                  <a:gd name="T16" fmla="*/ 1452 w 1452"/>
                  <a:gd name="T17" fmla="*/ 366 h 1203"/>
                  <a:gd name="T18" fmla="*/ 1452 w 1452"/>
                  <a:gd name="T19" fmla="*/ 243 h 1203"/>
                  <a:gd name="T20" fmla="*/ 1452 w 1452"/>
                  <a:gd name="T21" fmla="*/ 123 h 1203"/>
                  <a:gd name="T22" fmla="*/ 1452 w 1452"/>
                  <a:gd name="T23" fmla="*/ 0 h 1203"/>
                  <a:gd name="T24" fmla="*/ 968 w 1452"/>
                  <a:gd name="T25" fmla="*/ 281 h 1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52" h="1203">
                    <a:moveTo>
                      <a:pt x="968" y="281"/>
                    </a:moveTo>
                    <a:lnTo>
                      <a:pt x="968" y="281"/>
                    </a:lnTo>
                    <a:lnTo>
                      <a:pt x="0" y="839"/>
                    </a:lnTo>
                    <a:lnTo>
                      <a:pt x="0" y="960"/>
                    </a:lnTo>
                    <a:lnTo>
                      <a:pt x="0" y="1080"/>
                    </a:lnTo>
                    <a:lnTo>
                      <a:pt x="0" y="1203"/>
                    </a:lnTo>
                    <a:lnTo>
                      <a:pt x="484" y="922"/>
                    </a:lnTo>
                    <a:lnTo>
                      <a:pt x="484" y="922"/>
                    </a:lnTo>
                    <a:lnTo>
                      <a:pt x="1452" y="366"/>
                    </a:lnTo>
                    <a:lnTo>
                      <a:pt x="1452" y="243"/>
                    </a:lnTo>
                    <a:lnTo>
                      <a:pt x="1452" y="123"/>
                    </a:lnTo>
                    <a:lnTo>
                      <a:pt x="1452" y="0"/>
                    </a:lnTo>
                    <a:lnTo>
                      <a:pt x="968" y="281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7983809" y="4421187"/>
                <a:ext cx="1346200" cy="390525"/>
              </a:xfrm>
              <a:custGeom>
                <a:avLst/>
                <a:gdLst>
                  <a:gd name="T0" fmla="*/ 268 w 317"/>
                  <a:gd name="T1" fmla="*/ 57 h 92"/>
                  <a:gd name="T2" fmla="*/ 247 w 317"/>
                  <a:gd name="T3" fmla="*/ 45 h 92"/>
                  <a:gd name="T4" fmla="*/ 237 w 317"/>
                  <a:gd name="T5" fmla="*/ 33 h 92"/>
                  <a:gd name="T6" fmla="*/ 216 w 317"/>
                  <a:gd name="T7" fmla="*/ 29 h 92"/>
                  <a:gd name="T8" fmla="*/ 216 w 317"/>
                  <a:gd name="T9" fmla="*/ 28 h 92"/>
                  <a:gd name="T10" fmla="*/ 171 w 317"/>
                  <a:gd name="T11" fmla="*/ 19 h 92"/>
                  <a:gd name="T12" fmla="*/ 123 w 317"/>
                  <a:gd name="T13" fmla="*/ 14 h 92"/>
                  <a:gd name="T14" fmla="*/ 125 w 317"/>
                  <a:gd name="T15" fmla="*/ 11 h 92"/>
                  <a:gd name="T16" fmla="*/ 42 w 317"/>
                  <a:gd name="T17" fmla="*/ 2 h 92"/>
                  <a:gd name="T18" fmla="*/ 90 w 317"/>
                  <a:gd name="T19" fmla="*/ 18 h 92"/>
                  <a:gd name="T20" fmla="*/ 87 w 317"/>
                  <a:gd name="T21" fmla="*/ 25 h 92"/>
                  <a:gd name="T22" fmla="*/ 33 w 317"/>
                  <a:gd name="T23" fmla="*/ 22 h 92"/>
                  <a:gd name="T24" fmla="*/ 19 w 317"/>
                  <a:gd name="T25" fmla="*/ 21 h 92"/>
                  <a:gd name="T26" fmla="*/ 20 w 317"/>
                  <a:gd name="T27" fmla="*/ 22 h 92"/>
                  <a:gd name="T28" fmla="*/ 73 w 317"/>
                  <a:gd name="T29" fmla="*/ 27 h 92"/>
                  <a:gd name="T30" fmla="*/ 102 w 317"/>
                  <a:gd name="T31" fmla="*/ 29 h 92"/>
                  <a:gd name="T32" fmla="*/ 112 w 317"/>
                  <a:gd name="T33" fmla="*/ 26 h 92"/>
                  <a:gd name="T34" fmla="*/ 127 w 317"/>
                  <a:gd name="T35" fmla="*/ 27 h 92"/>
                  <a:gd name="T36" fmla="*/ 142 w 317"/>
                  <a:gd name="T37" fmla="*/ 32 h 92"/>
                  <a:gd name="T38" fmla="*/ 184 w 317"/>
                  <a:gd name="T39" fmla="*/ 51 h 92"/>
                  <a:gd name="T40" fmla="*/ 245 w 317"/>
                  <a:gd name="T41" fmla="*/ 81 h 92"/>
                  <a:gd name="T42" fmla="*/ 253 w 317"/>
                  <a:gd name="T43" fmla="*/ 89 h 92"/>
                  <a:gd name="T44" fmla="*/ 254 w 317"/>
                  <a:gd name="T45" fmla="*/ 89 h 92"/>
                  <a:gd name="T46" fmla="*/ 225 w 317"/>
                  <a:gd name="T47" fmla="*/ 52 h 92"/>
                  <a:gd name="T48" fmla="*/ 282 w 317"/>
                  <a:gd name="T49" fmla="*/ 69 h 92"/>
                  <a:gd name="T50" fmla="*/ 302 w 317"/>
                  <a:gd name="T51" fmla="*/ 71 h 92"/>
                  <a:gd name="T52" fmla="*/ 302 w 317"/>
                  <a:gd name="T53" fmla="*/ 71 h 92"/>
                  <a:gd name="T54" fmla="*/ 302 w 317"/>
                  <a:gd name="T55" fmla="*/ 71 h 92"/>
                  <a:gd name="T56" fmla="*/ 302 w 317"/>
                  <a:gd name="T57" fmla="*/ 71 h 92"/>
                  <a:gd name="T58" fmla="*/ 302 w 317"/>
                  <a:gd name="T59" fmla="*/ 71 h 92"/>
                  <a:gd name="T60" fmla="*/ 302 w 317"/>
                  <a:gd name="T61" fmla="*/ 71 h 92"/>
                  <a:gd name="T62" fmla="*/ 302 w 317"/>
                  <a:gd name="T63" fmla="*/ 71 h 92"/>
                  <a:gd name="T64" fmla="*/ 302 w 317"/>
                  <a:gd name="T65" fmla="*/ 70 h 92"/>
                  <a:gd name="T66" fmla="*/ 303 w 317"/>
                  <a:gd name="T67" fmla="*/ 70 h 92"/>
                  <a:gd name="T68" fmla="*/ 303 w 317"/>
                  <a:gd name="T69" fmla="*/ 70 h 92"/>
                  <a:gd name="T70" fmla="*/ 303 w 317"/>
                  <a:gd name="T71" fmla="*/ 70 h 92"/>
                  <a:gd name="T72" fmla="*/ 303 w 317"/>
                  <a:gd name="T73" fmla="*/ 70 h 92"/>
                  <a:gd name="T74" fmla="*/ 303 w 317"/>
                  <a:gd name="T75" fmla="*/ 70 h 92"/>
                  <a:gd name="T76" fmla="*/ 303 w 317"/>
                  <a:gd name="T77" fmla="*/ 70 h 92"/>
                  <a:gd name="T78" fmla="*/ 303 w 317"/>
                  <a:gd name="T79" fmla="*/ 70 h 92"/>
                  <a:gd name="T80" fmla="*/ 304 w 317"/>
                  <a:gd name="T81" fmla="*/ 70 h 92"/>
                  <a:gd name="T82" fmla="*/ 304 w 317"/>
                  <a:gd name="T83" fmla="*/ 70 h 92"/>
                  <a:gd name="T84" fmla="*/ 304 w 317"/>
                  <a:gd name="T85" fmla="*/ 70 h 92"/>
                  <a:gd name="T86" fmla="*/ 304 w 317"/>
                  <a:gd name="T87" fmla="*/ 70 h 92"/>
                  <a:gd name="T88" fmla="*/ 304 w 317"/>
                  <a:gd name="T89" fmla="*/ 70 h 92"/>
                  <a:gd name="T90" fmla="*/ 304 w 317"/>
                  <a:gd name="T91" fmla="*/ 70 h 92"/>
                  <a:gd name="T92" fmla="*/ 305 w 317"/>
                  <a:gd name="T93" fmla="*/ 70 h 92"/>
                  <a:gd name="T94" fmla="*/ 305 w 317"/>
                  <a:gd name="T95" fmla="*/ 70 h 92"/>
                  <a:gd name="T96" fmla="*/ 305 w 317"/>
                  <a:gd name="T97" fmla="*/ 70 h 92"/>
                  <a:gd name="T98" fmla="*/ 305 w 317"/>
                  <a:gd name="T99" fmla="*/ 70 h 92"/>
                  <a:gd name="T100" fmla="*/ 305 w 317"/>
                  <a:gd name="T101" fmla="*/ 70 h 92"/>
                  <a:gd name="T102" fmla="*/ 305 w 317"/>
                  <a:gd name="T103" fmla="*/ 70 h 92"/>
                  <a:gd name="T104" fmla="*/ 306 w 317"/>
                  <a:gd name="T105" fmla="*/ 70 h 92"/>
                  <a:gd name="T106" fmla="*/ 313 w 317"/>
                  <a:gd name="T107" fmla="*/ 72 h 92"/>
                  <a:gd name="T108" fmla="*/ 107 w 317"/>
                  <a:gd name="T109" fmla="*/ 17 h 92"/>
                  <a:gd name="T110" fmla="*/ 107 w 317"/>
                  <a:gd name="T111" fmla="*/ 17 h 92"/>
                  <a:gd name="T112" fmla="*/ 191 w 317"/>
                  <a:gd name="T113" fmla="*/ 31 h 92"/>
                  <a:gd name="T114" fmla="*/ 175 w 317"/>
                  <a:gd name="T115" fmla="*/ 27 h 92"/>
                  <a:gd name="T116" fmla="*/ 183 w 317"/>
                  <a:gd name="T117" fmla="*/ 25 h 92"/>
                  <a:gd name="T118" fmla="*/ 191 w 317"/>
                  <a:gd name="T119" fmla="*/ 28 h 92"/>
                  <a:gd name="T120" fmla="*/ 194 w 317"/>
                  <a:gd name="T121" fmla="*/ 32 h 92"/>
                  <a:gd name="T122" fmla="*/ 209 w 317"/>
                  <a:gd name="T123" fmla="*/ 30 h 92"/>
                  <a:gd name="T124" fmla="*/ 216 w 317"/>
                  <a:gd name="T125" fmla="*/ 3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17" h="92">
                    <a:moveTo>
                      <a:pt x="316" y="72"/>
                    </a:moveTo>
                    <a:cubicBezTo>
                      <a:pt x="311" y="70"/>
                      <a:pt x="302" y="62"/>
                      <a:pt x="298" y="61"/>
                    </a:cubicBezTo>
                    <a:cubicBezTo>
                      <a:pt x="290" y="58"/>
                      <a:pt x="277" y="59"/>
                      <a:pt x="268" y="57"/>
                    </a:cubicBezTo>
                    <a:cubicBezTo>
                      <a:pt x="258" y="55"/>
                      <a:pt x="256" y="54"/>
                      <a:pt x="251" y="52"/>
                    </a:cubicBezTo>
                    <a:cubicBezTo>
                      <a:pt x="260" y="51"/>
                      <a:pt x="266" y="50"/>
                      <a:pt x="264" y="49"/>
                    </a:cubicBezTo>
                    <a:cubicBezTo>
                      <a:pt x="257" y="48"/>
                      <a:pt x="252" y="47"/>
                      <a:pt x="247" y="45"/>
                    </a:cubicBezTo>
                    <a:cubicBezTo>
                      <a:pt x="266" y="46"/>
                      <a:pt x="266" y="46"/>
                      <a:pt x="266" y="46"/>
                    </a:cubicBezTo>
                    <a:cubicBezTo>
                      <a:pt x="273" y="45"/>
                      <a:pt x="273" y="45"/>
                      <a:pt x="273" y="45"/>
                    </a:cubicBezTo>
                    <a:cubicBezTo>
                      <a:pt x="237" y="33"/>
                      <a:pt x="237" y="33"/>
                      <a:pt x="237" y="33"/>
                    </a:cubicBezTo>
                    <a:cubicBezTo>
                      <a:pt x="235" y="33"/>
                      <a:pt x="235" y="33"/>
                      <a:pt x="235" y="33"/>
                    </a:cubicBezTo>
                    <a:cubicBezTo>
                      <a:pt x="229" y="32"/>
                      <a:pt x="222" y="30"/>
                      <a:pt x="216" y="29"/>
                    </a:cubicBezTo>
                    <a:cubicBezTo>
                      <a:pt x="216" y="29"/>
                      <a:pt x="216" y="29"/>
                      <a:pt x="216" y="29"/>
                    </a:cubicBezTo>
                    <a:cubicBezTo>
                      <a:pt x="216" y="29"/>
                      <a:pt x="216" y="29"/>
                      <a:pt x="216" y="29"/>
                    </a:cubicBezTo>
                    <a:cubicBezTo>
                      <a:pt x="218" y="29"/>
                      <a:pt x="219" y="29"/>
                      <a:pt x="220" y="29"/>
                    </a:cubicBezTo>
                    <a:cubicBezTo>
                      <a:pt x="219" y="29"/>
                      <a:pt x="218" y="29"/>
                      <a:pt x="216" y="28"/>
                    </a:cubicBezTo>
                    <a:cubicBezTo>
                      <a:pt x="213" y="27"/>
                      <a:pt x="210" y="26"/>
                      <a:pt x="204" y="25"/>
                    </a:cubicBezTo>
                    <a:cubicBezTo>
                      <a:pt x="200" y="24"/>
                      <a:pt x="192" y="22"/>
                      <a:pt x="184" y="21"/>
                    </a:cubicBezTo>
                    <a:cubicBezTo>
                      <a:pt x="180" y="20"/>
                      <a:pt x="175" y="19"/>
                      <a:pt x="171" y="19"/>
                    </a:cubicBezTo>
                    <a:cubicBezTo>
                      <a:pt x="160" y="17"/>
                      <a:pt x="146" y="15"/>
                      <a:pt x="137" y="15"/>
                    </a:cubicBezTo>
                    <a:cubicBezTo>
                      <a:pt x="137" y="15"/>
                      <a:pt x="136" y="14"/>
                      <a:pt x="136" y="14"/>
                    </a:cubicBezTo>
                    <a:cubicBezTo>
                      <a:pt x="130" y="14"/>
                      <a:pt x="128" y="14"/>
                      <a:pt x="123" y="14"/>
                    </a:cubicBezTo>
                    <a:cubicBezTo>
                      <a:pt x="122" y="14"/>
                      <a:pt x="121" y="14"/>
                      <a:pt x="120" y="14"/>
                    </a:cubicBezTo>
                    <a:cubicBezTo>
                      <a:pt x="119" y="14"/>
                      <a:pt x="119" y="14"/>
                      <a:pt x="119" y="14"/>
                    </a:cubicBezTo>
                    <a:cubicBezTo>
                      <a:pt x="122" y="13"/>
                      <a:pt x="124" y="12"/>
                      <a:pt x="125" y="11"/>
                    </a:cubicBezTo>
                    <a:cubicBezTo>
                      <a:pt x="126" y="10"/>
                      <a:pt x="119" y="7"/>
                      <a:pt x="107" y="5"/>
                    </a:cubicBezTo>
                    <a:cubicBezTo>
                      <a:pt x="99" y="3"/>
                      <a:pt x="88" y="2"/>
                      <a:pt x="77" y="1"/>
                    </a:cubicBezTo>
                    <a:cubicBezTo>
                      <a:pt x="63" y="0"/>
                      <a:pt x="47" y="1"/>
                      <a:pt x="42" y="2"/>
                    </a:cubicBezTo>
                    <a:cubicBezTo>
                      <a:pt x="37" y="3"/>
                      <a:pt x="46" y="7"/>
                      <a:pt x="59" y="9"/>
                    </a:cubicBezTo>
                    <a:cubicBezTo>
                      <a:pt x="67" y="11"/>
                      <a:pt x="78" y="13"/>
                      <a:pt x="90" y="14"/>
                    </a:cubicBezTo>
                    <a:cubicBezTo>
                      <a:pt x="91" y="15"/>
                      <a:pt x="91" y="17"/>
                      <a:pt x="90" y="18"/>
                    </a:cubicBezTo>
                    <a:cubicBezTo>
                      <a:pt x="89" y="18"/>
                      <a:pt x="88" y="18"/>
                      <a:pt x="88" y="19"/>
                    </a:cubicBezTo>
                    <a:cubicBezTo>
                      <a:pt x="87" y="19"/>
                      <a:pt x="87" y="21"/>
                      <a:pt x="87" y="22"/>
                    </a:cubicBezTo>
                    <a:cubicBezTo>
                      <a:pt x="88" y="23"/>
                      <a:pt x="87" y="24"/>
                      <a:pt x="87" y="25"/>
                    </a:cubicBezTo>
                    <a:cubicBezTo>
                      <a:pt x="81" y="25"/>
                      <a:pt x="78" y="24"/>
                      <a:pt x="72" y="24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57" y="23"/>
                      <a:pt x="40" y="22"/>
                      <a:pt x="33" y="22"/>
                    </a:cubicBezTo>
                    <a:cubicBezTo>
                      <a:pt x="32" y="21"/>
                      <a:pt x="29" y="21"/>
                      <a:pt x="25" y="20"/>
                    </a:cubicBezTo>
                    <a:cubicBezTo>
                      <a:pt x="15" y="19"/>
                      <a:pt x="18" y="20"/>
                      <a:pt x="22" y="20"/>
                    </a:cubicBezTo>
                    <a:cubicBezTo>
                      <a:pt x="0" y="18"/>
                      <a:pt x="13" y="20"/>
                      <a:pt x="19" y="21"/>
                    </a:cubicBezTo>
                    <a:cubicBezTo>
                      <a:pt x="15" y="20"/>
                      <a:pt x="12" y="20"/>
                      <a:pt x="12" y="20"/>
                    </a:cubicBezTo>
                    <a:cubicBezTo>
                      <a:pt x="12" y="20"/>
                      <a:pt x="15" y="21"/>
                      <a:pt x="18" y="21"/>
                    </a:cubicBezTo>
                    <a:cubicBezTo>
                      <a:pt x="17" y="21"/>
                      <a:pt x="18" y="22"/>
                      <a:pt x="20" y="22"/>
                    </a:cubicBezTo>
                    <a:cubicBezTo>
                      <a:pt x="24" y="23"/>
                      <a:pt x="26" y="23"/>
                      <a:pt x="31" y="23"/>
                    </a:cubicBezTo>
                    <a:cubicBezTo>
                      <a:pt x="32" y="23"/>
                      <a:pt x="32" y="23"/>
                      <a:pt x="33" y="23"/>
                    </a:cubicBezTo>
                    <a:cubicBezTo>
                      <a:pt x="40" y="24"/>
                      <a:pt x="58" y="26"/>
                      <a:pt x="73" y="27"/>
                    </a:cubicBezTo>
                    <a:cubicBezTo>
                      <a:pt x="74" y="27"/>
                      <a:pt x="75" y="28"/>
                      <a:pt x="76" y="29"/>
                    </a:cubicBezTo>
                    <a:cubicBezTo>
                      <a:pt x="82" y="29"/>
                      <a:pt x="90" y="29"/>
                      <a:pt x="100" y="29"/>
                    </a:cubicBezTo>
                    <a:cubicBezTo>
                      <a:pt x="101" y="29"/>
                      <a:pt x="101" y="29"/>
                      <a:pt x="102" y="29"/>
                    </a:cubicBezTo>
                    <a:cubicBezTo>
                      <a:pt x="103" y="29"/>
                      <a:pt x="103" y="29"/>
                      <a:pt x="104" y="29"/>
                    </a:cubicBezTo>
                    <a:cubicBezTo>
                      <a:pt x="105" y="29"/>
                      <a:pt x="106" y="28"/>
                      <a:pt x="107" y="28"/>
                    </a:cubicBezTo>
                    <a:cubicBezTo>
                      <a:pt x="109" y="28"/>
                      <a:pt x="111" y="27"/>
                      <a:pt x="112" y="26"/>
                    </a:cubicBezTo>
                    <a:cubicBezTo>
                      <a:pt x="112" y="26"/>
                      <a:pt x="112" y="26"/>
                      <a:pt x="112" y="26"/>
                    </a:cubicBezTo>
                    <a:cubicBezTo>
                      <a:pt x="113" y="26"/>
                      <a:pt x="114" y="26"/>
                      <a:pt x="114" y="26"/>
                    </a:cubicBezTo>
                    <a:cubicBezTo>
                      <a:pt x="117" y="26"/>
                      <a:pt x="121" y="27"/>
                      <a:pt x="127" y="27"/>
                    </a:cubicBezTo>
                    <a:cubicBezTo>
                      <a:pt x="128" y="28"/>
                      <a:pt x="129" y="28"/>
                      <a:pt x="130" y="28"/>
                    </a:cubicBezTo>
                    <a:cubicBezTo>
                      <a:pt x="130" y="28"/>
                      <a:pt x="130" y="28"/>
                      <a:pt x="130" y="28"/>
                    </a:cubicBezTo>
                    <a:cubicBezTo>
                      <a:pt x="130" y="28"/>
                      <a:pt x="138" y="31"/>
                      <a:pt x="142" y="32"/>
                    </a:cubicBezTo>
                    <a:cubicBezTo>
                      <a:pt x="142" y="32"/>
                      <a:pt x="142" y="32"/>
                      <a:pt x="142" y="32"/>
                    </a:cubicBezTo>
                    <a:cubicBezTo>
                      <a:pt x="149" y="35"/>
                      <a:pt x="173" y="46"/>
                      <a:pt x="175" y="49"/>
                    </a:cubicBezTo>
                    <a:cubicBezTo>
                      <a:pt x="178" y="50"/>
                      <a:pt x="181" y="50"/>
                      <a:pt x="184" y="51"/>
                    </a:cubicBezTo>
                    <a:cubicBezTo>
                      <a:pt x="188" y="51"/>
                      <a:pt x="192" y="51"/>
                      <a:pt x="196" y="52"/>
                    </a:cubicBezTo>
                    <a:cubicBezTo>
                      <a:pt x="202" y="54"/>
                      <a:pt x="209" y="56"/>
                      <a:pt x="216" y="60"/>
                    </a:cubicBezTo>
                    <a:cubicBezTo>
                      <a:pt x="233" y="68"/>
                      <a:pt x="248" y="77"/>
                      <a:pt x="245" y="81"/>
                    </a:cubicBezTo>
                    <a:cubicBezTo>
                      <a:pt x="244" y="81"/>
                      <a:pt x="243" y="82"/>
                      <a:pt x="242" y="82"/>
                    </a:cubicBezTo>
                    <a:cubicBezTo>
                      <a:pt x="242" y="82"/>
                      <a:pt x="236" y="89"/>
                      <a:pt x="251" y="90"/>
                    </a:cubicBezTo>
                    <a:cubicBezTo>
                      <a:pt x="253" y="89"/>
                      <a:pt x="253" y="89"/>
                      <a:pt x="253" y="89"/>
                    </a:cubicBezTo>
                    <a:cubicBezTo>
                      <a:pt x="253" y="89"/>
                      <a:pt x="253" y="89"/>
                      <a:pt x="253" y="89"/>
                    </a:cubicBezTo>
                    <a:cubicBezTo>
                      <a:pt x="254" y="89"/>
                      <a:pt x="254" y="89"/>
                      <a:pt x="254" y="89"/>
                    </a:cubicBezTo>
                    <a:cubicBezTo>
                      <a:pt x="254" y="89"/>
                      <a:pt x="254" y="89"/>
                      <a:pt x="254" y="89"/>
                    </a:cubicBezTo>
                    <a:cubicBezTo>
                      <a:pt x="264" y="90"/>
                      <a:pt x="269" y="91"/>
                      <a:pt x="271" y="92"/>
                    </a:cubicBezTo>
                    <a:cubicBezTo>
                      <a:pt x="272" y="92"/>
                      <a:pt x="275" y="91"/>
                      <a:pt x="275" y="90"/>
                    </a:cubicBezTo>
                    <a:cubicBezTo>
                      <a:pt x="255" y="75"/>
                      <a:pt x="260" y="69"/>
                      <a:pt x="225" y="52"/>
                    </a:cubicBezTo>
                    <a:cubicBezTo>
                      <a:pt x="227" y="52"/>
                      <a:pt x="229" y="52"/>
                      <a:pt x="230" y="52"/>
                    </a:cubicBezTo>
                    <a:cubicBezTo>
                      <a:pt x="239" y="55"/>
                      <a:pt x="246" y="56"/>
                      <a:pt x="254" y="58"/>
                    </a:cubicBezTo>
                    <a:cubicBezTo>
                      <a:pt x="262" y="61"/>
                      <a:pt x="283" y="67"/>
                      <a:pt x="282" y="69"/>
                    </a:cubicBezTo>
                    <a:cubicBezTo>
                      <a:pt x="281" y="72"/>
                      <a:pt x="294" y="75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1"/>
                      <a:pt x="302" y="71"/>
                      <a:pt x="302" y="71"/>
                    </a:cubicBezTo>
                    <a:cubicBezTo>
                      <a:pt x="302" y="70"/>
                      <a:pt x="302" y="70"/>
                      <a:pt x="302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3" y="70"/>
                      <a:pt x="303" y="70"/>
                      <a:pt x="303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4" y="70"/>
                      <a:pt x="304" y="70"/>
                      <a:pt x="304" y="70"/>
                    </a:cubicBezTo>
                    <a:cubicBezTo>
                      <a:pt x="305" y="70"/>
                      <a:pt x="305" y="70"/>
                      <a:pt x="305" y="70"/>
                    </a:cubicBezTo>
                    <a:cubicBezTo>
                      <a:pt x="305" y="70"/>
                      <a:pt x="305" y="70"/>
                      <a:pt x="305" y="70"/>
                    </a:cubicBezTo>
                    <a:cubicBezTo>
                      <a:pt x="305" y="70"/>
                      <a:pt x="305" y="70"/>
                      <a:pt x="305" y="70"/>
                    </a:cubicBezTo>
                    <a:cubicBezTo>
                      <a:pt x="305" y="70"/>
                      <a:pt x="305" y="70"/>
                      <a:pt x="305" y="70"/>
                    </a:cubicBezTo>
                    <a:cubicBezTo>
                      <a:pt x="305" y="70"/>
                      <a:pt x="305" y="70"/>
                      <a:pt x="305" y="70"/>
                    </a:cubicBezTo>
                    <a:cubicBezTo>
                      <a:pt x="305" y="70"/>
                      <a:pt x="305" y="70"/>
                      <a:pt x="305" y="70"/>
                    </a:cubicBezTo>
                    <a:cubicBezTo>
                      <a:pt x="305" y="70"/>
                      <a:pt x="305" y="70"/>
                      <a:pt x="305" y="70"/>
                    </a:cubicBezTo>
                    <a:cubicBezTo>
                      <a:pt x="305" y="70"/>
                      <a:pt x="305" y="70"/>
                      <a:pt x="305" y="70"/>
                    </a:cubicBezTo>
                    <a:cubicBezTo>
                      <a:pt x="305" y="70"/>
                      <a:pt x="305" y="70"/>
                      <a:pt x="305" y="70"/>
                    </a:cubicBezTo>
                    <a:cubicBezTo>
                      <a:pt x="305" y="70"/>
                      <a:pt x="305" y="70"/>
                      <a:pt x="305" y="70"/>
                    </a:cubicBezTo>
                    <a:cubicBezTo>
                      <a:pt x="305" y="70"/>
                      <a:pt x="305" y="70"/>
                      <a:pt x="305" y="70"/>
                    </a:cubicBezTo>
                    <a:cubicBezTo>
                      <a:pt x="305" y="70"/>
                      <a:pt x="305" y="70"/>
                      <a:pt x="305" y="70"/>
                    </a:cubicBezTo>
                    <a:cubicBezTo>
                      <a:pt x="305" y="70"/>
                      <a:pt x="305" y="70"/>
                      <a:pt x="305" y="70"/>
                    </a:cubicBezTo>
                    <a:cubicBezTo>
                      <a:pt x="305" y="70"/>
                      <a:pt x="305" y="70"/>
                      <a:pt x="305" y="70"/>
                    </a:cubicBezTo>
                    <a:cubicBezTo>
                      <a:pt x="305" y="70"/>
                      <a:pt x="305" y="70"/>
                      <a:pt x="305" y="70"/>
                    </a:cubicBezTo>
                    <a:cubicBezTo>
                      <a:pt x="305" y="70"/>
                      <a:pt x="305" y="70"/>
                      <a:pt x="305" y="70"/>
                    </a:cubicBezTo>
                    <a:cubicBezTo>
                      <a:pt x="305" y="70"/>
                      <a:pt x="305" y="70"/>
                      <a:pt x="305" y="70"/>
                    </a:cubicBezTo>
                    <a:cubicBezTo>
                      <a:pt x="306" y="70"/>
                      <a:pt x="306" y="70"/>
                      <a:pt x="306" y="70"/>
                    </a:cubicBezTo>
                    <a:cubicBezTo>
                      <a:pt x="306" y="70"/>
                      <a:pt x="306" y="70"/>
                      <a:pt x="306" y="70"/>
                    </a:cubicBezTo>
                    <a:cubicBezTo>
                      <a:pt x="306" y="70"/>
                      <a:pt x="306" y="70"/>
                      <a:pt x="306" y="70"/>
                    </a:cubicBezTo>
                    <a:cubicBezTo>
                      <a:pt x="306" y="70"/>
                      <a:pt x="306" y="70"/>
                      <a:pt x="306" y="70"/>
                    </a:cubicBezTo>
                    <a:cubicBezTo>
                      <a:pt x="306" y="70"/>
                      <a:pt x="306" y="70"/>
                      <a:pt x="306" y="70"/>
                    </a:cubicBezTo>
                    <a:cubicBezTo>
                      <a:pt x="309" y="71"/>
                      <a:pt x="310" y="71"/>
                      <a:pt x="313" y="72"/>
                    </a:cubicBezTo>
                    <a:cubicBezTo>
                      <a:pt x="314" y="72"/>
                      <a:pt x="317" y="72"/>
                      <a:pt x="316" y="72"/>
                    </a:cubicBezTo>
                    <a:close/>
                    <a:moveTo>
                      <a:pt x="107" y="17"/>
                    </a:moveTo>
                    <a:cubicBezTo>
                      <a:pt x="107" y="17"/>
                      <a:pt x="107" y="17"/>
                      <a:pt x="107" y="17"/>
                    </a:cubicBezTo>
                    <a:cubicBezTo>
                      <a:pt x="107" y="17"/>
                      <a:pt x="107" y="17"/>
                      <a:pt x="107" y="17"/>
                    </a:cubicBezTo>
                    <a:cubicBezTo>
                      <a:pt x="107" y="17"/>
                      <a:pt x="107" y="17"/>
                      <a:pt x="107" y="17"/>
                    </a:cubicBezTo>
                    <a:cubicBezTo>
                      <a:pt x="107" y="17"/>
                      <a:pt x="107" y="17"/>
                      <a:pt x="107" y="17"/>
                    </a:cubicBezTo>
                    <a:close/>
                    <a:moveTo>
                      <a:pt x="194" y="32"/>
                    </a:moveTo>
                    <a:cubicBezTo>
                      <a:pt x="193" y="31"/>
                      <a:pt x="192" y="31"/>
                      <a:pt x="190" y="31"/>
                    </a:cubicBezTo>
                    <a:cubicBezTo>
                      <a:pt x="191" y="31"/>
                      <a:pt x="191" y="31"/>
                      <a:pt x="191" y="31"/>
                    </a:cubicBezTo>
                    <a:cubicBezTo>
                      <a:pt x="190" y="31"/>
                      <a:pt x="188" y="30"/>
                      <a:pt x="184" y="29"/>
                    </a:cubicBezTo>
                    <a:cubicBezTo>
                      <a:pt x="181" y="28"/>
                      <a:pt x="177" y="27"/>
                      <a:pt x="175" y="27"/>
                    </a:cubicBezTo>
                    <a:cubicBezTo>
                      <a:pt x="175" y="27"/>
                      <a:pt x="175" y="27"/>
                      <a:pt x="175" y="27"/>
                    </a:cubicBezTo>
                    <a:cubicBezTo>
                      <a:pt x="172" y="25"/>
                      <a:pt x="171" y="24"/>
                      <a:pt x="169" y="23"/>
                    </a:cubicBezTo>
                    <a:cubicBezTo>
                      <a:pt x="173" y="23"/>
                      <a:pt x="178" y="24"/>
                      <a:pt x="183" y="25"/>
                    </a:cubicBezTo>
                    <a:cubicBezTo>
                      <a:pt x="183" y="25"/>
                      <a:pt x="183" y="25"/>
                      <a:pt x="183" y="25"/>
                    </a:cubicBezTo>
                    <a:cubicBezTo>
                      <a:pt x="183" y="25"/>
                      <a:pt x="183" y="25"/>
                      <a:pt x="184" y="25"/>
                    </a:cubicBezTo>
                    <a:cubicBezTo>
                      <a:pt x="184" y="25"/>
                      <a:pt x="184" y="25"/>
                      <a:pt x="184" y="25"/>
                    </a:cubicBezTo>
                    <a:cubicBezTo>
                      <a:pt x="186" y="26"/>
                      <a:pt x="188" y="27"/>
                      <a:pt x="191" y="28"/>
                    </a:cubicBezTo>
                    <a:cubicBezTo>
                      <a:pt x="192" y="28"/>
                      <a:pt x="192" y="28"/>
                      <a:pt x="192" y="28"/>
                    </a:cubicBezTo>
                    <a:cubicBezTo>
                      <a:pt x="194" y="29"/>
                      <a:pt x="197" y="31"/>
                      <a:pt x="200" y="32"/>
                    </a:cubicBezTo>
                    <a:lnTo>
                      <a:pt x="194" y="32"/>
                    </a:lnTo>
                    <a:close/>
                    <a:moveTo>
                      <a:pt x="216" y="32"/>
                    </a:moveTo>
                    <a:cubicBezTo>
                      <a:pt x="214" y="32"/>
                      <a:pt x="214" y="32"/>
                      <a:pt x="214" y="32"/>
                    </a:cubicBezTo>
                    <a:cubicBezTo>
                      <a:pt x="212" y="31"/>
                      <a:pt x="211" y="30"/>
                      <a:pt x="209" y="30"/>
                    </a:cubicBezTo>
                    <a:cubicBezTo>
                      <a:pt x="212" y="30"/>
                      <a:pt x="214" y="31"/>
                      <a:pt x="216" y="31"/>
                    </a:cubicBezTo>
                    <a:cubicBezTo>
                      <a:pt x="224" y="32"/>
                      <a:pt x="224" y="32"/>
                      <a:pt x="224" y="32"/>
                    </a:cubicBezTo>
                    <a:lnTo>
                      <a:pt x="216" y="32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6837634" y="3395662"/>
                <a:ext cx="1460500" cy="1420813"/>
              </a:xfrm>
              <a:custGeom>
                <a:avLst/>
                <a:gdLst>
                  <a:gd name="T0" fmla="*/ 0 w 920"/>
                  <a:gd name="T1" fmla="*/ 0 h 895"/>
                  <a:gd name="T2" fmla="*/ 0 w 920"/>
                  <a:gd name="T3" fmla="*/ 123 h 895"/>
                  <a:gd name="T4" fmla="*/ 0 w 920"/>
                  <a:gd name="T5" fmla="*/ 243 h 895"/>
                  <a:gd name="T6" fmla="*/ 0 w 920"/>
                  <a:gd name="T7" fmla="*/ 363 h 895"/>
                  <a:gd name="T8" fmla="*/ 920 w 920"/>
                  <a:gd name="T9" fmla="*/ 895 h 895"/>
                  <a:gd name="T10" fmla="*/ 920 w 920"/>
                  <a:gd name="T11" fmla="*/ 775 h 895"/>
                  <a:gd name="T12" fmla="*/ 920 w 920"/>
                  <a:gd name="T13" fmla="*/ 652 h 895"/>
                  <a:gd name="T14" fmla="*/ 920 w 920"/>
                  <a:gd name="T15" fmla="*/ 532 h 895"/>
                  <a:gd name="T16" fmla="*/ 0 w 920"/>
                  <a:gd name="T17" fmla="*/ 0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20" h="895">
                    <a:moveTo>
                      <a:pt x="0" y="0"/>
                    </a:moveTo>
                    <a:lnTo>
                      <a:pt x="0" y="123"/>
                    </a:lnTo>
                    <a:lnTo>
                      <a:pt x="0" y="243"/>
                    </a:lnTo>
                    <a:lnTo>
                      <a:pt x="0" y="363"/>
                    </a:lnTo>
                    <a:lnTo>
                      <a:pt x="920" y="895"/>
                    </a:lnTo>
                    <a:lnTo>
                      <a:pt x="920" y="775"/>
                    </a:lnTo>
                    <a:lnTo>
                      <a:pt x="920" y="652"/>
                    </a:lnTo>
                    <a:lnTo>
                      <a:pt x="920" y="5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3" name="Freeform 13"/>
              <p:cNvSpPr/>
              <p:nvPr/>
            </p:nvSpPr>
            <p:spPr bwMode="auto">
              <a:xfrm>
                <a:off x="6837634" y="2508249"/>
                <a:ext cx="2997200" cy="1731963"/>
              </a:xfrm>
              <a:custGeom>
                <a:avLst/>
                <a:gdLst>
                  <a:gd name="T0" fmla="*/ 362 w 706"/>
                  <a:gd name="T1" fmla="*/ 0 h 408"/>
                  <a:gd name="T2" fmla="*/ 0 w 706"/>
                  <a:gd name="T3" fmla="*/ 209 h 408"/>
                  <a:gd name="T4" fmla="*/ 344 w 706"/>
                  <a:gd name="T5" fmla="*/ 408 h 408"/>
                  <a:gd name="T6" fmla="*/ 706 w 706"/>
                  <a:gd name="T7" fmla="*/ 199 h 408"/>
                  <a:gd name="T8" fmla="*/ 362 w 706"/>
                  <a:gd name="T9" fmla="*/ 0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6" h="408">
                    <a:moveTo>
                      <a:pt x="362" y="0"/>
                    </a:moveTo>
                    <a:cubicBezTo>
                      <a:pt x="0" y="209"/>
                      <a:pt x="0" y="209"/>
                      <a:pt x="0" y="209"/>
                    </a:cubicBezTo>
                    <a:cubicBezTo>
                      <a:pt x="344" y="408"/>
                      <a:pt x="344" y="408"/>
                      <a:pt x="344" y="408"/>
                    </a:cubicBezTo>
                    <a:cubicBezTo>
                      <a:pt x="706" y="199"/>
                      <a:pt x="706" y="199"/>
                      <a:pt x="706" y="199"/>
                    </a:cubicBezTo>
                    <a:cubicBezTo>
                      <a:pt x="706" y="199"/>
                      <a:pt x="370" y="5"/>
                      <a:pt x="3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4" name="Freeform 14"/>
              <p:cNvSpPr>
                <a:spLocks noEditPoints="1"/>
              </p:cNvSpPr>
              <p:nvPr/>
            </p:nvSpPr>
            <p:spPr bwMode="auto">
              <a:xfrm>
                <a:off x="7118621" y="3124199"/>
                <a:ext cx="873125" cy="388938"/>
              </a:xfrm>
              <a:custGeom>
                <a:avLst/>
                <a:gdLst>
                  <a:gd name="T0" fmla="*/ 92 w 206"/>
                  <a:gd name="T1" fmla="*/ 57 h 92"/>
                  <a:gd name="T2" fmla="*/ 125 w 206"/>
                  <a:gd name="T3" fmla="*/ 75 h 92"/>
                  <a:gd name="T4" fmla="*/ 125 w 206"/>
                  <a:gd name="T5" fmla="*/ 75 h 92"/>
                  <a:gd name="T6" fmla="*/ 125 w 206"/>
                  <a:gd name="T7" fmla="*/ 75 h 92"/>
                  <a:gd name="T8" fmla="*/ 125 w 206"/>
                  <a:gd name="T9" fmla="*/ 75 h 92"/>
                  <a:gd name="T10" fmla="*/ 125 w 206"/>
                  <a:gd name="T11" fmla="*/ 75 h 92"/>
                  <a:gd name="T12" fmla="*/ 125 w 206"/>
                  <a:gd name="T13" fmla="*/ 75 h 92"/>
                  <a:gd name="T14" fmla="*/ 125 w 206"/>
                  <a:gd name="T15" fmla="*/ 76 h 92"/>
                  <a:gd name="T16" fmla="*/ 125 w 206"/>
                  <a:gd name="T17" fmla="*/ 76 h 92"/>
                  <a:gd name="T18" fmla="*/ 126 w 206"/>
                  <a:gd name="T19" fmla="*/ 76 h 92"/>
                  <a:gd name="T20" fmla="*/ 126 w 206"/>
                  <a:gd name="T21" fmla="*/ 76 h 92"/>
                  <a:gd name="T22" fmla="*/ 126 w 206"/>
                  <a:gd name="T23" fmla="*/ 76 h 92"/>
                  <a:gd name="T24" fmla="*/ 127 w 206"/>
                  <a:gd name="T25" fmla="*/ 77 h 92"/>
                  <a:gd name="T26" fmla="*/ 127 w 206"/>
                  <a:gd name="T27" fmla="*/ 77 h 92"/>
                  <a:gd name="T28" fmla="*/ 128 w 206"/>
                  <a:gd name="T29" fmla="*/ 77 h 92"/>
                  <a:gd name="T30" fmla="*/ 129 w 206"/>
                  <a:gd name="T31" fmla="*/ 77 h 92"/>
                  <a:gd name="T32" fmla="*/ 129 w 206"/>
                  <a:gd name="T33" fmla="*/ 77 h 92"/>
                  <a:gd name="T34" fmla="*/ 129 w 206"/>
                  <a:gd name="T35" fmla="*/ 78 h 92"/>
                  <a:gd name="T36" fmla="*/ 130 w 206"/>
                  <a:gd name="T37" fmla="*/ 78 h 92"/>
                  <a:gd name="T38" fmla="*/ 130 w 206"/>
                  <a:gd name="T39" fmla="*/ 78 h 92"/>
                  <a:gd name="T40" fmla="*/ 131 w 206"/>
                  <a:gd name="T41" fmla="*/ 78 h 92"/>
                  <a:gd name="T42" fmla="*/ 131 w 206"/>
                  <a:gd name="T43" fmla="*/ 78 h 92"/>
                  <a:gd name="T44" fmla="*/ 131 w 206"/>
                  <a:gd name="T45" fmla="*/ 78 h 92"/>
                  <a:gd name="T46" fmla="*/ 141 w 206"/>
                  <a:gd name="T47" fmla="*/ 79 h 92"/>
                  <a:gd name="T48" fmla="*/ 141 w 206"/>
                  <a:gd name="T49" fmla="*/ 79 h 92"/>
                  <a:gd name="T50" fmla="*/ 142 w 206"/>
                  <a:gd name="T51" fmla="*/ 79 h 92"/>
                  <a:gd name="T52" fmla="*/ 142 w 206"/>
                  <a:gd name="T53" fmla="*/ 79 h 92"/>
                  <a:gd name="T54" fmla="*/ 143 w 206"/>
                  <a:gd name="T55" fmla="*/ 79 h 92"/>
                  <a:gd name="T56" fmla="*/ 144 w 206"/>
                  <a:gd name="T57" fmla="*/ 79 h 92"/>
                  <a:gd name="T58" fmla="*/ 144 w 206"/>
                  <a:gd name="T59" fmla="*/ 79 h 92"/>
                  <a:gd name="T60" fmla="*/ 145 w 206"/>
                  <a:gd name="T61" fmla="*/ 79 h 92"/>
                  <a:gd name="T62" fmla="*/ 146 w 206"/>
                  <a:gd name="T63" fmla="*/ 79 h 92"/>
                  <a:gd name="T64" fmla="*/ 146 w 206"/>
                  <a:gd name="T65" fmla="*/ 80 h 92"/>
                  <a:gd name="T66" fmla="*/ 147 w 206"/>
                  <a:gd name="T67" fmla="*/ 80 h 92"/>
                  <a:gd name="T68" fmla="*/ 163 w 206"/>
                  <a:gd name="T69" fmla="*/ 88 h 92"/>
                  <a:gd name="T70" fmla="*/ 163 w 206"/>
                  <a:gd name="T71" fmla="*/ 88 h 92"/>
                  <a:gd name="T72" fmla="*/ 164 w 206"/>
                  <a:gd name="T73" fmla="*/ 88 h 92"/>
                  <a:gd name="T74" fmla="*/ 164 w 206"/>
                  <a:gd name="T75" fmla="*/ 89 h 92"/>
                  <a:gd name="T76" fmla="*/ 165 w 206"/>
                  <a:gd name="T77" fmla="*/ 89 h 92"/>
                  <a:gd name="T78" fmla="*/ 165 w 206"/>
                  <a:gd name="T79" fmla="*/ 89 h 92"/>
                  <a:gd name="T80" fmla="*/ 166 w 206"/>
                  <a:gd name="T81" fmla="*/ 89 h 92"/>
                  <a:gd name="T82" fmla="*/ 166 w 206"/>
                  <a:gd name="T83" fmla="*/ 89 h 92"/>
                  <a:gd name="T84" fmla="*/ 167 w 206"/>
                  <a:gd name="T85" fmla="*/ 89 h 92"/>
                  <a:gd name="T86" fmla="*/ 167 w 206"/>
                  <a:gd name="T87" fmla="*/ 89 h 92"/>
                  <a:gd name="T88" fmla="*/ 174 w 206"/>
                  <a:gd name="T89" fmla="*/ 89 h 92"/>
                  <a:gd name="T90" fmla="*/ 174 w 206"/>
                  <a:gd name="T91" fmla="*/ 90 h 92"/>
                  <a:gd name="T92" fmla="*/ 175 w 206"/>
                  <a:gd name="T93" fmla="*/ 90 h 92"/>
                  <a:gd name="T94" fmla="*/ 175 w 206"/>
                  <a:gd name="T95" fmla="*/ 90 h 92"/>
                  <a:gd name="T96" fmla="*/ 176 w 206"/>
                  <a:gd name="T97" fmla="*/ 90 h 92"/>
                  <a:gd name="T98" fmla="*/ 177 w 206"/>
                  <a:gd name="T99" fmla="*/ 90 h 92"/>
                  <a:gd name="T100" fmla="*/ 178 w 206"/>
                  <a:gd name="T101" fmla="*/ 90 h 92"/>
                  <a:gd name="T102" fmla="*/ 179 w 206"/>
                  <a:gd name="T103" fmla="*/ 90 h 92"/>
                  <a:gd name="T104" fmla="*/ 179 w 206"/>
                  <a:gd name="T105" fmla="*/ 90 h 92"/>
                  <a:gd name="T106" fmla="*/ 180 w 206"/>
                  <a:gd name="T107" fmla="*/ 90 h 92"/>
                  <a:gd name="T108" fmla="*/ 202 w 206"/>
                  <a:gd name="T109" fmla="*/ 91 h 92"/>
                  <a:gd name="T110" fmla="*/ 126 w 206"/>
                  <a:gd name="T111" fmla="*/ 48 h 92"/>
                  <a:gd name="T112" fmla="*/ 124 w 206"/>
                  <a:gd name="T113" fmla="*/ 33 h 92"/>
                  <a:gd name="T114" fmla="*/ 130 w 206"/>
                  <a:gd name="T115" fmla="*/ 31 h 92"/>
                  <a:gd name="T116" fmla="*/ 89 w 206"/>
                  <a:gd name="T117" fmla="*/ 20 h 92"/>
                  <a:gd name="T118" fmla="*/ 103 w 206"/>
                  <a:gd name="T119" fmla="*/ 49 h 92"/>
                  <a:gd name="T120" fmla="*/ 130 w 206"/>
                  <a:gd name="T121" fmla="*/ 6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6" h="92">
                    <a:moveTo>
                      <a:pt x="3" y="27"/>
                    </a:moveTo>
                    <a:cubicBezTo>
                      <a:pt x="4" y="27"/>
                      <a:pt x="4" y="26"/>
                      <a:pt x="3" y="25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6" y="28"/>
                      <a:pt x="26" y="28"/>
                      <a:pt x="26" y="28"/>
                    </a:cubicBezTo>
                    <a:cubicBezTo>
                      <a:pt x="36" y="32"/>
                      <a:pt x="55" y="42"/>
                      <a:pt x="60" y="44"/>
                    </a:cubicBezTo>
                    <a:cubicBezTo>
                      <a:pt x="63" y="45"/>
                      <a:pt x="67" y="45"/>
                      <a:pt x="70" y="46"/>
                    </a:cubicBezTo>
                    <a:cubicBezTo>
                      <a:pt x="80" y="50"/>
                      <a:pt x="89" y="55"/>
                      <a:pt x="92" y="57"/>
                    </a:cubicBezTo>
                    <a:cubicBezTo>
                      <a:pt x="97" y="62"/>
                      <a:pt x="109" y="66"/>
                      <a:pt x="119" y="70"/>
                    </a:cubicBezTo>
                    <a:cubicBezTo>
                      <a:pt x="124" y="73"/>
                      <a:pt x="124" y="74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5" y="76"/>
                      <a:pt x="125" y="76"/>
                      <a:pt x="125" y="76"/>
                    </a:cubicBezTo>
                    <a:cubicBezTo>
                      <a:pt x="125" y="76"/>
                      <a:pt x="125" y="76"/>
                      <a:pt x="125" y="76"/>
                    </a:cubicBezTo>
                    <a:cubicBezTo>
                      <a:pt x="125" y="76"/>
                      <a:pt x="125" y="76"/>
                      <a:pt x="125" y="76"/>
                    </a:cubicBezTo>
                    <a:cubicBezTo>
                      <a:pt x="125" y="76"/>
                      <a:pt x="125" y="76"/>
                      <a:pt x="125" y="76"/>
                    </a:cubicBezTo>
                    <a:cubicBezTo>
                      <a:pt x="125" y="76"/>
                      <a:pt x="125" y="76"/>
                      <a:pt x="125" y="76"/>
                    </a:cubicBezTo>
                    <a:cubicBezTo>
                      <a:pt x="125" y="76"/>
                      <a:pt x="125" y="76"/>
                      <a:pt x="125" y="76"/>
                    </a:cubicBezTo>
                    <a:cubicBezTo>
                      <a:pt x="125" y="76"/>
                      <a:pt x="125" y="76"/>
                      <a:pt x="125" y="76"/>
                    </a:cubicBezTo>
                    <a:cubicBezTo>
                      <a:pt x="125" y="76"/>
                      <a:pt x="125" y="76"/>
                      <a:pt x="125" y="76"/>
                    </a:cubicBezTo>
                    <a:cubicBezTo>
                      <a:pt x="125" y="76"/>
                      <a:pt x="125" y="76"/>
                      <a:pt x="125" y="76"/>
                    </a:cubicBezTo>
                    <a:cubicBezTo>
                      <a:pt x="125" y="76"/>
                      <a:pt x="125" y="76"/>
                      <a:pt x="125" y="76"/>
                    </a:cubicBezTo>
                    <a:cubicBezTo>
                      <a:pt x="125" y="76"/>
                      <a:pt x="125" y="76"/>
                      <a:pt x="125" y="76"/>
                    </a:cubicBezTo>
                    <a:cubicBezTo>
                      <a:pt x="125" y="76"/>
                      <a:pt x="125" y="76"/>
                      <a:pt x="125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6" y="76"/>
                      <a:pt x="126" y="76"/>
                      <a:pt x="126" y="76"/>
                    </a:cubicBezTo>
                    <a:cubicBezTo>
                      <a:pt x="127" y="76"/>
                      <a:pt x="127" y="76"/>
                      <a:pt x="127" y="76"/>
                    </a:cubicBezTo>
                    <a:cubicBezTo>
                      <a:pt x="127" y="76"/>
                      <a:pt x="127" y="76"/>
                      <a:pt x="127" y="76"/>
                    </a:cubicBezTo>
                    <a:cubicBezTo>
                      <a:pt x="127" y="76"/>
                      <a:pt x="127" y="76"/>
                      <a:pt x="127" y="76"/>
                    </a:cubicBezTo>
                    <a:cubicBezTo>
                      <a:pt x="127" y="77"/>
                      <a:pt x="127" y="77"/>
                      <a:pt x="127" y="77"/>
                    </a:cubicBezTo>
                    <a:cubicBezTo>
                      <a:pt x="127" y="77"/>
                      <a:pt x="127" y="77"/>
                      <a:pt x="127" y="77"/>
                    </a:cubicBezTo>
                    <a:cubicBezTo>
                      <a:pt x="127" y="77"/>
                      <a:pt x="127" y="77"/>
                      <a:pt x="127" y="77"/>
                    </a:cubicBezTo>
                    <a:cubicBezTo>
                      <a:pt x="127" y="77"/>
                      <a:pt x="127" y="77"/>
                      <a:pt x="127" y="77"/>
                    </a:cubicBezTo>
                    <a:cubicBezTo>
                      <a:pt x="127" y="77"/>
                      <a:pt x="127" y="77"/>
                      <a:pt x="127" y="77"/>
                    </a:cubicBezTo>
                    <a:cubicBezTo>
                      <a:pt x="127" y="77"/>
                      <a:pt x="127" y="77"/>
                      <a:pt x="127" y="77"/>
                    </a:cubicBezTo>
                    <a:cubicBezTo>
                      <a:pt x="127" y="77"/>
                      <a:pt x="127" y="77"/>
                      <a:pt x="127" y="77"/>
                    </a:cubicBezTo>
                    <a:cubicBezTo>
                      <a:pt x="127" y="77"/>
                      <a:pt x="127" y="77"/>
                      <a:pt x="127" y="77"/>
                    </a:cubicBezTo>
                    <a:cubicBezTo>
                      <a:pt x="127" y="77"/>
                      <a:pt x="127" y="77"/>
                      <a:pt x="127" y="77"/>
                    </a:cubicBezTo>
                    <a:cubicBezTo>
                      <a:pt x="127" y="77"/>
                      <a:pt x="127" y="77"/>
                      <a:pt x="127" y="77"/>
                    </a:cubicBezTo>
                    <a:cubicBezTo>
                      <a:pt x="127" y="77"/>
                      <a:pt x="127" y="77"/>
                      <a:pt x="127" y="77"/>
                    </a:cubicBezTo>
                    <a:cubicBezTo>
                      <a:pt x="128" y="77"/>
                      <a:pt x="128" y="77"/>
                      <a:pt x="128" y="77"/>
                    </a:cubicBezTo>
                    <a:cubicBezTo>
                      <a:pt x="128" y="77"/>
                      <a:pt x="128" y="77"/>
                      <a:pt x="128" y="77"/>
                    </a:cubicBezTo>
                    <a:cubicBezTo>
                      <a:pt x="128" y="77"/>
                      <a:pt x="128" y="77"/>
                      <a:pt x="128" y="77"/>
                    </a:cubicBezTo>
                    <a:cubicBezTo>
                      <a:pt x="128" y="77"/>
                      <a:pt x="128" y="77"/>
                      <a:pt x="128" y="77"/>
                    </a:cubicBezTo>
                    <a:cubicBezTo>
                      <a:pt x="128" y="77"/>
                      <a:pt x="128" y="77"/>
                      <a:pt x="128" y="77"/>
                    </a:cubicBezTo>
                    <a:cubicBezTo>
                      <a:pt x="128" y="77"/>
                      <a:pt x="128" y="77"/>
                      <a:pt x="128" y="77"/>
                    </a:cubicBezTo>
                    <a:cubicBezTo>
                      <a:pt x="128" y="77"/>
                      <a:pt x="128" y="77"/>
                      <a:pt x="128" y="77"/>
                    </a:cubicBezTo>
                    <a:cubicBezTo>
                      <a:pt x="128" y="77"/>
                      <a:pt x="128" y="77"/>
                      <a:pt x="128" y="77"/>
                    </a:cubicBezTo>
                    <a:cubicBezTo>
                      <a:pt x="128" y="77"/>
                      <a:pt x="128" y="77"/>
                      <a:pt x="128" y="77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9" y="78"/>
                      <a:pt x="129" y="78"/>
                      <a:pt x="129" y="78"/>
                    </a:cubicBezTo>
                    <a:cubicBezTo>
                      <a:pt x="129" y="78"/>
                      <a:pt x="129" y="78"/>
                      <a:pt x="129" y="78"/>
                    </a:cubicBezTo>
                    <a:cubicBezTo>
                      <a:pt x="129" y="78"/>
                      <a:pt x="129" y="78"/>
                      <a:pt x="129" y="78"/>
                    </a:cubicBezTo>
                    <a:cubicBezTo>
                      <a:pt x="129" y="78"/>
                      <a:pt x="129" y="78"/>
                      <a:pt x="129" y="78"/>
                    </a:cubicBezTo>
                    <a:cubicBezTo>
                      <a:pt x="129" y="78"/>
                      <a:pt x="129" y="78"/>
                      <a:pt x="129" y="78"/>
                    </a:cubicBezTo>
                    <a:cubicBezTo>
                      <a:pt x="130" y="78"/>
                      <a:pt x="130" y="78"/>
                      <a:pt x="130" y="78"/>
                    </a:cubicBezTo>
                    <a:cubicBezTo>
                      <a:pt x="130" y="78"/>
                      <a:pt x="130" y="78"/>
                      <a:pt x="130" y="78"/>
                    </a:cubicBezTo>
                    <a:cubicBezTo>
                      <a:pt x="130" y="78"/>
                      <a:pt x="130" y="78"/>
                      <a:pt x="130" y="78"/>
                    </a:cubicBezTo>
                    <a:cubicBezTo>
                      <a:pt x="130" y="78"/>
                      <a:pt x="130" y="78"/>
                      <a:pt x="130" y="78"/>
                    </a:cubicBezTo>
                    <a:cubicBezTo>
                      <a:pt x="130" y="78"/>
                      <a:pt x="130" y="78"/>
                      <a:pt x="130" y="78"/>
                    </a:cubicBezTo>
                    <a:cubicBezTo>
                      <a:pt x="130" y="78"/>
                      <a:pt x="130" y="78"/>
                      <a:pt x="130" y="78"/>
                    </a:cubicBezTo>
                    <a:cubicBezTo>
                      <a:pt x="130" y="78"/>
                      <a:pt x="130" y="78"/>
                      <a:pt x="130" y="78"/>
                    </a:cubicBezTo>
                    <a:cubicBezTo>
                      <a:pt x="130" y="78"/>
                      <a:pt x="130" y="78"/>
                      <a:pt x="130" y="78"/>
                    </a:cubicBezTo>
                    <a:cubicBezTo>
                      <a:pt x="130" y="78"/>
                      <a:pt x="130" y="78"/>
                      <a:pt x="130" y="78"/>
                    </a:cubicBezTo>
                    <a:cubicBezTo>
                      <a:pt x="130" y="78"/>
                      <a:pt x="130" y="78"/>
                      <a:pt x="130" y="78"/>
                    </a:cubicBezTo>
                    <a:cubicBezTo>
                      <a:pt x="130" y="78"/>
                      <a:pt x="130" y="78"/>
                      <a:pt x="130" y="78"/>
                    </a:cubicBezTo>
                    <a:cubicBezTo>
                      <a:pt x="130" y="78"/>
                      <a:pt x="130" y="78"/>
                      <a:pt x="130" y="78"/>
                    </a:cubicBezTo>
                    <a:cubicBezTo>
                      <a:pt x="130" y="78"/>
                      <a:pt x="130" y="78"/>
                      <a:pt x="130" y="78"/>
                    </a:cubicBezTo>
                    <a:cubicBezTo>
                      <a:pt x="130" y="78"/>
                      <a:pt x="130" y="78"/>
                      <a:pt x="130" y="78"/>
                    </a:cubicBezTo>
                    <a:cubicBezTo>
                      <a:pt x="130" y="78"/>
                      <a:pt x="130" y="78"/>
                      <a:pt x="130" y="78"/>
                    </a:cubicBezTo>
                    <a:cubicBezTo>
                      <a:pt x="130" y="78"/>
                      <a:pt x="130" y="78"/>
                      <a:pt x="130" y="78"/>
                    </a:cubicBezTo>
                    <a:cubicBezTo>
                      <a:pt x="130" y="78"/>
                      <a:pt x="130" y="78"/>
                      <a:pt x="130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35" y="79"/>
                      <a:pt x="138" y="80"/>
                      <a:pt x="141" y="82"/>
                    </a:cubicBezTo>
                    <a:cubicBezTo>
                      <a:pt x="142" y="82"/>
                      <a:pt x="146" y="82"/>
                      <a:pt x="145" y="82"/>
                    </a:cubicBezTo>
                    <a:cubicBezTo>
                      <a:pt x="143" y="81"/>
                      <a:pt x="140" y="80"/>
                      <a:pt x="140" y="79"/>
                    </a:cubicBezTo>
                    <a:cubicBezTo>
                      <a:pt x="140" y="79"/>
                      <a:pt x="140" y="79"/>
                      <a:pt x="140" y="79"/>
                    </a:cubicBezTo>
                    <a:cubicBezTo>
                      <a:pt x="141" y="79"/>
                      <a:pt x="141" y="79"/>
                      <a:pt x="141" y="79"/>
                    </a:cubicBezTo>
                    <a:cubicBezTo>
                      <a:pt x="141" y="79"/>
                      <a:pt x="141" y="79"/>
                      <a:pt x="141" y="79"/>
                    </a:cubicBezTo>
                    <a:cubicBezTo>
                      <a:pt x="141" y="79"/>
                      <a:pt x="141" y="79"/>
                      <a:pt x="141" y="79"/>
                    </a:cubicBezTo>
                    <a:cubicBezTo>
                      <a:pt x="141" y="79"/>
                      <a:pt x="141" y="79"/>
                      <a:pt x="141" y="79"/>
                    </a:cubicBezTo>
                    <a:cubicBezTo>
                      <a:pt x="141" y="79"/>
                      <a:pt x="141" y="79"/>
                      <a:pt x="141" y="79"/>
                    </a:cubicBezTo>
                    <a:cubicBezTo>
                      <a:pt x="141" y="79"/>
                      <a:pt x="141" y="79"/>
                      <a:pt x="141" y="79"/>
                    </a:cubicBezTo>
                    <a:cubicBezTo>
                      <a:pt x="141" y="79"/>
                      <a:pt x="141" y="79"/>
                      <a:pt x="141" y="79"/>
                    </a:cubicBezTo>
                    <a:cubicBezTo>
                      <a:pt x="141" y="79"/>
                      <a:pt x="141" y="79"/>
                      <a:pt x="141" y="79"/>
                    </a:cubicBezTo>
                    <a:cubicBezTo>
                      <a:pt x="141" y="79"/>
                      <a:pt x="141" y="79"/>
                      <a:pt x="141" y="79"/>
                    </a:cubicBezTo>
                    <a:cubicBezTo>
                      <a:pt x="141" y="79"/>
                      <a:pt x="141" y="79"/>
                      <a:pt x="141" y="79"/>
                    </a:cubicBezTo>
                    <a:cubicBezTo>
                      <a:pt x="141" y="79"/>
                      <a:pt x="141" y="79"/>
                      <a:pt x="141" y="79"/>
                    </a:cubicBezTo>
                    <a:cubicBezTo>
                      <a:pt x="141" y="79"/>
                      <a:pt x="141" y="79"/>
                      <a:pt x="141" y="79"/>
                    </a:cubicBezTo>
                    <a:cubicBezTo>
                      <a:pt x="142" y="79"/>
                      <a:pt x="142" y="79"/>
                      <a:pt x="142" y="79"/>
                    </a:cubicBezTo>
                    <a:cubicBezTo>
                      <a:pt x="142" y="79"/>
                      <a:pt x="142" y="79"/>
                      <a:pt x="142" y="79"/>
                    </a:cubicBezTo>
                    <a:cubicBezTo>
                      <a:pt x="142" y="79"/>
                      <a:pt x="142" y="79"/>
                      <a:pt x="142" y="79"/>
                    </a:cubicBezTo>
                    <a:cubicBezTo>
                      <a:pt x="142" y="79"/>
                      <a:pt x="142" y="79"/>
                      <a:pt x="142" y="79"/>
                    </a:cubicBezTo>
                    <a:cubicBezTo>
                      <a:pt x="142" y="79"/>
                      <a:pt x="142" y="79"/>
                      <a:pt x="142" y="79"/>
                    </a:cubicBezTo>
                    <a:cubicBezTo>
                      <a:pt x="142" y="79"/>
                      <a:pt x="142" y="79"/>
                      <a:pt x="142" y="79"/>
                    </a:cubicBezTo>
                    <a:cubicBezTo>
                      <a:pt x="142" y="79"/>
                      <a:pt x="142" y="79"/>
                      <a:pt x="142" y="79"/>
                    </a:cubicBezTo>
                    <a:cubicBezTo>
                      <a:pt x="142" y="79"/>
                      <a:pt x="142" y="79"/>
                      <a:pt x="142" y="79"/>
                    </a:cubicBezTo>
                    <a:cubicBezTo>
                      <a:pt x="142" y="79"/>
                      <a:pt x="142" y="79"/>
                      <a:pt x="142" y="79"/>
                    </a:cubicBezTo>
                    <a:cubicBezTo>
                      <a:pt x="142" y="79"/>
                      <a:pt x="142" y="79"/>
                      <a:pt x="142" y="79"/>
                    </a:cubicBezTo>
                    <a:cubicBezTo>
                      <a:pt x="143" y="79"/>
                      <a:pt x="143" y="79"/>
                      <a:pt x="143" y="79"/>
                    </a:cubicBezTo>
                    <a:cubicBezTo>
                      <a:pt x="143" y="79"/>
                      <a:pt x="143" y="79"/>
                      <a:pt x="143" y="79"/>
                    </a:cubicBezTo>
                    <a:cubicBezTo>
                      <a:pt x="143" y="79"/>
                      <a:pt x="143" y="79"/>
                      <a:pt x="143" y="79"/>
                    </a:cubicBezTo>
                    <a:cubicBezTo>
                      <a:pt x="143" y="79"/>
                      <a:pt x="143" y="79"/>
                      <a:pt x="143" y="79"/>
                    </a:cubicBezTo>
                    <a:cubicBezTo>
                      <a:pt x="143" y="79"/>
                      <a:pt x="143" y="79"/>
                      <a:pt x="143" y="79"/>
                    </a:cubicBezTo>
                    <a:cubicBezTo>
                      <a:pt x="143" y="79"/>
                      <a:pt x="143" y="79"/>
                      <a:pt x="143" y="79"/>
                    </a:cubicBezTo>
                    <a:cubicBezTo>
                      <a:pt x="143" y="79"/>
                      <a:pt x="143" y="79"/>
                      <a:pt x="143" y="79"/>
                    </a:cubicBezTo>
                    <a:cubicBezTo>
                      <a:pt x="143" y="79"/>
                      <a:pt x="143" y="79"/>
                      <a:pt x="143" y="79"/>
                    </a:cubicBezTo>
                    <a:cubicBezTo>
                      <a:pt x="143" y="79"/>
                      <a:pt x="143" y="79"/>
                      <a:pt x="143" y="79"/>
                    </a:cubicBezTo>
                    <a:cubicBezTo>
                      <a:pt x="143" y="79"/>
                      <a:pt x="143" y="79"/>
                      <a:pt x="143" y="79"/>
                    </a:cubicBezTo>
                    <a:cubicBezTo>
                      <a:pt x="143" y="79"/>
                      <a:pt x="143" y="79"/>
                      <a:pt x="143" y="79"/>
                    </a:cubicBezTo>
                    <a:cubicBezTo>
                      <a:pt x="143" y="79"/>
                      <a:pt x="143" y="79"/>
                      <a:pt x="143" y="79"/>
                    </a:cubicBezTo>
                    <a:cubicBezTo>
                      <a:pt x="144" y="79"/>
                      <a:pt x="144" y="79"/>
                      <a:pt x="144" y="79"/>
                    </a:cubicBezTo>
                    <a:cubicBezTo>
                      <a:pt x="144" y="79"/>
                      <a:pt x="144" y="79"/>
                      <a:pt x="144" y="79"/>
                    </a:cubicBezTo>
                    <a:cubicBezTo>
                      <a:pt x="144" y="79"/>
                      <a:pt x="144" y="79"/>
                      <a:pt x="144" y="79"/>
                    </a:cubicBezTo>
                    <a:cubicBezTo>
                      <a:pt x="144" y="79"/>
                      <a:pt x="144" y="79"/>
                      <a:pt x="144" y="79"/>
                    </a:cubicBezTo>
                    <a:cubicBezTo>
                      <a:pt x="144" y="79"/>
                      <a:pt x="144" y="79"/>
                      <a:pt x="144" y="79"/>
                    </a:cubicBezTo>
                    <a:cubicBezTo>
                      <a:pt x="144" y="79"/>
                      <a:pt x="144" y="79"/>
                      <a:pt x="144" y="79"/>
                    </a:cubicBezTo>
                    <a:cubicBezTo>
                      <a:pt x="144" y="79"/>
                      <a:pt x="144" y="79"/>
                      <a:pt x="144" y="79"/>
                    </a:cubicBezTo>
                    <a:cubicBezTo>
                      <a:pt x="144" y="79"/>
                      <a:pt x="144" y="79"/>
                      <a:pt x="144" y="79"/>
                    </a:cubicBezTo>
                    <a:cubicBezTo>
                      <a:pt x="144" y="79"/>
                      <a:pt x="144" y="79"/>
                      <a:pt x="144" y="79"/>
                    </a:cubicBezTo>
                    <a:cubicBezTo>
                      <a:pt x="144" y="79"/>
                      <a:pt x="144" y="79"/>
                      <a:pt x="144" y="79"/>
                    </a:cubicBezTo>
                    <a:cubicBezTo>
                      <a:pt x="144" y="79"/>
                      <a:pt x="144" y="79"/>
                      <a:pt x="144" y="79"/>
                    </a:cubicBezTo>
                    <a:cubicBezTo>
                      <a:pt x="144" y="79"/>
                      <a:pt x="144" y="79"/>
                      <a:pt x="144" y="79"/>
                    </a:cubicBezTo>
                    <a:cubicBezTo>
                      <a:pt x="145" y="79"/>
                      <a:pt x="145" y="79"/>
                      <a:pt x="145" y="79"/>
                    </a:cubicBezTo>
                    <a:cubicBezTo>
                      <a:pt x="145" y="79"/>
                      <a:pt x="145" y="79"/>
                      <a:pt x="145" y="79"/>
                    </a:cubicBezTo>
                    <a:cubicBezTo>
                      <a:pt x="145" y="79"/>
                      <a:pt x="145" y="79"/>
                      <a:pt x="145" y="79"/>
                    </a:cubicBezTo>
                    <a:cubicBezTo>
                      <a:pt x="145" y="79"/>
                      <a:pt x="145" y="79"/>
                      <a:pt x="145" y="79"/>
                    </a:cubicBezTo>
                    <a:cubicBezTo>
                      <a:pt x="145" y="79"/>
                      <a:pt x="145" y="79"/>
                      <a:pt x="145" y="79"/>
                    </a:cubicBezTo>
                    <a:cubicBezTo>
                      <a:pt x="145" y="79"/>
                      <a:pt x="145" y="79"/>
                      <a:pt x="145" y="79"/>
                    </a:cubicBezTo>
                    <a:cubicBezTo>
                      <a:pt x="145" y="79"/>
                      <a:pt x="145" y="79"/>
                      <a:pt x="145" y="79"/>
                    </a:cubicBezTo>
                    <a:cubicBezTo>
                      <a:pt x="145" y="79"/>
                      <a:pt x="145" y="79"/>
                      <a:pt x="145" y="79"/>
                    </a:cubicBezTo>
                    <a:cubicBezTo>
                      <a:pt x="145" y="79"/>
                      <a:pt x="145" y="79"/>
                      <a:pt x="145" y="79"/>
                    </a:cubicBezTo>
                    <a:cubicBezTo>
                      <a:pt x="145" y="79"/>
                      <a:pt x="145" y="79"/>
                      <a:pt x="145" y="79"/>
                    </a:cubicBezTo>
                    <a:cubicBezTo>
                      <a:pt x="146" y="79"/>
                      <a:pt x="146" y="79"/>
                      <a:pt x="146" y="79"/>
                    </a:cubicBezTo>
                    <a:cubicBezTo>
                      <a:pt x="146" y="79"/>
                      <a:pt x="146" y="79"/>
                      <a:pt x="146" y="79"/>
                    </a:cubicBezTo>
                    <a:cubicBezTo>
                      <a:pt x="146" y="79"/>
                      <a:pt x="146" y="79"/>
                      <a:pt x="146" y="79"/>
                    </a:cubicBezTo>
                    <a:cubicBezTo>
                      <a:pt x="146" y="79"/>
                      <a:pt x="146" y="79"/>
                      <a:pt x="146" y="79"/>
                    </a:cubicBezTo>
                    <a:cubicBezTo>
                      <a:pt x="146" y="79"/>
                      <a:pt x="146" y="79"/>
                      <a:pt x="146" y="79"/>
                    </a:cubicBezTo>
                    <a:cubicBezTo>
                      <a:pt x="146" y="79"/>
                      <a:pt x="146" y="79"/>
                      <a:pt x="146" y="79"/>
                    </a:cubicBezTo>
                    <a:cubicBezTo>
                      <a:pt x="146" y="79"/>
                      <a:pt x="146" y="79"/>
                      <a:pt x="146" y="79"/>
                    </a:cubicBezTo>
                    <a:cubicBezTo>
                      <a:pt x="146" y="80"/>
                      <a:pt x="146" y="80"/>
                      <a:pt x="146" y="80"/>
                    </a:cubicBezTo>
                    <a:cubicBezTo>
                      <a:pt x="146" y="80"/>
                      <a:pt x="146" y="80"/>
                      <a:pt x="146" y="80"/>
                    </a:cubicBezTo>
                    <a:cubicBezTo>
                      <a:pt x="146" y="80"/>
                      <a:pt x="146" y="80"/>
                      <a:pt x="146" y="80"/>
                    </a:cubicBezTo>
                    <a:cubicBezTo>
                      <a:pt x="146" y="80"/>
                      <a:pt x="146" y="80"/>
                      <a:pt x="146" y="80"/>
                    </a:cubicBezTo>
                    <a:cubicBezTo>
                      <a:pt x="146" y="80"/>
                      <a:pt x="146" y="80"/>
                      <a:pt x="146" y="80"/>
                    </a:cubicBezTo>
                    <a:cubicBezTo>
                      <a:pt x="147" y="80"/>
                      <a:pt x="147" y="80"/>
                      <a:pt x="147" y="80"/>
                    </a:cubicBezTo>
                    <a:cubicBezTo>
                      <a:pt x="147" y="80"/>
                      <a:pt x="147" y="80"/>
                      <a:pt x="147" y="80"/>
                    </a:cubicBezTo>
                    <a:cubicBezTo>
                      <a:pt x="147" y="80"/>
                      <a:pt x="147" y="80"/>
                      <a:pt x="147" y="80"/>
                    </a:cubicBezTo>
                    <a:cubicBezTo>
                      <a:pt x="147" y="80"/>
                      <a:pt x="147" y="80"/>
                      <a:pt x="147" y="80"/>
                    </a:cubicBezTo>
                    <a:cubicBezTo>
                      <a:pt x="147" y="80"/>
                      <a:pt x="147" y="80"/>
                      <a:pt x="147" y="80"/>
                    </a:cubicBezTo>
                    <a:cubicBezTo>
                      <a:pt x="147" y="80"/>
                      <a:pt x="147" y="80"/>
                      <a:pt x="147" y="80"/>
                    </a:cubicBezTo>
                    <a:cubicBezTo>
                      <a:pt x="147" y="80"/>
                      <a:pt x="147" y="80"/>
                      <a:pt x="147" y="80"/>
                    </a:cubicBezTo>
                    <a:cubicBezTo>
                      <a:pt x="147" y="80"/>
                      <a:pt x="147" y="80"/>
                      <a:pt x="147" y="80"/>
                    </a:cubicBezTo>
                    <a:cubicBezTo>
                      <a:pt x="147" y="80"/>
                      <a:pt x="147" y="80"/>
                      <a:pt x="147" y="80"/>
                    </a:cubicBezTo>
                    <a:cubicBezTo>
                      <a:pt x="154" y="81"/>
                      <a:pt x="155" y="88"/>
                      <a:pt x="163" y="88"/>
                    </a:cubicBezTo>
                    <a:cubicBezTo>
                      <a:pt x="163" y="88"/>
                      <a:pt x="163" y="88"/>
                      <a:pt x="163" y="88"/>
                    </a:cubicBezTo>
                    <a:cubicBezTo>
                      <a:pt x="163" y="88"/>
                      <a:pt x="163" y="88"/>
                      <a:pt x="163" y="88"/>
                    </a:cubicBezTo>
                    <a:cubicBezTo>
                      <a:pt x="163" y="88"/>
                      <a:pt x="163" y="88"/>
                      <a:pt x="163" y="88"/>
                    </a:cubicBezTo>
                    <a:cubicBezTo>
                      <a:pt x="163" y="88"/>
                      <a:pt x="163" y="88"/>
                      <a:pt x="163" y="88"/>
                    </a:cubicBezTo>
                    <a:cubicBezTo>
                      <a:pt x="163" y="88"/>
                      <a:pt x="163" y="88"/>
                      <a:pt x="163" y="88"/>
                    </a:cubicBezTo>
                    <a:cubicBezTo>
                      <a:pt x="163" y="88"/>
                      <a:pt x="163" y="88"/>
                      <a:pt x="163" y="88"/>
                    </a:cubicBezTo>
                    <a:cubicBezTo>
                      <a:pt x="163" y="88"/>
                      <a:pt x="163" y="88"/>
                      <a:pt x="163" y="88"/>
                    </a:cubicBezTo>
                    <a:cubicBezTo>
                      <a:pt x="163" y="88"/>
                      <a:pt x="163" y="88"/>
                      <a:pt x="163" y="88"/>
                    </a:cubicBezTo>
                    <a:cubicBezTo>
                      <a:pt x="163" y="88"/>
                      <a:pt x="163" y="88"/>
                      <a:pt x="163" y="88"/>
                    </a:cubicBezTo>
                    <a:cubicBezTo>
                      <a:pt x="164" y="88"/>
                      <a:pt x="164" y="88"/>
                      <a:pt x="164" y="88"/>
                    </a:cubicBezTo>
                    <a:cubicBezTo>
                      <a:pt x="164" y="88"/>
                      <a:pt x="164" y="88"/>
                      <a:pt x="164" y="88"/>
                    </a:cubicBezTo>
                    <a:cubicBezTo>
                      <a:pt x="164" y="88"/>
                      <a:pt x="164" y="88"/>
                      <a:pt x="164" y="88"/>
                    </a:cubicBezTo>
                    <a:cubicBezTo>
                      <a:pt x="164" y="88"/>
                      <a:pt x="164" y="88"/>
                      <a:pt x="164" y="88"/>
                    </a:cubicBezTo>
                    <a:cubicBezTo>
                      <a:pt x="164" y="88"/>
                      <a:pt x="164" y="88"/>
                      <a:pt x="164" y="88"/>
                    </a:cubicBezTo>
                    <a:cubicBezTo>
                      <a:pt x="164" y="88"/>
                      <a:pt x="164" y="88"/>
                      <a:pt x="164" y="88"/>
                    </a:cubicBezTo>
                    <a:cubicBezTo>
                      <a:pt x="164" y="89"/>
                      <a:pt x="164" y="89"/>
                      <a:pt x="164" y="89"/>
                    </a:cubicBezTo>
                    <a:cubicBezTo>
                      <a:pt x="164" y="89"/>
                      <a:pt x="164" y="89"/>
                      <a:pt x="164" y="89"/>
                    </a:cubicBezTo>
                    <a:cubicBezTo>
                      <a:pt x="164" y="89"/>
                      <a:pt x="164" y="89"/>
                      <a:pt x="164" y="89"/>
                    </a:cubicBezTo>
                    <a:cubicBezTo>
                      <a:pt x="164" y="89"/>
                      <a:pt x="164" y="89"/>
                      <a:pt x="164" y="89"/>
                    </a:cubicBezTo>
                    <a:cubicBezTo>
                      <a:pt x="164" y="89"/>
                      <a:pt x="164" y="89"/>
                      <a:pt x="164" y="89"/>
                    </a:cubicBezTo>
                    <a:cubicBezTo>
                      <a:pt x="164" y="89"/>
                      <a:pt x="164" y="89"/>
                      <a:pt x="164" y="89"/>
                    </a:cubicBezTo>
                    <a:cubicBezTo>
                      <a:pt x="164" y="89"/>
                      <a:pt x="164" y="89"/>
                      <a:pt x="164" y="89"/>
                    </a:cubicBezTo>
                    <a:cubicBezTo>
                      <a:pt x="164" y="89"/>
                      <a:pt x="164" y="89"/>
                      <a:pt x="164" y="89"/>
                    </a:cubicBezTo>
                    <a:cubicBezTo>
                      <a:pt x="164" y="89"/>
                      <a:pt x="164" y="89"/>
                      <a:pt x="164" y="89"/>
                    </a:cubicBezTo>
                    <a:cubicBezTo>
                      <a:pt x="164" y="89"/>
                      <a:pt x="164" y="89"/>
                      <a:pt x="164" y="89"/>
                    </a:cubicBezTo>
                    <a:cubicBezTo>
                      <a:pt x="165" y="89"/>
                      <a:pt x="165" y="89"/>
                      <a:pt x="165" y="89"/>
                    </a:cubicBezTo>
                    <a:cubicBezTo>
                      <a:pt x="165" y="89"/>
                      <a:pt x="165" y="89"/>
                      <a:pt x="165" y="89"/>
                    </a:cubicBezTo>
                    <a:cubicBezTo>
                      <a:pt x="165" y="89"/>
                      <a:pt x="165" y="89"/>
                      <a:pt x="165" y="89"/>
                    </a:cubicBezTo>
                    <a:cubicBezTo>
                      <a:pt x="165" y="89"/>
                      <a:pt x="165" y="89"/>
                      <a:pt x="165" y="89"/>
                    </a:cubicBezTo>
                    <a:cubicBezTo>
                      <a:pt x="165" y="89"/>
                      <a:pt x="165" y="89"/>
                      <a:pt x="165" y="89"/>
                    </a:cubicBezTo>
                    <a:cubicBezTo>
                      <a:pt x="165" y="89"/>
                      <a:pt x="165" y="89"/>
                      <a:pt x="165" y="89"/>
                    </a:cubicBezTo>
                    <a:cubicBezTo>
                      <a:pt x="165" y="89"/>
                      <a:pt x="165" y="89"/>
                      <a:pt x="165" y="89"/>
                    </a:cubicBezTo>
                    <a:cubicBezTo>
                      <a:pt x="165" y="89"/>
                      <a:pt x="165" y="89"/>
                      <a:pt x="165" y="89"/>
                    </a:cubicBezTo>
                    <a:cubicBezTo>
                      <a:pt x="165" y="89"/>
                      <a:pt x="165" y="89"/>
                      <a:pt x="165" y="89"/>
                    </a:cubicBezTo>
                    <a:cubicBezTo>
                      <a:pt x="165" y="89"/>
                      <a:pt x="165" y="89"/>
                      <a:pt x="165" y="89"/>
                    </a:cubicBezTo>
                    <a:cubicBezTo>
                      <a:pt x="165" y="89"/>
                      <a:pt x="165" y="89"/>
                      <a:pt x="165" y="89"/>
                    </a:cubicBezTo>
                    <a:cubicBezTo>
                      <a:pt x="165" y="89"/>
                      <a:pt x="165" y="89"/>
                      <a:pt x="165" y="89"/>
                    </a:cubicBezTo>
                    <a:cubicBezTo>
                      <a:pt x="165" y="89"/>
                      <a:pt x="165" y="89"/>
                      <a:pt x="165" y="89"/>
                    </a:cubicBezTo>
                    <a:cubicBezTo>
                      <a:pt x="165" y="89"/>
                      <a:pt x="165" y="89"/>
                      <a:pt x="165" y="89"/>
                    </a:cubicBezTo>
                    <a:cubicBezTo>
                      <a:pt x="166" y="89"/>
                      <a:pt x="166" y="89"/>
                      <a:pt x="166" y="89"/>
                    </a:cubicBezTo>
                    <a:cubicBezTo>
                      <a:pt x="166" y="89"/>
                      <a:pt x="166" y="89"/>
                      <a:pt x="166" y="89"/>
                    </a:cubicBezTo>
                    <a:cubicBezTo>
                      <a:pt x="166" y="89"/>
                      <a:pt x="166" y="89"/>
                      <a:pt x="166" y="89"/>
                    </a:cubicBezTo>
                    <a:cubicBezTo>
                      <a:pt x="166" y="89"/>
                      <a:pt x="166" y="89"/>
                      <a:pt x="166" y="89"/>
                    </a:cubicBezTo>
                    <a:cubicBezTo>
                      <a:pt x="166" y="89"/>
                      <a:pt x="166" y="89"/>
                      <a:pt x="166" y="89"/>
                    </a:cubicBezTo>
                    <a:cubicBezTo>
                      <a:pt x="166" y="89"/>
                      <a:pt x="166" y="89"/>
                      <a:pt x="166" y="89"/>
                    </a:cubicBezTo>
                    <a:cubicBezTo>
                      <a:pt x="166" y="89"/>
                      <a:pt x="166" y="89"/>
                      <a:pt x="166" y="89"/>
                    </a:cubicBezTo>
                    <a:cubicBezTo>
                      <a:pt x="166" y="89"/>
                      <a:pt x="166" y="89"/>
                      <a:pt x="166" y="89"/>
                    </a:cubicBezTo>
                    <a:cubicBezTo>
                      <a:pt x="166" y="89"/>
                      <a:pt x="166" y="89"/>
                      <a:pt x="166" y="89"/>
                    </a:cubicBezTo>
                    <a:cubicBezTo>
                      <a:pt x="166" y="89"/>
                      <a:pt x="166" y="89"/>
                      <a:pt x="166" y="89"/>
                    </a:cubicBezTo>
                    <a:cubicBezTo>
                      <a:pt x="166" y="89"/>
                      <a:pt x="166" y="89"/>
                      <a:pt x="166" y="89"/>
                    </a:cubicBezTo>
                    <a:cubicBezTo>
                      <a:pt x="166" y="89"/>
                      <a:pt x="166" y="89"/>
                      <a:pt x="166" y="89"/>
                    </a:cubicBezTo>
                    <a:cubicBezTo>
                      <a:pt x="166" y="89"/>
                      <a:pt x="166" y="89"/>
                      <a:pt x="166" y="89"/>
                    </a:cubicBezTo>
                    <a:cubicBezTo>
                      <a:pt x="166" y="89"/>
                      <a:pt x="166" y="89"/>
                      <a:pt x="166" y="89"/>
                    </a:cubicBezTo>
                    <a:cubicBezTo>
                      <a:pt x="166" y="89"/>
                      <a:pt x="166" y="89"/>
                      <a:pt x="166" y="89"/>
                    </a:cubicBezTo>
                    <a:cubicBezTo>
                      <a:pt x="166" y="89"/>
                      <a:pt x="166" y="89"/>
                      <a:pt x="166" y="89"/>
                    </a:cubicBezTo>
                    <a:cubicBezTo>
                      <a:pt x="167" y="89"/>
                      <a:pt x="167" y="89"/>
                      <a:pt x="167" y="89"/>
                    </a:cubicBezTo>
                    <a:cubicBezTo>
                      <a:pt x="167" y="89"/>
                      <a:pt x="167" y="89"/>
                      <a:pt x="167" y="89"/>
                    </a:cubicBezTo>
                    <a:cubicBezTo>
                      <a:pt x="167" y="89"/>
                      <a:pt x="167" y="89"/>
                      <a:pt x="167" y="89"/>
                    </a:cubicBezTo>
                    <a:cubicBezTo>
                      <a:pt x="167" y="89"/>
                      <a:pt x="167" y="89"/>
                      <a:pt x="167" y="89"/>
                    </a:cubicBezTo>
                    <a:cubicBezTo>
                      <a:pt x="167" y="89"/>
                      <a:pt x="167" y="89"/>
                      <a:pt x="167" y="89"/>
                    </a:cubicBezTo>
                    <a:cubicBezTo>
                      <a:pt x="167" y="89"/>
                      <a:pt x="167" y="89"/>
                      <a:pt x="167" y="89"/>
                    </a:cubicBezTo>
                    <a:cubicBezTo>
                      <a:pt x="167" y="89"/>
                      <a:pt x="167" y="89"/>
                      <a:pt x="167" y="89"/>
                    </a:cubicBezTo>
                    <a:cubicBezTo>
                      <a:pt x="167" y="89"/>
                      <a:pt x="167" y="89"/>
                      <a:pt x="167" y="89"/>
                    </a:cubicBezTo>
                    <a:cubicBezTo>
                      <a:pt x="169" y="90"/>
                      <a:pt x="171" y="91"/>
                      <a:pt x="173" y="92"/>
                    </a:cubicBezTo>
                    <a:cubicBezTo>
                      <a:pt x="174" y="92"/>
                      <a:pt x="179" y="92"/>
                      <a:pt x="178" y="92"/>
                    </a:cubicBezTo>
                    <a:cubicBezTo>
                      <a:pt x="176" y="91"/>
                      <a:pt x="174" y="90"/>
                      <a:pt x="173" y="89"/>
                    </a:cubicBezTo>
                    <a:cubicBezTo>
                      <a:pt x="173" y="89"/>
                      <a:pt x="173" y="89"/>
                      <a:pt x="173" y="89"/>
                    </a:cubicBezTo>
                    <a:cubicBezTo>
                      <a:pt x="173" y="89"/>
                      <a:pt x="173" y="89"/>
                      <a:pt x="173" y="89"/>
                    </a:cubicBezTo>
                    <a:cubicBezTo>
                      <a:pt x="173" y="89"/>
                      <a:pt x="173" y="89"/>
                      <a:pt x="173" y="89"/>
                    </a:cubicBezTo>
                    <a:cubicBezTo>
                      <a:pt x="174" y="89"/>
                      <a:pt x="174" y="89"/>
                      <a:pt x="174" y="89"/>
                    </a:cubicBezTo>
                    <a:cubicBezTo>
                      <a:pt x="174" y="89"/>
                      <a:pt x="174" y="89"/>
                      <a:pt x="174" y="89"/>
                    </a:cubicBezTo>
                    <a:cubicBezTo>
                      <a:pt x="174" y="89"/>
                      <a:pt x="174" y="89"/>
                      <a:pt x="174" y="89"/>
                    </a:cubicBezTo>
                    <a:cubicBezTo>
                      <a:pt x="174" y="90"/>
                      <a:pt x="174" y="90"/>
                      <a:pt x="174" y="90"/>
                    </a:cubicBezTo>
                    <a:cubicBezTo>
                      <a:pt x="174" y="90"/>
                      <a:pt x="174" y="90"/>
                      <a:pt x="174" y="90"/>
                    </a:cubicBezTo>
                    <a:cubicBezTo>
                      <a:pt x="174" y="90"/>
                      <a:pt x="174" y="90"/>
                      <a:pt x="174" y="90"/>
                    </a:cubicBezTo>
                    <a:cubicBezTo>
                      <a:pt x="174" y="90"/>
                      <a:pt x="174" y="90"/>
                      <a:pt x="174" y="90"/>
                    </a:cubicBezTo>
                    <a:cubicBezTo>
                      <a:pt x="174" y="90"/>
                      <a:pt x="174" y="90"/>
                      <a:pt x="174" y="90"/>
                    </a:cubicBezTo>
                    <a:cubicBezTo>
                      <a:pt x="174" y="90"/>
                      <a:pt x="174" y="90"/>
                      <a:pt x="174" y="90"/>
                    </a:cubicBezTo>
                    <a:cubicBezTo>
                      <a:pt x="174" y="90"/>
                      <a:pt x="174" y="90"/>
                      <a:pt x="174" y="90"/>
                    </a:cubicBezTo>
                    <a:cubicBezTo>
                      <a:pt x="174" y="90"/>
                      <a:pt x="174" y="90"/>
                      <a:pt x="174" y="90"/>
                    </a:cubicBezTo>
                    <a:cubicBezTo>
                      <a:pt x="174" y="90"/>
                      <a:pt x="174" y="90"/>
                      <a:pt x="174" y="90"/>
                    </a:cubicBezTo>
                    <a:cubicBezTo>
                      <a:pt x="175" y="90"/>
                      <a:pt x="175" y="90"/>
                      <a:pt x="175" y="90"/>
                    </a:cubicBezTo>
                    <a:cubicBezTo>
                      <a:pt x="175" y="90"/>
                      <a:pt x="175" y="90"/>
                      <a:pt x="175" y="90"/>
                    </a:cubicBezTo>
                    <a:cubicBezTo>
                      <a:pt x="175" y="90"/>
                      <a:pt x="175" y="90"/>
                      <a:pt x="175" y="90"/>
                    </a:cubicBezTo>
                    <a:cubicBezTo>
                      <a:pt x="175" y="90"/>
                      <a:pt x="175" y="90"/>
                      <a:pt x="175" y="90"/>
                    </a:cubicBezTo>
                    <a:cubicBezTo>
                      <a:pt x="175" y="90"/>
                      <a:pt x="175" y="90"/>
                      <a:pt x="175" y="90"/>
                    </a:cubicBezTo>
                    <a:cubicBezTo>
                      <a:pt x="175" y="90"/>
                      <a:pt x="175" y="90"/>
                      <a:pt x="175" y="90"/>
                    </a:cubicBezTo>
                    <a:cubicBezTo>
                      <a:pt x="175" y="90"/>
                      <a:pt x="175" y="90"/>
                      <a:pt x="175" y="90"/>
                    </a:cubicBezTo>
                    <a:cubicBezTo>
                      <a:pt x="175" y="90"/>
                      <a:pt x="175" y="90"/>
                      <a:pt x="175" y="90"/>
                    </a:cubicBezTo>
                    <a:cubicBezTo>
                      <a:pt x="175" y="90"/>
                      <a:pt x="175" y="90"/>
                      <a:pt x="175" y="90"/>
                    </a:cubicBezTo>
                    <a:cubicBezTo>
                      <a:pt x="175" y="90"/>
                      <a:pt x="175" y="90"/>
                      <a:pt x="175" y="90"/>
                    </a:cubicBezTo>
                    <a:cubicBezTo>
                      <a:pt x="175" y="90"/>
                      <a:pt x="175" y="90"/>
                      <a:pt x="175" y="90"/>
                    </a:cubicBezTo>
                    <a:cubicBezTo>
                      <a:pt x="175" y="90"/>
                      <a:pt x="175" y="90"/>
                      <a:pt x="175" y="90"/>
                    </a:cubicBezTo>
                    <a:cubicBezTo>
                      <a:pt x="175" y="90"/>
                      <a:pt x="175" y="90"/>
                      <a:pt x="175" y="90"/>
                    </a:cubicBezTo>
                    <a:cubicBezTo>
                      <a:pt x="176" y="90"/>
                      <a:pt x="176" y="90"/>
                      <a:pt x="176" y="90"/>
                    </a:cubicBezTo>
                    <a:cubicBezTo>
                      <a:pt x="176" y="90"/>
                      <a:pt x="176" y="90"/>
                      <a:pt x="176" y="90"/>
                    </a:cubicBezTo>
                    <a:cubicBezTo>
                      <a:pt x="176" y="90"/>
                      <a:pt x="176" y="90"/>
                      <a:pt x="176" y="90"/>
                    </a:cubicBezTo>
                    <a:cubicBezTo>
                      <a:pt x="176" y="90"/>
                      <a:pt x="176" y="90"/>
                      <a:pt x="176" y="90"/>
                    </a:cubicBezTo>
                    <a:cubicBezTo>
                      <a:pt x="176" y="90"/>
                      <a:pt x="176" y="90"/>
                      <a:pt x="176" y="90"/>
                    </a:cubicBezTo>
                    <a:cubicBezTo>
                      <a:pt x="177" y="90"/>
                      <a:pt x="177" y="90"/>
                      <a:pt x="177" y="90"/>
                    </a:cubicBezTo>
                    <a:cubicBezTo>
                      <a:pt x="177" y="90"/>
                      <a:pt x="177" y="90"/>
                      <a:pt x="177" y="90"/>
                    </a:cubicBezTo>
                    <a:cubicBezTo>
                      <a:pt x="177" y="90"/>
                      <a:pt x="177" y="90"/>
                      <a:pt x="177" y="90"/>
                    </a:cubicBezTo>
                    <a:cubicBezTo>
                      <a:pt x="177" y="90"/>
                      <a:pt x="177" y="90"/>
                      <a:pt x="177" y="90"/>
                    </a:cubicBezTo>
                    <a:cubicBezTo>
                      <a:pt x="177" y="90"/>
                      <a:pt x="177" y="90"/>
                      <a:pt x="177" y="90"/>
                    </a:cubicBezTo>
                    <a:cubicBezTo>
                      <a:pt x="177" y="90"/>
                      <a:pt x="177" y="90"/>
                      <a:pt x="177" y="90"/>
                    </a:cubicBezTo>
                    <a:cubicBezTo>
                      <a:pt x="177" y="90"/>
                      <a:pt x="177" y="90"/>
                      <a:pt x="177" y="90"/>
                    </a:cubicBezTo>
                    <a:cubicBezTo>
                      <a:pt x="177" y="90"/>
                      <a:pt x="177" y="90"/>
                      <a:pt x="177" y="90"/>
                    </a:cubicBezTo>
                    <a:cubicBezTo>
                      <a:pt x="177" y="90"/>
                      <a:pt x="177" y="90"/>
                      <a:pt x="177" y="90"/>
                    </a:cubicBezTo>
                    <a:cubicBezTo>
                      <a:pt x="177" y="90"/>
                      <a:pt x="177" y="90"/>
                      <a:pt x="177" y="90"/>
                    </a:cubicBezTo>
                    <a:cubicBezTo>
                      <a:pt x="177" y="90"/>
                      <a:pt x="177" y="90"/>
                      <a:pt x="177" y="90"/>
                    </a:cubicBezTo>
                    <a:cubicBezTo>
                      <a:pt x="178" y="90"/>
                      <a:pt x="178" y="90"/>
                      <a:pt x="178" y="90"/>
                    </a:cubicBezTo>
                    <a:cubicBezTo>
                      <a:pt x="178" y="90"/>
                      <a:pt x="178" y="90"/>
                      <a:pt x="178" y="90"/>
                    </a:cubicBezTo>
                    <a:cubicBezTo>
                      <a:pt x="178" y="90"/>
                      <a:pt x="178" y="90"/>
                      <a:pt x="178" y="90"/>
                    </a:cubicBezTo>
                    <a:cubicBezTo>
                      <a:pt x="178" y="90"/>
                      <a:pt x="178" y="90"/>
                      <a:pt x="178" y="90"/>
                    </a:cubicBezTo>
                    <a:cubicBezTo>
                      <a:pt x="178" y="90"/>
                      <a:pt x="178" y="90"/>
                      <a:pt x="178" y="90"/>
                    </a:cubicBezTo>
                    <a:cubicBezTo>
                      <a:pt x="179" y="90"/>
                      <a:pt x="179" y="90"/>
                      <a:pt x="179" y="90"/>
                    </a:cubicBezTo>
                    <a:cubicBezTo>
                      <a:pt x="179" y="90"/>
                      <a:pt x="179" y="90"/>
                      <a:pt x="179" y="90"/>
                    </a:cubicBezTo>
                    <a:cubicBezTo>
                      <a:pt x="179" y="90"/>
                      <a:pt x="179" y="90"/>
                      <a:pt x="179" y="90"/>
                    </a:cubicBezTo>
                    <a:cubicBezTo>
                      <a:pt x="179" y="90"/>
                      <a:pt x="179" y="90"/>
                      <a:pt x="179" y="90"/>
                    </a:cubicBezTo>
                    <a:cubicBezTo>
                      <a:pt x="179" y="90"/>
                      <a:pt x="179" y="90"/>
                      <a:pt x="179" y="90"/>
                    </a:cubicBezTo>
                    <a:cubicBezTo>
                      <a:pt x="179" y="90"/>
                      <a:pt x="179" y="90"/>
                      <a:pt x="179" y="90"/>
                    </a:cubicBezTo>
                    <a:cubicBezTo>
                      <a:pt x="179" y="90"/>
                      <a:pt x="179" y="90"/>
                      <a:pt x="179" y="90"/>
                    </a:cubicBezTo>
                    <a:cubicBezTo>
                      <a:pt x="179" y="90"/>
                      <a:pt x="179" y="90"/>
                      <a:pt x="179" y="90"/>
                    </a:cubicBezTo>
                    <a:cubicBezTo>
                      <a:pt x="179" y="90"/>
                      <a:pt x="179" y="90"/>
                      <a:pt x="179" y="90"/>
                    </a:cubicBezTo>
                    <a:cubicBezTo>
                      <a:pt x="179" y="90"/>
                      <a:pt x="179" y="90"/>
                      <a:pt x="179" y="90"/>
                    </a:cubicBezTo>
                    <a:cubicBezTo>
                      <a:pt x="179" y="90"/>
                      <a:pt x="179" y="90"/>
                      <a:pt x="179" y="90"/>
                    </a:cubicBezTo>
                    <a:cubicBezTo>
                      <a:pt x="179" y="90"/>
                      <a:pt x="179" y="90"/>
                      <a:pt x="179" y="90"/>
                    </a:cubicBezTo>
                    <a:cubicBezTo>
                      <a:pt x="180" y="90"/>
                      <a:pt x="180" y="90"/>
                      <a:pt x="180" y="90"/>
                    </a:cubicBezTo>
                    <a:cubicBezTo>
                      <a:pt x="180" y="90"/>
                      <a:pt x="180" y="90"/>
                      <a:pt x="180" y="90"/>
                    </a:cubicBezTo>
                    <a:cubicBezTo>
                      <a:pt x="180" y="90"/>
                      <a:pt x="180" y="90"/>
                      <a:pt x="180" y="90"/>
                    </a:cubicBezTo>
                    <a:cubicBezTo>
                      <a:pt x="180" y="90"/>
                      <a:pt x="180" y="90"/>
                      <a:pt x="180" y="90"/>
                    </a:cubicBezTo>
                    <a:cubicBezTo>
                      <a:pt x="180" y="90"/>
                      <a:pt x="180" y="90"/>
                      <a:pt x="180" y="90"/>
                    </a:cubicBezTo>
                    <a:cubicBezTo>
                      <a:pt x="180" y="90"/>
                      <a:pt x="180" y="90"/>
                      <a:pt x="180" y="90"/>
                    </a:cubicBezTo>
                    <a:cubicBezTo>
                      <a:pt x="180" y="90"/>
                      <a:pt x="180" y="90"/>
                      <a:pt x="180" y="90"/>
                    </a:cubicBezTo>
                    <a:cubicBezTo>
                      <a:pt x="180" y="90"/>
                      <a:pt x="180" y="90"/>
                      <a:pt x="180" y="90"/>
                    </a:cubicBezTo>
                    <a:cubicBezTo>
                      <a:pt x="180" y="90"/>
                      <a:pt x="180" y="90"/>
                      <a:pt x="180" y="90"/>
                    </a:cubicBezTo>
                    <a:cubicBezTo>
                      <a:pt x="188" y="92"/>
                      <a:pt x="192" y="92"/>
                      <a:pt x="201" y="91"/>
                    </a:cubicBezTo>
                    <a:cubicBezTo>
                      <a:pt x="201" y="91"/>
                      <a:pt x="201" y="91"/>
                      <a:pt x="201" y="91"/>
                    </a:cubicBezTo>
                    <a:cubicBezTo>
                      <a:pt x="202" y="91"/>
                      <a:pt x="202" y="91"/>
                      <a:pt x="202" y="91"/>
                    </a:cubicBezTo>
                    <a:cubicBezTo>
                      <a:pt x="202" y="91"/>
                      <a:pt x="202" y="91"/>
                      <a:pt x="202" y="91"/>
                    </a:cubicBezTo>
                    <a:cubicBezTo>
                      <a:pt x="205" y="91"/>
                      <a:pt x="206" y="90"/>
                      <a:pt x="205" y="90"/>
                    </a:cubicBezTo>
                    <a:cubicBezTo>
                      <a:pt x="205" y="89"/>
                      <a:pt x="204" y="89"/>
                      <a:pt x="201" y="89"/>
                    </a:cubicBezTo>
                    <a:cubicBezTo>
                      <a:pt x="199" y="88"/>
                      <a:pt x="197" y="88"/>
                      <a:pt x="193" y="88"/>
                    </a:cubicBezTo>
                    <a:cubicBezTo>
                      <a:pt x="191" y="87"/>
                      <a:pt x="191" y="80"/>
                      <a:pt x="186" y="79"/>
                    </a:cubicBezTo>
                    <a:cubicBezTo>
                      <a:pt x="172" y="76"/>
                      <a:pt x="159" y="67"/>
                      <a:pt x="151" y="63"/>
                    </a:cubicBezTo>
                    <a:cubicBezTo>
                      <a:pt x="146" y="60"/>
                      <a:pt x="137" y="54"/>
                      <a:pt x="130" y="50"/>
                    </a:cubicBezTo>
                    <a:cubicBezTo>
                      <a:pt x="126" y="48"/>
                      <a:pt x="126" y="48"/>
                      <a:pt x="126" y="48"/>
                    </a:cubicBezTo>
                    <a:cubicBezTo>
                      <a:pt x="127" y="48"/>
                      <a:pt x="127" y="48"/>
                      <a:pt x="127" y="48"/>
                    </a:cubicBezTo>
                    <a:cubicBezTo>
                      <a:pt x="122" y="43"/>
                      <a:pt x="98" y="30"/>
                      <a:pt x="81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94" y="26"/>
                      <a:pt x="107" y="29"/>
                      <a:pt x="112" y="30"/>
                    </a:cubicBezTo>
                    <a:cubicBezTo>
                      <a:pt x="113" y="30"/>
                      <a:pt x="113" y="30"/>
                      <a:pt x="114" y="31"/>
                    </a:cubicBezTo>
                    <a:cubicBezTo>
                      <a:pt x="118" y="32"/>
                      <a:pt x="120" y="32"/>
                      <a:pt x="124" y="33"/>
                    </a:cubicBezTo>
                    <a:cubicBezTo>
                      <a:pt x="126" y="33"/>
                      <a:pt x="128" y="33"/>
                      <a:pt x="128" y="33"/>
                    </a:cubicBezTo>
                    <a:cubicBezTo>
                      <a:pt x="128" y="33"/>
                      <a:pt x="129" y="33"/>
                      <a:pt x="130" y="33"/>
                    </a:cubicBezTo>
                    <a:cubicBezTo>
                      <a:pt x="132" y="34"/>
                      <a:pt x="135" y="34"/>
                      <a:pt x="135" y="34"/>
                    </a:cubicBezTo>
                    <a:cubicBezTo>
                      <a:pt x="135" y="33"/>
                      <a:pt x="133" y="33"/>
                      <a:pt x="130" y="32"/>
                    </a:cubicBezTo>
                    <a:cubicBezTo>
                      <a:pt x="129" y="32"/>
                      <a:pt x="129" y="32"/>
                      <a:pt x="128" y="32"/>
                    </a:cubicBezTo>
                    <a:cubicBezTo>
                      <a:pt x="129" y="32"/>
                      <a:pt x="129" y="32"/>
                      <a:pt x="130" y="32"/>
                    </a:cubicBezTo>
                    <a:cubicBezTo>
                      <a:pt x="136" y="33"/>
                      <a:pt x="147" y="35"/>
                      <a:pt x="130" y="31"/>
                    </a:cubicBezTo>
                    <a:cubicBezTo>
                      <a:pt x="128" y="31"/>
                      <a:pt x="128" y="31"/>
                      <a:pt x="128" y="31"/>
                    </a:cubicBezTo>
                    <a:cubicBezTo>
                      <a:pt x="128" y="31"/>
                      <a:pt x="129" y="31"/>
                      <a:pt x="130" y="31"/>
                    </a:cubicBezTo>
                    <a:cubicBezTo>
                      <a:pt x="132" y="31"/>
                      <a:pt x="134" y="31"/>
                      <a:pt x="130" y="30"/>
                    </a:cubicBezTo>
                    <a:cubicBezTo>
                      <a:pt x="129" y="30"/>
                      <a:pt x="128" y="30"/>
                      <a:pt x="126" y="29"/>
                    </a:cubicBezTo>
                    <a:cubicBezTo>
                      <a:pt x="123" y="29"/>
                      <a:pt x="119" y="28"/>
                      <a:pt x="116" y="28"/>
                    </a:cubicBezTo>
                    <a:cubicBezTo>
                      <a:pt x="113" y="27"/>
                      <a:pt x="101" y="23"/>
                      <a:pt x="89" y="20"/>
                    </a:cubicBezTo>
                    <a:cubicBezTo>
                      <a:pt x="89" y="20"/>
                      <a:pt x="89" y="20"/>
                      <a:pt x="89" y="20"/>
                    </a:cubicBezTo>
                    <a:cubicBezTo>
                      <a:pt x="78" y="16"/>
                      <a:pt x="74" y="15"/>
                      <a:pt x="65" y="12"/>
                    </a:cubicBezTo>
                    <a:cubicBezTo>
                      <a:pt x="65" y="12"/>
                      <a:pt x="64" y="12"/>
                      <a:pt x="64" y="12"/>
                    </a:cubicBezTo>
                    <a:cubicBezTo>
                      <a:pt x="61" y="10"/>
                      <a:pt x="57" y="8"/>
                      <a:pt x="54" y="6"/>
                    </a:cubicBezTo>
                    <a:cubicBezTo>
                      <a:pt x="51" y="4"/>
                      <a:pt x="48" y="2"/>
                      <a:pt x="45" y="0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" y="27"/>
                      <a:pt x="2" y="27"/>
                      <a:pt x="3" y="27"/>
                    </a:cubicBezTo>
                    <a:close/>
                    <a:moveTo>
                      <a:pt x="103" y="49"/>
                    </a:moveTo>
                    <a:cubicBezTo>
                      <a:pt x="114" y="54"/>
                      <a:pt x="126" y="58"/>
                      <a:pt x="129" y="61"/>
                    </a:cubicBezTo>
                    <a:cubicBezTo>
                      <a:pt x="129" y="61"/>
                      <a:pt x="129" y="62"/>
                      <a:pt x="130" y="62"/>
                    </a:cubicBezTo>
                    <a:cubicBezTo>
                      <a:pt x="135" y="66"/>
                      <a:pt x="146" y="70"/>
                      <a:pt x="155" y="74"/>
                    </a:cubicBezTo>
                    <a:cubicBezTo>
                      <a:pt x="160" y="76"/>
                      <a:pt x="161" y="77"/>
                      <a:pt x="161" y="78"/>
                    </a:cubicBezTo>
                    <a:cubicBezTo>
                      <a:pt x="160" y="78"/>
                      <a:pt x="160" y="78"/>
                      <a:pt x="160" y="78"/>
                    </a:cubicBezTo>
                    <a:cubicBezTo>
                      <a:pt x="158" y="77"/>
                      <a:pt x="154" y="77"/>
                      <a:pt x="149" y="76"/>
                    </a:cubicBezTo>
                    <a:cubicBezTo>
                      <a:pt x="143" y="74"/>
                      <a:pt x="136" y="71"/>
                      <a:pt x="130" y="68"/>
                    </a:cubicBezTo>
                    <a:cubicBezTo>
                      <a:pt x="124" y="65"/>
                      <a:pt x="119" y="61"/>
                      <a:pt x="115" y="59"/>
                    </a:cubicBezTo>
                    <a:cubicBezTo>
                      <a:pt x="111" y="57"/>
                      <a:pt x="105" y="53"/>
                      <a:pt x="98" y="49"/>
                    </a:cubicBezTo>
                    <a:cubicBezTo>
                      <a:pt x="100" y="49"/>
                      <a:pt x="102" y="49"/>
                      <a:pt x="103" y="49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5" name="Freeform 15"/>
              <p:cNvSpPr/>
              <p:nvPr/>
            </p:nvSpPr>
            <p:spPr bwMode="auto">
              <a:xfrm>
                <a:off x="8298134" y="3352799"/>
                <a:ext cx="1536700" cy="1463675"/>
              </a:xfrm>
              <a:custGeom>
                <a:avLst/>
                <a:gdLst>
                  <a:gd name="T0" fmla="*/ 0 w 968"/>
                  <a:gd name="T1" fmla="*/ 559 h 922"/>
                  <a:gd name="T2" fmla="*/ 0 w 968"/>
                  <a:gd name="T3" fmla="*/ 679 h 922"/>
                  <a:gd name="T4" fmla="*/ 0 w 968"/>
                  <a:gd name="T5" fmla="*/ 802 h 922"/>
                  <a:gd name="T6" fmla="*/ 0 w 968"/>
                  <a:gd name="T7" fmla="*/ 922 h 922"/>
                  <a:gd name="T8" fmla="*/ 968 w 968"/>
                  <a:gd name="T9" fmla="*/ 363 h 922"/>
                  <a:gd name="T10" fmla="*/ 968 w 968"/>
                  <a:gd name="T11" fmla="*/ 243 h 922"/>
                  <a:gd name="T12" fmla="*/ 968 w 968"/>
                  <a:gd name="T13" fmla="*/ 120 h 922"/>
                  <a:gd name="T14" fmla="*/ 968 w 968"/>
                  <a:gd name="T15" fmla="*/ 0 h 922"/>
                  <a:gd name="T16" fmla="*/ 0 w 968"/>
                  <a:gd name="T17" fmla="*/ 559 h 9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68" h="922">
                    <a:moveTo>
                      <a:pt x="0" y="559"/>
                    </a:moveTo>
                    <a:lnTo>
                      <a:pt x="0" y="679"/>
                    </a:lnTo>
                    <a:lnTo>
                      <a:pt x="0" y="802"/>
                    </a:lnTo>
                    <a:lnTo>
                      <a:pt x="0" y="922"/>
                    </a:lnTo>
                    <a:lnTo>
                      <a:pt x="968" y="363"/>
                    </a:lnTo>
                    <a:lnTo>
                      <a:pt x="968" y="243"/>
                    </a:lnTo>
                    <a:lnTo>
                      <a:pt x="968" y="120"/>
                    </a:lnTo>
                    <a:lnTo>
                      <a:pt x="968" y="0"/>
                    </a:lnTo>
                    <a:lnTo>
                      <a:pt x="0" y="559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6" name="Freeform 16"/>
              <p:cNvSpPr/>
              <p:nvPr/>
            </p:nvSpPr>
            <p:spPr bwMode="auto">
              <a:xfrm>
                <a:off x="7598046" y="2368549"/>
                <a:ext cx="730250" cy="1001713"/>
              </a:xfrm>
              <a:custGeom>
                <a:avLst/>
                <a:gdLst>
                  <a:gd name="T0" fmla="*/ 0 w 460"/>
                  <a:gd name="T1" fmla="*/ 0 h 631"/>
                  <a:gd name="T2" fmla="*/ 0 w 460"/>
                  <a:gd name="T3" fmla="*/ 123 h 631"/>
                  <a:gd name="T4" fmla="*/ 0 w 460"/>
                  <a:gd name="T5" fmla="*/ 243 h 631"/>
                  <a:gd name="T6" fmla="*/ 0 w 460"/>
                  <a:gd name="T7" fmla="*/ 363 h 631"/>
                  <a:gd name="T8" fmla="*/ 460 w 460"/>
                  <a:gd name="T9" fmla="*/ 631 h 631"/>
                  <a:gd name="T10" fmla="*/ 460 w 460"/>
                  <a:gd name="T11" fmla="*/ 508 h 631"/>
                  <a:gd name="T12" fmla="*/ 460 w 460"/>
                  <a:gd name="T13" fmla="*/ 387 h 631"/>
                  <a:gd name="T14" fmla="*/ 460 w 460"/>
                  <a:gd name="T15" fmla="*/ 267 h 631"/>
                  <a:gd name="T16" fmla="*/ 0 w 460"/>
                  <a:gd name="T17" fmla="*/ 0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0" h="631">
                    <a:moveTo>
                      <a:pt x="0" y="0"/>
                    </a:moveTo>
                    <a:lnTo>
                      <a:pt x="0" y="123"/>
                    </a:lnTo>
                    <a:lnTo>
                      <a:pt x="0" y="243"/>
                    </a:lnTo>
                    <a:lnTo>
                      <a:pt x="0" y="363"/>
                    </a:lnTo>
                    <a:lnTo>
                      <a:pt x="460" y="631"/>
                    </a:lnTo>
                    <a:lnTo>
                      <a:pt x="460" y="508"/>
                    </a:lnTo>
                    <a:lnTo>
                      <a:pt x="460" y="387"/>
                    </a:lnTo>
                    <a:lnTo>
                      <a:pt x="460" y="2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7" name="Freeform 17"/>
              <p:cNvSpPr/>
              <p:nvPr/>
            </p:nvSpPr>
            <p:spPr bwMode="auto">
              <a:xfrm>
                <a:off x="7598046" y="1927224"/>
                <a:ext cx="1498600" cy="865188"/>
              </a:xfrm>
              <a:custGeom>
                <a:avLst/>
                <a:gdLst>
                  <a:gd name="T0" fmla="*/ 181 w 353"/>
                  <a:gd name="T1" fmla="*/ 0 h 204"/>
                  <a:gd name="T2" fmla="*/ 0 w 353"/>
                  <a:gd name="T3" fmla="*/ 104 h 204"/>
                  <a:gd name="T4" fmla="*/ 172 w 353"/>
                  <a:gd name="T5" fmla="*/ 204 h 204"/>
                  <a:gd name="T6" fmla="*/ 353 w 353"/>
                  <a:gd name="T7" fmla="*/ 99 h 204"/>
                  <a:gd name="T8" fmla="*/ 181 w 353"/>
                  <a:gd name="T9" fmla="*/ 0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204">
                    <a:moveTo>
                      <a:pt x="181" y="0"/>
                    </a:moveTo>
                    <a:cubicBezTo>
                      <a:pt x="0" y="104"/>
                      <a:pt x="0" y="104"/>
                      <a:pt x="0" y="104"/>
                    </a:cubicBezTo>
                    <a:cubicBezTo>
                      <a:pt x="172" y="204"/>
                      <a:pt x="172" y="204"/>
                      <a:pt x="172" y="204"/>
                    </a:cubicBezTo>
                    <a:cubicBezTo>
                      <a:pt x="353" y="99"/>
                      <a:pt x="353" y="99"/>
                      <a:pt x="353" y="99"/>
                    </a:cubicBezTo>
                    <a:cubicBezTo>
                      <a:pt x="353" y="99"/>
                      <a:pt x="189" y="5"/>
                      <a:pt x="1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8" name="Freeform 18"/>
              <p:cNvSpPr>
                <a:spLocks noEditPoints="1"/>
              </p:cNvSpPr>
              <p:nvPr/>
            </p:nvSpPr>
            <p:spPr bwMode="auto">
              <a:xfrm>
                <a:off x="7852046" y="2125662"/>
                <a:ext cx="595313" cy="349250"/>
              </a:xfrm>
              <a:custGeom>
                <a:avLst/>
                <a:gdLst>
                  <a:gd name="T0" fmla="*/ 125 w 140"/>
                  <a:gd name="T1" fmla="*/ 74 h 82"/>
                  <a:gd name="T2" fmla="*/ 126 w 140"/>
                  <a:gd name="T3" fmla="*/ 73 h 82"/>
                  <a:gd name="T4" fmla="*/ 133 w 140"/>
                  <a:gd name="T5" fmla="*/ 76 h 82"/>
                  <a:gd name="T6" fmla="*/ 138 w 140"/>
                  <a:gd name="T7" fmla="*/ 76 h 82"/>
                  <a:gd name="T8" fmla="*/ 131 w 140"/>
                  <a:gd name="T9" fmla="*/ 70 h 82"/>
                  <a:gd name="T10" fmla="*/ 130 w 140"/>
                  <a:gd name="T11" fmla="*/ 70 h 82"/>
                  <a:gd name="T12" fmla="*/ 130 w 140"/>
                  <a:gd name="T13" fmla="*/ 69 h 82"/>
                  <a:gd name="T14" fmla="*/ 130 w 140"/>
                  <a:gd name="T15" fmla="*/ 69 h 82"/>
                  <a:gd name="T16" fmla="*/ 113 w 140"/>
                  <a:gd name="T17" fmla="*/ 46 h 82"/>
                  <a:gd name="T18" fmla="*/ 140 w 140"/>
                  <a:gd name="T19" fmla="*/ 37 h 82"/>
                  <a:gd name="T20" fmla="*/ 117 w 140"/>
                  <a:gd name="T21" fmla="*/ 25 h 82"/>
                  <a:gd name="T22" fmla="*/ 93 w 140"/>
                  <a:gd name="T23" fmla="*/ 13 h 82"/>
                  <a:gd name="T24" fmla="*/ 76 w 140"/>
                  <a:gd name="T25" fmla="*/ 11 h 82"/>
                  <a:gd name="T26" fmla="*/ 67 w 140"/>
                  <a:gd name="T27" fmla="*/ 14 h 82"/>
                  <a:gd name="T28" fmla="*/ 63 w 140"/>
                  <a:gd name="T29" fmla="*/ 13 h 82"/>
                  <a:gd name="T30" fmla="*/ 60 w 140"/>
                  <a:gd name="T31" fmla="*/ 13 h 82"/>
                  <a:gd name="T32" fmla="*/ 58 w 140"/>
                  <a:gd name="T33" fmla="*/ 13 h 82"/>
                  <a:gd name="T34" fmla="*/ 57 w 140"/>
                  <a:gd name="T35" fmla="*/ 13 h 82"/>
                  <a:gd name="T36" fmla="*/ 56 w 140"/>
                  <a:gd name="T37" fmla="*/ 12 h 82"/>
                  <a:gd name="T38" fmla="*/ 54 w 140"/>
                  <a:gd name="T39" fmla="*/ 11 h 82"/>
                  <a:gd name="T40" fmla="*/ 54 w 140"/>
                  <a:gd name="T41" fmla="*/ 11 h 82"/>
                  <a:gd name="T42" fmla="*/ 39 w 140"/>
                  <a:gd name="T43" fmla="*/ 0 h 82"/>
                  <a:gd name="T44" fmla="*/ 0 w 140"/>
                  <a:gd name="T45" fmla="*/ 23 h 82"/>
                  <a:gd name="T46" fmla="*/ 58 w 140"/>
                  <a:gd name="T47" fmla="*/ 49 h 82"/>
                  <a:gd name="T48" fmla="*/ 60 w 140"/>
                  <a:gd name="T49" fmla="*/ 51 h 82"/>
                  <a:gd name="T50" fmla="*/ 63 w 140"/>
                  <a:gd name="T51" fmla="*/ 52 h 82"/>
                  <a:gd name="T52" fmla="*/ 70 w 140"/>
                  <a:gd name="T53" fmla="*/ 56 h 82"/>
                  <a:gd name="T54" fmla="*/ 72 w 140"/>
                  <a:gd name="T55" fmla="*/ 56 h 82"/>
                  <a:gd name="T56" fmla="*/ 75 w 140"/>
                  <a:gd name="T57" fmla="*/ 61 h 82"/>
                  <a:gd name="T58" fmla="*/ 75 w 140"/>
                  <a:gd name="T59" fmla="*/ 61 h 82"/>
                  <a:gd name="T60" fmla="*/ 75 w 140"/>
                  <a:gd name="T61" fmla="*/ 61 h 82"/>
                  <a:gd name="T62" fmla="*/ 70 w 140"/>
                  <a:gd name="T63" fmla="*/ 65 h 82"/>
                  <a:gd name="T64" fmla="*/ 108 w 140"/>
                  <a:gd name="T65" fmla="*/ 82 h 82"/>
                  <a:gd name="T66" fmla="*/ 125 w 140"/>
                  <a:gd name="T67" fmla="*/ 74 h 82"/>
                  <a:gd name="T68" fmla="*/ 58 w 140"/>
                  <a:gd name="T69" fmla="*/ 17 h 82"/>
                  <a:gd name="T70" fmla="*/ 58 w 140"/>
                  <a:gd name="T71" fmla="*/ 17 h 82"/>
                  <a:gd name="T72" fmla="*/ 58 w 140"/>
                  <a:gd name="T73" fmla="*/ 17 h 82"/>
                  <a:gd name="T74" fmla="*/ 58 w 140"/>
                  <a:gd name="T75" fmla="*/ 17 h 82"/>
                  <a:gd name="T76" fmla="*/ 58 w 140"/>
                  <a:gd name="T77" fmla="*/ 17 h 82"/>
                  <a:gd name="T78" fmla="*/ 60 w 140"/>
                  <a:gd name="T79" fmla="*/ 16 h 82"/>
                  <a:gd name="T80" fmla="*/ 60 w 140"/>
                  <a:gd name="T81" fmla="*/ 16 h 82"/>
                  <a:gd name="T82" fmla="*/ 60 w 140"/>
                  <a:gd name="T83" fmla="*/ 16 h 82"/>
                  <a:gd name="T84" fmla="*/ 60 w 140"/>
                  <a:gd name="T85" fmla="*/ 16 h 82"/>
                  <a:gd name="T86" fmla="*/ 60 w 140"/>
                  <a:gd name="T87" fmla="*/ 16 h 82"/>
                  <a:gd name="T88" fmla="*/ 63 w 140"/>
                  <a:gd name="T89" fmla="*/ 15 h 82"/>
                  <a:gd name="T90" fmla="*/ 62 w 140"/>
                  <a:gd name="T91" fmla="*/ 15 h 82"/>
                  <a:gd name="T92" fmla="*/ 62 w 140"/>
                  <a:gd name="T93" fmla="*/ 15 h 82"/>
                  <a:gd name="T94" fmla="*/ 61 w 140"/>
                  <a:gd name="T95" fmla="*/ 14 h 82"/>
                  <a:gd name="T96" fmla="*/ 63 w 140"/>
                  <a:gd name="T97" fmla="*/ 14 h 82"/>
                  <a:gd name="T98" fmla="*/ 65 w 140"/>
                  <a:gd name="T99" fmla="*/ 15 h 82"/>
                  <a:gd name="T100" fmla="*/ 63 w 140"/>
                  <a:gd name="T101" fmla="*/ 15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40" h="82">
                    <a:moveTo>
                      <a:pt x="125" y="74"/>
                    </a:moveTo>
                    <a:cubicBezTo>
                      <a:pt x="125" y="72"/>
                      <a:pt x="126" y="73"/>
                      <a:pt x="126" y="73"/>
                    </a:cubicBezTo>
                    <a:cubicBezTo>
                      <a:pt x="130" y="74"/>
                      <a:pt x="131" y="75"/>
                      <a:pt x="133" y="76"/>
                    </a:cubicBezTo>
                    <a:cubicBezTo>
                      <a:pt x="134" y="77"/>
                      <a:pt x="139" y="76"/>
                      <a:pt x="138" y="76"/>
                    </a:cubicBezTo>
                    <a:cubicBezTo>
                      <a:pt x="134" y="74"/>
                      <a:pt x="132" y="72"/>
                      <a:pt x="131" y="70"/>
                    </a:cubicBezTo>
                    <a:cubicBezTo>
                      <a:pt x="131" y="70"/>
                      <a:pt x="131" y="70"/>
                      <a:pt x="130" y="70"/>
                    </a:cubicBezTo>
                    <a:cubicBezTo>
                      <a:pt x="130" y="70"/>
                      <a:pt x="130" y="70"/>
                      <a:pt x="130" y="69"/>
                    </a:cubicBezTo>
                    <a:cubicBezTo>
                      <a:pt x="130" y="69"/>
                      <a:pt x="130" y="69"/>
                      <a:pt x="130" y="69"/>
                    </a:cubicBezTo>
                    <a:cubicBezTo>
                      <a:pt x="121" y="67"/>
                      <a:pt x="118" y="53"/>
                      <a:pt x="113" y="46"/>
                    </a:cubicBezTo>
                    <a:cubicBezTo>
                      <a:pt x="140" y="37"/>
                      <a:pt x="140" y="37"/>
                      <a:pt x="140" y="37"/>
                    </a:cubicBezTo>
                    <a:cubicBezTo>
                      <a:pt x="117" y="25"/>
                      <a:pt x="117" y="25"/>
                      <a:pt x="117" y="25"/>
                    </a:cubicBezTo>
                    <a:cubicBezTo>
                      <a:pt x="93" y="13"/>
                      <a:pt x="93" y="13"/>
                      <a:pt x="93" y="13"/>
                    </a:cubicBezTo>
                    <a:cubicBezTo>
                      <a:pt x="76" y="11"/>
                      <a:pt x="76" y="11"/>
                      <a:pt x="76" y="11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66" y="13"/>
                      <a:pt x="64" y="13"/>
                      <a:pt x="63" y="13"/>
                    </a:cubicBezTo>
                    <a:cubicBezTo>
                      <a:pt x="62" y="13"/>
                      <a:pt x="61" y="13"/>
                      <a:pt x="60" y="13"/>
                    </a:cubicBezTo>
                    <a:cubicBezTo>
                      <a:pt x="59" y="13"/>
                      <a:pt x="58" y="13"/>
                      <a:pt x="58" y="13"/>
                    </a:cubicBezTo>
                    <a:cubicBezTo>
                      <a:pt x="57" y="13"/>
                      <a:pt x="57" y="13"/>
                      <a:pt x="57" y="13"/>
                    </a:cubicBezTo>
                    <a:cubicBezTo>
                      <a:pt x="57" y="12"/>
                      <a:pt x="56" y="12"/>
                      <a:pt x="56" y="12"/>
                    </a:cubicBezTo>
                    <a:cubicBezTo>
                      <a:pt x="55" y="12"/>
                      <a:pt x="54" y="12"/>
                      <a:pt x="54" y="11"/>
                    </a:cubicBezTo>
                    <a:cubicBezTo>
                      <a:pt x="54" y="11"/>
                      <a:pt x="54" y="11"/>
                      <a:pt x="54" y="11"/>
                    </a:cubicBezTo>
                    <a:cubicBezTo>
                      <a:pt x="50" y="8"/>
                      <a:pt x="46" y="4"/>
                      <a:pt x="39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22" y="32"/>
                      <a:pt x="44" y="43"/>
                      <a:pt x="58" y="49"/>
                    </a:cubicBezTo>
                    <a:cubicBezTo>
                      <a:pt x="60" y="51"/>
                      <a:pt x="60" y="51"/>
                      <a:pt x="60" y="51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6" y="54"/>
                      <a:pt x="69" y="55"/>
                      <a:pt x="70" y="56"/>
                    </a:cubicBezTo>
                    <a:cubicBezTo>
                      <a:pt x="71" y="56"/>
                      <a:pt x="71" y="56"/>
                      <a:pt x="72" y="56"/>
                    </a:cubicBezTo>
                    <a:cubicBezTo>
                      <a:pt x="74" y="58"/>
                      <a:pt x="76" y="60"/>
                      <a:pt x="75" y="61"/>
                    </a:cubicBezTo>
                    <a:cubicBezTo>
                      <a:pt x="75" y="61"/>
                      <a:pt x="75" y="61"/>
                      <a:pt x="75" y="61"/>
                    </a:cubicBezTo>
                    <a:cubicBezTo>
                      <a:pt x="75" y="61"/>
                      <a:pt x="75" y="61"/>
                      <a:pt x="75" y="61"/>
                    </a:cubicBezTo>
                    <a:cubicBezTo>
                      <a:pt x="74" y="62"/>
                      <a:pt x="70" y="64"/>
                      <a:pt x="70" y="65"/>
                    </a:cubicBezTo>
                    <a:cubicBezTo>
                      <a:pt x="70" y="66"/>
                      <a:pt x="104" y="82"/>
                      <a:pt x="108" y="82"/>
                    </a:cubicBezTo>
                    <a:cubicBezTo>
                      <a:pt x="118" y="81"/>
                      <a:pt x="125" y="75"/>
                      <a:pt x="125" y="74"/>
                    </a:cubicBezTo>
                    <a:close/>
                    <a:moveTo>
                      <a:pt x="58" y="17"/>
                    </a:moveTo>
                    <a:cubicBezTo>
                      <a:pt x="58" y="17"/>
                      <a:pt x="58" y="17"/>
                      <a:pt x="58" y="17"/>
                    </a:cubicBezTo>
                    <a:cubicBezTo>
                      <a:pt x="58" y="17"/>
                      <a:pt x="58" y="17"/>
                      <a:pt x="58" y="17"/>
                    </a:cubicBezTo>
                    <a:cubicBezTo>
                      <a:pt x="58" y="17"/>
                      <a:pt x="58" y="17"/>
                      <a:pt x="58" y="17"/>
                    </a:cubicBezTo>
                    <a:cubicBezTo>
                      <a:pt x="58" y="17"/>
                      <a:pt x="58" y="17"/>
                      <a:pt x="58" y="17"/>
                    </a:cubicBezTo>
                    <a:close/>
                    <a:moveTo>
                      <a:pt x="60" y="16"/>
                    </a:moveTo>
                    <a:cubicBezTo>
                      <a:pt x="60" y="16"/>
                      <a:pt x="60" y="16"/>
                      <a:pt x="60" y="16"/>
                    </a:cubicBezTo>
                    <a:cubicBezTo>
                      <a:pt x="60" y="16"/>
                      <a:pt x="60" y="16"/>
                      <a:pt x="60" y="16"/>
                    </a:cubicBezTo>
                    <a:cubicBezTo>
                      <a:pt x="60" y="16"/>
                      <a:pt x="60" y="16"/>
                      <a:pt x="60" y="16"/>
                    </a:cubicBezTo>
                    <a:cubicBezTo>
                      <a:pt x="60" y="16"/>
                      <a:pt x="60" y="16"/>
                      <a:pt x="60" y="16"/>
                    </a:cubicBezTo>
                    <a:close/>
                    <a:moveTo>
                      <a:pt x="63" y="15"/>
                    </a:move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5"/>
                      <a:pt x="62" y="15"/>
                      <a:pt x="61" y="14"/>
                    </a:cubicBezTo>
                    <a:cubicBezTo>
                      <a:pt x="61" y="14"/>
                      <a:pt x="62" y="14"/>
                      <a:pt x="63" y="14"/>
                    </a:cubicBezTo>
                    <a:cubicBezTo>
                      <a:pt x="64" y="14"/>
                      <a:pt x="64" y="14"/>
                      <a:pt x="65" y="15"/>
                    </a:cubicBezTo>
                    <a:lnTo>
                      <a:pt x="63" y="15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9" name="Freeform 19"/>
              <p:cNvSpPr/>
              <p:nvPr/>
            </p:nvSpPr>
            <p:spPr bwMode="auto">
              <a:xfrm>
                <a:off x="8328296" y="2346324"/>
                <a:ext cx="768350" cy="1023938"/>
              </a:xfrm>
              <a:custGeom>
                <a:avLst/>
                <a:gdLst>
                  <a:gd name="T0" fmla="*/ 0 w 484"/>
                  <a:gd name="T1" fmla="*/ 281 h 645"/>
                  <a:gd name="T2" fmla="*/ 0 w 484"/>
                  <a:gd name="T3" fmla="*/ 401 h 645"/>
                  <a:gd name="T4" fmla="*/ 0 w 484"/>
                  <a:gd name="T5" fmla="*/ 522 h 645"/>
                  <a:gd name="T6" fmla="*/ 0 w 484"/>
                  <a:gd name="T7" fmla="*/ 645 h 645"/>
                  <a:gd name="T8" fmla="*/ 484 w 484"/>
                  <a:gd name="T9" fmla="*/ 364 h 645"/>
                  <a:gd name="T10" fmla="*/ 484 w 484"/>
                  <a:gd name="T11" fmla="*/ 244 h 645"/>
                  <a:gd name="T12" fmla="*/ 484 w 484"/>
                  <a:gd name="T13" fmla="*/ 123 h 645"/>
                  <a:gd name="T14" fmla="*/ 484 w 484"/>
                  <a:gd name="T15" fmla="*/ 0 h 645"/>
                  <a:gd name="T16" fmla="*/ 0 w 484"/>
                  <a:gd name="T17" fmla="*/ 281 h 6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4" h="645">
                    <a:moveTo>
                      <a:pt x="0" y="281"/>
                    </a:moveTo>
                    <a:lnTo>
                      <a:pt x="0" y="401"/>
                    </a:lnTo>
                    <a:lnTo>
                      <a:pt x="0" y="522"/>
                    </a:lnTo>
                    <a:lnTo>
                      <a:pt x="0" y="645"/>
                    </a:lnTo>
                    <a:lnTo>
                      <a:pt x="484" y="364"/>
                    </a:lnTo>
                    <a:lnTo>
                      <a:pt x="484" y="244"/>
                    </a:lnTo>
                    <a:lnTo>
                      <a:pt x="484" y="123"/>
                    </a:lnTo>
                    <a:lnTo>
                      <a:pt x="484" y="0"/>
                    </a:lnTo>
                    <a:lnTo>
                      <a:pt x="0" y="281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0" name="Freeform 20"/>
              <p:cNvSpPr/>
              <p:nvPr/>
            </p:nvSpPr>
            <p:spPr bwMode="auto">
              <a:xfrm>
                <a:off x="9168084" y="4078287"/>
                <a:ext cx="169863" cy="657225"/>
              </a:xfrm>
              <a:custGeom>
                <a:avLst/>
                <a:gdLst>
                  <a:gd name="T0" fmla="*/ 8 w 40"/>
                  <a:gd name="T1" fmla="*/ 31 h 155"/>
                  <a:gd name="T2" fmla="*/ 15 w 40"/>
                  <a:gd name="T3" fmla="*/ 87 h 155"/>
                  <a:gd name="T4" fmla="*/ 16 w 40"/>
                  <a:gd name="T5" fmla="*/ 137 h 155"/>
                  <a:gd name="T6" fmla="*/ 4 w 40"/>
                  <a:gd name="T7" fmla="*/ 147 h 155"/>
                  <a:gd name="T8" fmla="*/ 9 w 40"/>
                  <a:gd name="T9" fmla="*/ 154 h 155"/>
                  <a:gd name="T10" fmla="*/ 26 w 40"/>
                  <a:gd name="T11" fmla="*/ 148 h 155"/>
                  <a:gd name="T12" fmla="*/ 39 w 40"/>
                  <a:gd name="T13" fmla="*/ 138 h 155"/>
                  <a:gd name="T14" fmla="*/ 35 w 40"/>
                  <a:gd name="T15" fmla="*/ 119 h 155"/>
                  <a:gd name="T16" fmla="*/ 34 w 40"/>
                  <a:gd name="T17" fmla="*/ 79 h 155"/>
                  <a:gd name="T18" fmla="*/ 36 w 40"/>
                  <a:gd name="T19" fmla="*/ 19 h 155"/>
                  <a:gd name="T20" fmla="*/ 8 w 40"/>
                  <a:gd name="T21" fmla="*/ 31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155">
                    <a:moveTo>
                      <a:pt x="8" y="31"/>
                    </a:moveTo>
                    <a:cubicBezTo>
                      <a:pt x="9" y="45"/>
                      <a:pt x="13" y="73"/>
                      <a:pt x="15" y="87"/>
                    </a:cubicBezTo>
                    <a:cubicBezTo>
                      <a:pt x="17" y="101"/>
                      <a:pt x="23" y="127"/>
                      <a:pt x="16" y="137"/>
                    </a:cubicBezTo>
                    <a:cubicBezTo>
                      <a:pt x="10" y="146"/>
                      <a:pt x="6" y="146"/>
                      <a:pt x="4" y="147"/>
                    </a:cubicBezTo>
                    <a:cubicBezTo>
                      <a:pt x="1" y="148"/>
                      <a:pt x="0" y="154"/>
                      <a:pt x="9" y="154"/>
                    </a:cubicBezTo>
                    <a:cubicBezTo>
                      <a:pt x="19" y="155"/>
                      <a:pt x="22" y="152"/>
                      <a:pt x="26" y="148"/>
                    </a:cubicBezTo>
                    <a:cubicBezTo>
                      <a:pt x="30" y="143"/>
                      <a:pt x="39" y="146"/>
                      <a:pt x="39" y="138"/>
                    </a:cubicBezTo>
                    <a:cubicBezTo>
                      <a:pt x="40" y="131"/>
                      <a:pt x="35" y="133"/>
                      <a:pt x="35" y="119"/>
                    </a:cubicBezTo>
                    <a:cubicBezTo>
                      <a:pt x="35" y="104"/>
                      <a:pt x="38" y="93"/>
                      <a:pt x="34" y="79"/>
                    </a:cubicBezTo>
                    <a:cubicBezTo>
                      <a:pt x="29" y="66"/>
                      <a:pt x="38" y="37"/>
                      <a:pt x="36" y="19"/>
                    </a:cubicBezTo>
                    <a:cubicBezTo>
                      <a:pt x="34" y="0"/>
                      <a:pt x="8" y="7"/>
                      <a:pt x="8" y="31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1" name="Freeform 21"/>
              <p:cNvSpPr/>
              <p:nvPr/>
            </p:nvSpPr>
            <p:spPr bwMode="auto">
              <a:xfrm>
                <a:off x="9279209" y="4638674"/>
                <a:ext cx="55563" cy="96838"/>
              </a:xfrm>
              <a:custGeom>
                <a:avLst/>
                <a:gdLst>
                  <a:gd name="T0" fmla="*/ 13 w 13"/>
                  <a:gd name="T1" fmla="*/ 5 h 23"/>
                  <a:gd name="T2" fmla="*/ 12 w 13"/>
                  <a:gd name="T3" fmla="*/ 21 h 23"/>
                  <a:gd name="T4" fmla="*/ 8 w 13"/>
                  <a:gd name="T5" fmla="*/ 21 h 23"/>
                  <a:gd name="T6" fmla="*/ 4 w 13"/>
                  <a:gd name="T7" fmla="*/ 11 h 23"/>
                  <a:gd name="T8" fmla="*/ 13 w 13"/>
                  <a:gd name="T9" fmla="*/ 5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3">
                    <a:moveTo>
                      <a:pt x="13" y="5"/>
                    </a:moveTo>
                    <a:cubicBezTo>
                      <a:pt x="11" y="11"/>
                      <a:pt x="11" y="15"/>
                      <a:pt x="12" y="21"/>
                    </a:cubicBezTo>
                    <a:cubicBezTo>
                      <a:pt x="12" y="22"/>
                      <a:pt x="8" y="23"/>
                      <a:pt x="8" y="21"/>
                    </a:cubicBezTo>
                    <a:cubicBezTo>
                      <a:pt x="7" y="17"/>
                      <a:pt x="8" y="14"/>
                      <a:pt x="4" y="11"/>
                    </a:cubicBezTo>
                    <a:cubicBezTo>
                      <a:pt x="0" y="8"/>
                      <a:pt x="12" y="0"/>
                      <a:pt x="13" y="5"/>
                    </a:cubicBezTo>
                    <a:close/>
                  </a:path>
                </a:pathLst>
              </a:custGeom>
              <a:solidFill>
                <a:srgbClr val="41667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2" name="Freeform 22"/>
              <p:cNvSpPr/>
              <p:nvPr/>
            </p:nvSpPr>
            <p:spPr bwMode="auto">
              <a:xfrm>
                <a:off x="9168084" y="4633912"/>
                <a:ext cx="169863" cy="101600"/>
              </a:xfrm>
              <a:custGeom>
                <a:avLst/>
                <a:gdLst>
                  <a:gd name="T0" fmla="*/ 10 w 40"/>
                  <a:gd name="T1" fmla="*/ 13 h 24"/>
                  <a:gd name="T2" fmla="*/ 4 w 40"/>
                  <a:gd name="T3" fmla="*/ 16 h 24"/>
                  <a:gd name="T4" fmla="*/ 9 w 40"/>
                  <a:gd name="T5" fmla="*/ 23 h 24"/>
                  <a:gd name="T6" fmla="*/ 26 w 40"/>
                  <a:gd name="T7" fmla="*/ 17 h 24"/>
                  <a:gd name="T8" fmla="*/ 39 w 40"/>
                  <a:gd name="T9" fmla="*/ 7 h 24"/>
                  <a:gd name="T10" fmla="*/ 38 w 40"/>
                  <a:gd name="T11" fmla="*/ 0 h 24"/>
                  <a:gd name="T12" fmla="*/ 21 w 40"/>
                  <a:gd name="T13" fmla="*/ 14 h 24"/>
                  <a:gd name="T14" fmla="*/ 10 w 40"/>
                  <a:gd name="T15" fmla="*/ 1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" h="24">
                    <a:moveTo>
                      <a:pt x="10" y="13"/>
                    </a:moveTo>
                    <a:cubicBezTo>
                      <a:pt x="7" y="14"/>
                      <a:pt x="6" y="15"/>
                      <a:pt x="4" y="16"/>
                    </a:cubicBezTo>
                    <a:cubicBezTo>
                      <a:pt x="1" y="17"/>
                      <a:pt x="0" y="23"/>
                      <a:pt x="9" y="23"/>
                    </a:cubicBezTo>
                    <a:cubicBezTo>
                      <a:pt x="19" y="24"/>
                      <a:pt x="22" y="21"/>
                      <a:pt x="26" y="17"/>
                    </a:cubicBezTo>
                    <a:cubicBezTo>
                      <a:pt x="30" y="12"/>
                      <a:pt x="39" y="15"/>
                      <a:pt x="39" y="7"/>
                    </a:cubicBezTo>
                    <a:cubicBezTo>
                      <a:pt x="40" y="4"/>
                      <a:pt x="39" y="2"/>
                      <a:pt x="38" y="0"/>
                    </a:cubicBezTo>
                    <a:cubicBezTo>
                      <a:pt x="36" y="6"/>
                      <a:pt x="25" y="11"/>
                      <a:pt x="21" y="14"/>
                    </a:cubicBezTo>
                    <a:cubicBezTo>
                      <a:pt x="16" y="17"/>
                      <a:pt x="12" y="16"/>
                      <a:pt x="10" y="13"/>
                    </a:cubicBezTo>
                    <a:close/>
                  </a:path>
                </a:pathLst>
              </a:custGeom>
              <a:solidFill>
                <a:srgbClr val="41667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3" name="Freeform 23"/>
              <p:cNvSpPr/>
              <p:nvPr/>
            </p:nvSpPr>
            <p:spPr bwMode="auto">
              <a:xfrm>
                <a:off x="8995046" y="4159249"/>
                <a:ext cx="203200" cy="649288"/>
              </a:xfrm>
              <a:custGeom>
                <a:avLst/>
                <a:gdLst>
                  <a:gd name="T0" fmla="*/ 20 w 48"/>
                  <a:gd name="T1" fmla="*/ 29 h 153"/>
                  <a:gd name="T2" fmla="*/ 22 w 48"/>
                  <a:gd name="T3" fmla="*/ 85 h 153"/>
                  <a:gd name="T4" fmla="*/ 17 w 48"/>
                  <a:gd name="T5" fmla="*/ 135 h 153"/>
                  <a:gd name="T6" fmla="*/ 4 w 48"/>
                  <a:gd name="T7" fmla="*/ 144 h 153"/>
                  <a:gd name="T8" fmla="*/ 9 w 48"/>
                  <a:gd name="T9" fmla="*/ 152 h 153"/>
                  <a:gd name="T10" fmla="*/ 26 w 48"/>
                  <a:gd name="T11" fmla="*/ 147 h 153"/>
                  <a:gd name="T12" fmla="*/ 41 w 48"/>
                  <a:gd name="T13" fmla="*/ 139 h 153"/>
                  <a:gd name="T14" fmla="*/ 38 w 48"/>
                  <a:gd name="T15" fmla="*/ 119 h 153"/>
                  <a:gd name="T16" fmla="*/ 41 w 48"/>
                  <a:gd name="T17" fmla="*/ 80 h 153"/>
                  <a:gd name="T18" fmla="*/ 48 w 48"/>
                  <a:gd name="T19" fmla="*/ 19 h 153"/>
                  <a:gd name="T20" fmla="*/ 20 w 48"/>
                  <a:gd name="T21" fmla="*/ 29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8" h="153">
                    <a:moveTo>
                      <a:pt x="20" y="29"/>
                    </a:moveTo>
                    <a:cubicBezTo>
                      <a:pt x="20" y="43"/>
                      <a:pt x="21" y="71"/>
                      <a:pt x="22" y="85"/>
                    </a:cubicBezTo>
                    <a:cubicBezTo>
                      <a:pt x="22" y="99"/>
                      <a:pt x="25" y="126"/>
                      <a:pt x="17" y="135"/>
                    </a:cubicBezTo>
                    <a:cubicBezTo>
                      <a:pt x="10" y="144"/>
                      <a:pt x="7" y="143"/>
                      <a:pt x="4" y="144"/>
                    </a:cubicBezTo>
                    <a:cubicBezTo>
                      <a:pt x="2" y="145"/>
                      <a:pt x="0" y="151"/>
                      <a:pt x="9" y="152"/>
                    </a:cubicBezTo>
                    <a:cubicBezTo>
                      <a:pt x="18" y="153"/>
                      <a:pt x="22" y="151"/>
                      <a:pt x="26" y="147"/>
                    </a:cubicBezTo>
                    <a:cubicBezTo>
                      <a:pt x="31" y="143"/>
                      <a:pt x="39" y="146"/>
                      <a:pt x="41" y="139"/>
                    </a:cubicBezTo>
                    <a:cubicBezTo>
                      <a:pt x="42" y="131"/>
                      <a:pt x="37" y="133"/>
                      <a:pt x="38" y="119"/>
                    </a:cubicBezTo>
                    <a:cubicBezTo>
                      <a:pt x="39" y="104"/>
                      <a:pt x="44" y="93"/>
                      <a:pt x="41" y="80"/>
                    </a:cubicBezTo>
                    <a:cubicBezTo>
                      <a:pt x="37" y="66"/>
                      <a:pt x="48" y="38"/>
                      <a:pt x="48" y="19"/>
                    </a:cubicBezTo>
                    <a:cubicBezTo>
                      <a:pt x="48" y="0"/>
                      <a:pt x="22" y="5"/>
                      <a:pt x="20" y="29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4" name="Freeform 24"/>
              <p:cNvSpPr/>
              <p:nvPr/>
            </p:nvSpPr>
            <p:spPr bwMode="auto">
              <a:xfrm>
                <a:off x="9109346" y="4722812"/>
                <a:ext cx="55563" cy="93663"/>
              </a:xfrm>
              <a:custGeom>
                <a:avLst/>
                <a:gdLst>
                  <a:gd name="T0" fmla="*/ 13 w 13"/>
                  <a:gd name="T1" fmla="*/ 5 h 22"/>
                  <a:gd name="T2" fmla="*/ 10 w 13"/>
                  <a:gd name="T3" fmla="*/ 20 h 22"/>
                  <a:gd name="T4" fmla="*/ 6 w 13"/>
                  <a:gd name="T5" fmla="*/ 20 h 22"/>
                  <a:gd name="T6" fmla="*/ 3 w 13"/>
                  <a:gd name="T7" fmla="*/ 10 h 22"/>
                  <a:gd name="T8" fmla="*/ 13 w 13"/>
                  <a:gd name="T9" fmla="*/ 5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2">
                    <a:moveTo>
                      <a:pt x="13" y="5"/>
                    </a:moveTo>
                    <a:cubicBezTo>
                      <a:pt x="11" y="11"/>
                      <a:pt x="10" y="14"/>
                      <a:pt x="10" y="20"/>
                    </a:cubicBezTo>
                    <a:cubicBezTo>
                      <a:pt x="10" y="22"/>
                      <a:pt x="6" y="22"/>
                      <a:pt x="6" y="20"/>
                    </a:cubicBezTo>
                    <a:cubicBezTo>
                      <a:pt x="6" y="17"/>
                      <a:pt x="7" y="13"/>
                      <a:pt x="3" y="10"/>
                    </a:cubicBezTo>
                    <a:cubicBezTo>
                      <a:pt x="0" y="7"/>
                      <a:pt x="13" y="0"/>
                      <a:pt x="13" y="5"/>
                    </a:cubicBezTo>
                    <a:close/>
                  </a:path>
                </a:pathLst>
              </a:custGeom>
              <a:solidFill>
                <a:srgbClr val="41667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5" name="Freeform 25"/>
              <p:cNvSpPr/>
              <p:nvPr/>
            </p:nvSpPr>
            <p:spPr bwMode="auto">
              <a:xfrm>
                <a:off x="8995046" y="4719637"/>
                <a:ext cx="173038" cy="88900"/>
              </a:xfrm>
              <a:custGeom>
                <a:avLst/>
                <a:gdLst>
                  <a:gd name="T0" fmla="*/ 11 w 41"/>
                  <a:gd name="T1" fmla="*/ 9 h 21"/>
                  <a:gd name="T2" fmla="*/ 4 w 41"/>
                  <a:gd name="T3" fmla="*/ 12 h 21"/>
                  <a:gd name="T4" fmla="*/ 9 w 41"/>
                  <a:gd name="T5" fmla="*/ 20 h 21"/>
                  <a:gd name="T6" fmla="*/ 26 w 41"/>
                  <a:gd name="T7" fmla="*/ 15 h 21"/>
                  <a:gd name="T8" fmla="*/ 41 w 41"/>
                  <a:gd name="T9" fmla="*/ 7 h 21"/>
                  <a:gd name="T10" fmla="*/ 39 w 41"/>
                  <a:gd name="T11" fmla="*/ 0 h 21"/>
                  <a:gd name="T12" fmla="*/ 21 w 41"/>
                  <a:gd name="T13" fmla="*/ 12 h 21"/>
                  <a:gd name="T14" fmla="*/ 11 w 41"/>
                  <a:gd name="T15" fmla="*/ 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" h="21">
                    <a:moveTo>
                      <a:pt x="11" y="9"/>
                    </a:moveTo>
                    <a:cubicBezTo>
                      <a:pt x="8" y="11"/>
                      <a:pt x="7" y="11"/>
                      <a:pt x="4" y="12"/>
                    </a:cubicBezTo>
                    <a:cubicBezTo>
                      <a:pt x="2" y="13"/>
                      <a:pt x="0" y="19"/>
                      <a:pt x="9" y="20"/>
                    </a:cubicBezTo>
                    <a:cubicBezTo>
                      <a:pt x="18" y="21"/>
                      <a:pt x="22" y="19"/>
                      <a:pt x="26" y="15"/>
                    </a:cubicBezTo>
                    <a:cubicBezTo>
                      <a:pt x="31" y="11"/>
                      <a:pt x="39" y="14"/>
                      <a:pt x="41" y="7"/>
                    </a:cubicBezTo>
                    <a:cubicBezTo>
                      <a:pt x="41" y="3"/>
                      <a:pt x="40" y="2"/>
                      <a:pt x="39" y="0"/>
                    </a:cubicBezTo>
                    <a:cubicBezTo>
                      <a:pt x="37" y="5"/>
                      <a:pt x="26" y="9"/>
                      <a:pt x="21" y="12"/>
                    </a:cubicBezTo>
                    <a:cubicBezTo>
                      <a:pt x="17" y="14"/>
                      <a:pt x="12" y="12"/>
                      <a:pt x="11" y="9"/>
                    </a:cubicBezTo>
                    <a:close/>
                  </a:path>
                </a:pathLst>
              </a:custGeom>
              <a:solidFill>
                <a:srgbClr val="41667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6" name="Freeform 26"/>
              <p:cNvSpPr/>
              <p:nvPr/>
            </p:nvSpPr>
            <p:spPr bwMode="auto">
              <a:xfrm>
                <a:off x="9334771" y="3675062"/>
                <a:ext cx="117475" cy="292100"/>
              </a:xfrm>
              <a:custGeom>
                <a:avLst/>
                <a:gdLst>
                  <a:gd name="T0" fmla="*/ 25 w 28"/>
                  <a:gd name="T1" fmla="*/ 16 h 69"/>
                  <a:gd name="T2" fmla="*/ 9 w 28"/>
                  <a:gd name="T3" fmla="*/ 67 h 69"/>
                  <a:gd name="T4" fmla="*/ 4 w 28"/>
                  <a:gd name="T5" fmla="*/ 66 h 69"/>
                  <a:gd name="T6" fmla="*/ 11 w 28"/>
                  <a:gd name="T7" fmla="*/ 10 h 69"/>
                  <a:gd name="T8" fmla="*/ 25 w 28"/>
                  <a:gd name="T9" fmla="*/ 16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69">
                    <a:moveTo>
                      <a:pt x="25" y="16"/>
                    </a:moveTo>
                    <a:cubicBezTo>
                      <a:pt x="22" y="26"/>
                      <a:pt x="14" y="67"/>
                      <a:pt x="9" y="67"/>
                    </a:cubicBezTo>
                    <a:cubicBezTo>
                      <a:pt x="6" y="68"/>
                      <a:pt x="5" y="69"/>
                      <a:pt x="4" y="66"/>
                    </a:cubicBezTo>
                    <a:cubicBezTo>
                      <a:pt x="0" y="64"/>
                      <a:pt x="7" y="22"/>
                      <a:pt x="11" y="10"/>
                    </a:cubicBezTo>
                    <a:cubicBezTo>
                      <a:pt x="15" y="0"/>
                      <a:pt x="28" y="5"/>
                      <a:pt x="25" y="16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7" name="Freeform 27"/>
              <p:cNvSpPr/>
              <p:nvPr/>
            </p:nvSpPr>
            <p:spPr bwMode="auto">
              <a:xfrm>
                <a:off x="9218884" y="3487737"/>
                <a:ext cx="263525" cy="306388"/>
              </a:xfrm>
              <a:custGeom>
                <a:avLst/>
                <a:gdLst>
                  <a:gd name="T0" fmla="*/ 11 w 62"/>
                  <a:gd name="T1" fmla="*/ 8 h 72"/>
                  <a:gd name="T2" fmla="*/ 25 w 62"/>
                  <a:gd name="T3" fmla="*/ 44 h 72"/>
                  <a:gd name="T4" fmla="*/ 52 w 62"/>
                  <a:gd name="T5" fmla="*/ 66 h 72"/>
                  <a:gd name="T6" fmla="*/ 42 w 62"/>
                  <a:gd name="T7" fmla="*/ 27 h 72"/>
                  <a:gd name="T8" fmla="*/ 11 w 62"/>
                  <a:gd name="T9" fmla="*/ 8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2">
                    <a:moveTo>
                      <a:pt x="11" y="8"/>
                    </a:moveTo>
                    <a:cubicBezTo>
                      <a:pt x="0" y="18"/>
                      <a:pt x="14" y="34"/>
                      <a:pt x="25" y="44"/>
                    </a:cubicBezTo>
                    <a:cubicBezTo>
                      <a:pt x="35" y="54"/>
                      <a:pt x="44" y="72"/>
                      <a:pt x="52" y="66"/>
                    </a:cubicBezTo>
                    <a:cubicBezTo>
                      <a:pt x="62" y="59"/>
                      <a:pt x="50" y="39"/>
                      <a:pt x="42" y="27"/>
                    </a:cubicBezTo>
                    <a:cubicBezTo>
                      <a:pt x="33" y="14"/>
                      <a:pt x="20" y="0"/>
                      <a:pt x="11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8" name="Freeform 28"/>
              <p:cNvSpPr/>
              <p:nvPr/>
            </p:nvSpPr>
            <p:spPr bwMode="auto">
              <a:xfrm>
                <a:off x="9142684" y="3416299"/>
                <a:ext cx="98425" cy="215900"/>
              </a:xfrm>
              <a:custGeom>
                <a:avLst/>
                <a:gdLst>
                  <a:gd name="T0" fmla="*/ 0 w 62"/>
                  <a:gd name="T1" fmla="*/ 136 h 136"/>
                  <a:gd name="T2" fmla="*/ 59 w 62"/>
                  <a:gd name="T3" fmla="*/ 136 h 136"/>
                  <a:gd name="T4" fmla="*/ 62 w 62"/>
                  <a:gd name="T5" fmla="*/ 3 h 136"/>
                  <a:gd name="T6" fmla="*/ 3 w 62"/>
                  <a:gd name="T7" fmla="*/ 0 h 136"/>
                  <a:gd name="T8" fmla="*/ 0 w 62"/>
                  <a:gd name="T9" fmla="*/ 136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136">
                    <a:moveTo>
                      <a:pt x="0" y="136"/>
                    </a:moveTo>
                    <a:lnTo>
                      <a:pt x="59" y="136"/>
                    </a:lnTo>
                    <a:lnTo>
                      <a:pt x="62" y="3"/>
                    </a:lnTo>
                    <a:lnTo>
                      <a:pt x="3" y="0"/>
                    </a:lnTo>
                    <a:lnTo>
                      <a:pt x="0" y="136"/>
                    </a:lnTo>
                    <a:close/>
                  </a:path>
                </a:pathLst>
              </a:custGeom>
              <a:solidFill>
                <a:srgbClr val="EBCAB7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9" name="Freeform 29"/>
              <p:cNvSpPr/>
              <p:nvPr/>
            </p:nvSpPr>
            <p:spPr bwMode="auto">
              <a:xfrm>
                <a:off x="9041084" y="3228974"/>
                <a:ext cx="246063" cy="271463"/>
              </a:xfrm>
              <a:custGeom>
                <a:avLst/>
                <a:gdLst>
                  <a:gd name="T0" fmla="*/ 32 w 58"/>
                  <a:gd name="T1" fmla="*/ 0 h 64"/>
                  <a:gd name="T2" fmla="*/ 57 w 58"/>
                  <a:gd name="T3" fmla="*/ 32 h 64"/>
                  <a:gd name="T4" fmla="*/ 21 w 58"/>
                  <a:gd name="T5" fmla="*/ 64 h 64"/>
                  <a:gd name="T6" fmla="*/ 2 w 58"/>
                  <a:gd name="T7" fmla="*/ 31 h 64"/>
                  <a:gd name="T8" fmla="*/ 32 w 58"/>
                  <a:gd name="T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64">
                    <a:moveTo>
                      <a:pt x="32" y="0"/>
                    </a:moveTo>
                    <a:cubicBezTo>
                      <a:pt x="47" y="0"/>
                      <a:pt x="58" y="15"/>
                      <a:pt x="57" y="32"/>
                    </a:cubicBezTo>
                    <a:cubicBezTo>
                      <a:pt x="55" y="50"/>
                      <a:pt x="36" y="64"/>
                      <a:pt x="21" y="64"/>
                    </a:cubicBezTo>
                    <a:cubicBezTo>
                      <a:pt x="6" y="63"/>
                      <a:pt x="0" y="49"/>
                      <a:pt x="2" y="31"/>
                    </a:cubicBezTo>
                    <a:cubicBezTo>
                      <a:pt x="3" y="14"/>
                      <a:pt x="17" y="0"/>
                      <a:pt x="32" y="0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0" name="Freeform 30"/>
              <p:cNvSpPr/>
              <p:nvPr/>
            </p:nvSpPr>
            <p:spPr bwMode="auto">
              <a:xfrm>
                <a:off x="9287146" y="3525837"/>
                <a:ext cx="76200" cy="157163"/>
              </a:xfrm>
              <a:custGeom>
                <a:avLst/>
                <a:gdLst>
                  <a:gd name="T0" fmla="*/ 10 w 18"/>
                  <a:gd name="T1" fmla="*/ 37 h 37"/>
                  <a:gd name="T2" fmla="*/ 12 w 18"/>
                  <a:gd name="T3" fmla="*/ 6 h 37"/>
                  <a:gd name="T4" fmla="*/ 10 w 18"/>
                  <a:gd name="T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" h="37">
                    <a:moveTo>
                      <a:pt x="10" y="37"/>
                    </a:moveTo>
                    <a:cubicBezTo>
                      <a:pt x="18" y="32"/>
                      <a:pt x="17" y="13"/>
                      <a:pt x="12" y="6"/>
                    </a:cubicBezTo>
                    <a:cubicBezTo>
                      <a:pt x="6" y="0"/>
                      <a:pt x="0" y="27"/>
                      <a:pt x="10" y="37"/>
                    </a:cubicBez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1" name="Freeform 31"/>
              <p:cNvSpPr/>
              <p:nvPr/>
            </p:nvSpPr>
            <p:spPr bwMode="auto">
              <a:xfrm>
                <a:off x="9134746" y="3875087"/>
                <a:ext cx="317500" cy="300038"/>
              </a:xfrm>
              <a:custGeom>
                <a:avLst/>
                <a:gdLst>
                  <a:gd name="T0" fmla="*/ 0 w 200"/>
                  <a:gd name="T1" fmla="*/ 0 h 189"/>
                  <a:gd name="T2" fmla="*/ 0 w 200"/>
                  <a:gd name="T3" fmla="*/ 155 h 189"/>
                  <a:gd name="T4" fmla="*/ 200 w 200"/>
                  <a:gd name="T5" fmla="*/ 189 h 189"/>
                  <a:gd name="T6" fmla="*/ 200 w 200"/>
                  <a:gd name="T7" fmla="*/ 34 h 189"/>
                  <a:gd name="T8" fmla="*/ 0 w 200"/>
                  <a:gd name="T9" fmla="*/ 0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" h="189">
                    <a:moveTo>
                      <a:pt x="0" y="0"/>
                    </a:moveTo>
                    <a:lnTo>
                      <a:pt x="0" y="155"/>
                    </a:lnTo>
                    <a:lnTo>
                      <a:pt x="200" y="189"/>
                    </a:lnTo>
                    <a:lnTo>
                      <a:pt x="200" y="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4D4D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2" name="Freeform 32"/>
              <p:cNvSpPr/>
              <p:nvPr/>
            </p:nvSpPr>
            <p:spPr bwMode="auto">
              <a:xfrm>
                <a:off x="9134746" y="3849687"/>
                <a:ext cx="360363" cy="79375"/>
              </a:xfrm>
              <a:custGeom>
                <a:avLst/>
                <a:gdLst>
                  <a:gd name="T0" fmla="*/ 10 w 85"/>
                  <a:gd name="T1" fmla="*/ 0 h 19"/>
                  <a:gd name="T2" fmla="*/ 0 w 85"/>
                  <a:gd name="T3" fmla="*/ 6 h 19"/>
                  <a:gd name="T4" fmla="*/ 75 w 85"/>
                  <a:gd name="T5" fmla="*/ 19 h 19"/>
                  <a:gd name="T6" fmla="*/ 85 w 85"/>
                  <a:gd name="T7" fmla="*/ 13 h 19"/>
                  <a:gd name="T8" fmla="*/ 10 w 85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19">
                    <a:moveTo>
                      <a:pt x="10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85" y="13"/>
                      <a:pt x="85" y="13"/>
                      <a:pt x="85" y="13"/>
                    </a:cubicBezTo>
                    <a:cubicBezTo>
                      <a:pt x="85" y="13"/>
                      <a:pt x="14" y="0"/>
                      <a:pt x="10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3" name="Freeform 33"/>
              <p:cNvSpPr/>
              <p:nvPr/>
            </p:nvSpPr>
            <p:spPr bwMode="auto">
              <a:xfrm>
                <a:off x="9452246" y="3903662"/>
                <a:ext cx="42863" cy="271463"/>
              </a:xfrm>
              <a:custGeom>
                <a:avLst/>
                <a:gdLst>
                  <a:gd name="T0" fmla="*/ 27 w 27"/>
                  <a:gd name="T1" fmla="*/ 0 h 171"/>
                  <a:gd name="T2" fmla="*/ 0 w 27"/>
                  <a:gd name="T3" fmla="*/ 16 h 171"/>
                  <a:gd name="T4" fmla="*/ 0 w 27"/>
                  <a:gd name="T5" fmla="*/ 171 h 171"/>
                  <a:gd name="T6" fmla="*/ 27 w 27"/>
                  <a:gd name="T7" fmla="*/ 155 h 171"/>
                  <a:gd name="T8" fmla="*/ 27 w 27"/>
                  <a:gd name="T9" fmla="*/ 0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71">
                    <a:moveTo>
                      <a:pt x="27" y="0"/>
                    </a:moveTo>
                    <a:lnTo>
                      <a:pt x="0" y="16"/>
                    </a:lnTo>
                    <a:lnTo>
                      <a:pt x="0" y="171"/>
                    </a:lnTo>
                    <a:lnTo>
                      <a:pt x="27" y="155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4" name="Freeform 34"/>
              <p:cNvSpPr/>
              <p:nvPr/>
            </p:nvSpPr>
            <p:spPr bwMode="auto">
              <a:xfrm>
                <a:off x="9015684" y="3500437"/>
                <a:ext cx="382588" cy="841375"/>
              </a:xfrm>
              <a:custGeom>
                <a:avLst/>
                <a:gdLst>
                  <a:gd name="T0" fmla="*/ 16 w 90"/>
                  <a:gd name="T1" fmla="*/ 16 h 198"/>
                  <a:gd name="T2" fmla="*/ 12 w 90"/>
                  <a:gd name="T3" fmla="*/ 44 h 198"/>
                  <a:gd name="T4" fmla="*/ 19 w 90"/>
                  <a:gd name="T5" fmla="*/ 67 h 198"/>
                  <a:gd name="T6" fmla="*/ 21 w 90"/>
                  <a:gd name="T7" fmla="*/ 88 h 198"/>
                  <a:gd name="T8" fmla="*/ 0 w 90"/>
                  <a:gd name="T9" fmla="*/ 178 h 198"/>
                  <a:gd name="T10" fmla="*/ 90 w 90"/>
                  <a:gd name="T11" fmla="*/ 175 h 198"/>
                  <a:gd name="T12" fmla="*/ 69 w 90"/>
                  <a:gd name="T13" fmla="*/ 80 h 198"/>
                  <a:gd name="T14" fmla="*/ 75 w 90"/>
                  <a:gd name="T15" fmla="*/ 43 h 198"/>
                  <a:gd name="T16" fmla="*/ 67 w 90"/>
                  <a:gd name="T17" fmla="*/ 3 h 198"/>
                  <a:gd name="T18" fmla="*/ 52 w 90"/>
                  <a:gd name="T19" fmla="*/ 3 h 198"/>
                  <a:gd name="T20" fmla="*/ 52 w 90"/>
                  <a:gd name="T21" fmla="*/ 3 h 198"/>
                  <a:gd name="T22" fmla="*/ 17 w 90"/>
                  <a:gd name="T23" fmla="*/ 15 h 198"/>
                  <a:gd name="T24" fmla="*/ 16 w 90"/>
                  <a:gd name="T25" fmla="*/ 16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198">
                    <a:moveTo>
                      <a:pt x="16" y="16"/>
                    </a:moveTo>
                    <a:cubicBezTo>
                      <a:pt x="5" y="23"/>
                      <a:pt x="15" y="36"/>
                      <a:pt x="12" y="44"/>
                    </a:cubicBezTo>
                    <a:cubicBezTo>
                      <a:pt x="8" y="51"/>
                      <a:pt x="6" y="57"/>
                      <a:pt x="19" y="67"/>
                    </a:cubicBezTo>
                    <a:cubicBezTo>
                      <a:pt x="22" y="70"/>
                      <a:pt x="23" y="76"/>
                      <a:pt x="21" y="88"/>
                    </a:cubicBezTo>
                    <a:cubicBezTo>
                      <a:pt x="20" y="97"/>
                      <a:pt x="10" y="158"/>
                      <a:pt x="0" y="178"/>
                    </a:cubicBezTo>
                    <a:cubicBezTo>
                      <a:pt x="8" y="198"/>
                      <a:pt x="84" y="195"/>
                      <a:pt x="90" y="175"/>
                    </a:cubicBezTo>
                    <a:cubicBezTo>
                      <a:pt x="77" y="151"/>
                      <a:pt x="89" y="115"/>
                      <a:pt x="69" y="80"/>
                    </a:cubicBezTo>
                    <a:cubicBezTo>
                      <a:pt x="63" y="68"/>
                      <a:pt x="74" y="52"/>
                      <a:pt x="75" y="43"/>
                    </a:cubicBezTo>
                    <a:cubicBezTo>
                      <a:pt x="79" y="25"/>
                      <a:pt x="79" y="7"/>
                      <a:pt x="67" y="3"/>
                    </a:cubicBezTo>
                    <a:cubicBezTo>
                      <a:pt x="62" y="1"/>
                      <a:pt x="60" y="0"/>
                      <a:pt x="52" y="3"/>
                    </a:cubicBezTo>
                    <a:cubicBezTo>
                      <a:pt x="52" y="3"/>
                      <a:pt x="52" y="3"/>
                      <a:pt x="52" y="3"/>
                    </a:cubicBezTo>
                    <a:cubicBezTo>
                      <a:pt x="49" y="13"/>
                      <a:pt x="26" y="17"/>
                      <a:pt x="17" y="15"/>
                    </a:cubicBezTo>
                    <a:lnTo>
                      <a:pt x="16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5" name="Freeform 35"/>
              <p:cNvSpPr/>
              <p:nvPr/>
            </p:nvSpPr>
            <p:spPr bwMode="auto">
              <a:xfrm>
                <a:off x="9360171" y="3687762"/>
                <a:ext cx="104775" cy="139700"/>
              </a:xfrm>
              <a:custGeom>
                <a:avLst/>
                <a:gdLst>
                  <a:gd name="T0" fmla="*/ 0 w 25"/>
                  <a:gd name="T1" fmla="*/ 27 h 33"/>
                  <a:gd name="T2" fmla="*/ 25 w 25"/>
                  <a:gd name="T3" fmla="*/ 32 h 33"/>
                  <a:gd name="T4" fmla="*/ 22 w 25"/>
                  <a:gd name="T5" fmla="*/ 10 h 33"/>
                  <a:gd name="T6" fmla="*/ 2 w 25"/>
                  <a:gd name="T7" fmla="*/ 11 h 33"/>
                  <a:gd name="T8" fmla="*/ 0 w 25"/>
                  <a:gd name="T9" fmla="*/ 2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33">
                    <a:moveTo>
                      <a:pt x="0" y="27"/>
                    </a:moveTo>
                    <a:cubicBezTo>
                      <a:pt x="6" y="29"/>
                      <a:pt x="16" y="33"/>
                      <a:pt x="25" y="32"/>
                    </a:cubicBezTo>
                    <a:cubicBezTo>
                      <a:pt x="25" y="27"/>
                      <a:pt x="25" y="20"/>
                      <a:pt x="22" y="10"/>
                    </a:cubicBezTo>
                    <a:cubicBezTo>
                      <a:pt x="20" y="0"/>
                      <a:pt x="3" y="5"/>
                      <a:pt x="2" y="11"/>
                    </a:cubicBezTo>
                    <a:cubicBezTo>
                      <a:pt x="1" y="17"/>
                      <a:pt x="0" y="21"/>
                      <a:pt x="0" y="2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6" name="Freeform 36"/>
              <p:cNvSpPr/>
              <p:nvPr/>
            </p:nvSpPr>
            <p:spPr bwMode="auto">
              <a:xfrm>
                <a:off x="9180784" y="3475037"/>
                <a:ext cx="314325" cy="463550"/>
              </a:xfrm>
              <a:custGeom>
                <a:avLst/>
                <a:gdLst>
                  <a:gd name="T0" fmla="*/ 64 w 74"/>
                  <a:gd name="T1" fmla="*/ 108 h 109"/>
                  <a:gd name="T2" fmla="*/ 64 w 74"/>
                  <a:gd name="T3" fmla="*/ 106 h 109"/>
                  <a:gd name="T4" fmla="*/ 2 w 74"/>
                  <a:gd name="T5" fmla="*/ 7 h 109"/>
                  <a:gd name="T6" fmla="*/ 0 w 74"/>
                  <a:gd name="T7" fmla="*/ 7 h 109"/>
                  <a:gd name="T8" fmla="*/ 0 w 74"/>
                  <a:gd name="T9" fmla="*/ 0 h 109"/>
                  <a:gd name="T10" fmla="*/ 3 w 74"/>
                  <a:gd name="T11" fmla="*/ 0 h 109"/>
                  <a:gd name="T12" fmla="*/ 74 w 74"/>
                  <a:gd name="T13" fmla="*/ 106 h 109"/>
                  <a:gd name="T14" fmla="*/ 73 w 74"/>
                  <a:gd name="T15" fmla="*/ 109 h 109"/>
                  <a:gd name="T16" fmla="*/ 64 w 74"/>
                  <a:gd name="T17" fmla="*/ 108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" h="109">
                    <a:moveTo>
                      <a:pt x="64" y="108"/>
                    </a:moveTo>
                    <a:cubicBezTo>
                      <a:pt x="64" y="108"/>
                      <a:pt x="64" y="107"/>
                      <a:pt x="64" y="106"/>
                    </a:cubicBezTo>
                    <a:cubicBezTo>
                      <a:pt x="51" y="72"/>
                      <a:pt x="32" y="23"/>
                      <a:pt x="2" y="7"/>
                    </a:cubicBezTo>
                    <a:cubicBezTo>
                      <a:pt x="2" y="7"/>
                      <a:pt x="1" y="6"/>
                      <a:pt x="0" y="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36" y="15"/>
                      <a:pt x="55" y="62"/>
                      <a:pt x="74" y="106"/>
                    </a:cubicBezTo>
                    <a:cubicBezTo>
                      <a:pt x="74" y="107"/>
                      <a:pt x="74" y="108"/>
                      <a:pt x="73" y="109"/>
                    </a:cubicBezTo>
                    <a:lnTo>
                      <a:pt x="64" y="108"/>
                    </a:lnTo>
                    <a:close/>
                  </a:path>
                </a:pathLst>
              </a:custGeom>
              <a:solidFill>
                <a:srgbClr val="666666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7" name="Freeform 37"/>
              <p:cNvSpPr/>
              <p:nvPr/>
            </p:nvSpPr>
            <p:spPr bwMode="auto">
              <a:xfrm>
                <a:off x="9091884" y="3773487"/>
                <a:ext cx="233363" cy="122238"/>
              </a:xfrm>
              <a:custGeom>
                <a:avLst/>
                <a:gdLst>
                  <a:gd name="T0" fmla="*/ 2 w 55"/>
                  <a:gd name="T1" fmla="*/ 6 h 29"/>
                  <a:gd name="T2" fmla="*/ 51 w 55"/>
                  <a:gd name="T3" fmla="*/ 0 h 29"/>
                  <a:gd name="T4" fmla="*/ 54 w 55"/>
                  <a:gd name="T5" fmla="*/ 20 h 29"/>
                  <a:gd name="T6" fmla="*/ 3 w 55"/>
                  <a:gd name="T7" fmla="*/ 26 h 29"/>
                  <a:gd name="T8" fmla="*/ 2 w 55"/>
                  <a:gd name="T9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9">
                    <a:moveTo>
                      <a:pt x="2" y="6"/>
                    </a:moveTo>
                    <a:cubicBezTo>
                      <a:pt x="21" y="8"/>
                      <a:pt x="32" y="7"/>
                      <a:pt x="51" y="0"/>
                    </a:cubicBezTo>
                    <a:cubicBezTo>
                      <a:pt x="53" y="1"/>
                      <a:pt x="55" y="18"/>
                      <a:pt x="54" y="20"/>
                    </a:cubicBezTo>
                    <a:cubicBezTo>
                      <a:pt x="32" y="28"/>
                      <a:pt x="22" y="29"/>
                      <a:pt x="3" y="26"/>
                    </a:cubicBezTo>
                    <a:cubicBezTo>
                      <a:pt x="1" y="22"/>
                      <a:pt x="0" y="9"/>
                      <a:pt x="2" y="6"/>
                    </a:cubicBezTo>
                    <a:close/>
                  </a:path>
                </a:pathLst>
              </a:custGeom>
              <a:solidFill>
                <a:srgbClr val="4D4D4D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8" name="Freeform 38"/>
              <p:cNvSpPr/>
              <p:nvPr/>
            </p:nvSpPr>
            <p:spPr bwMode="auto">
              <a:xfrm>
                <a:off x="8901384" y="3560762"/>
                <a:ext cx="258763" cy="284163"/>
              </a:xfrm>
              <a:custGeom>
                <a:avLst/>
                <a:gdLst>
                  <a:gd name="T0" fmla="*/ 50 w 61"/>
                  <a:gd name="T1" fmla="*/ 8 h 67"/>
                  <a:gd name="T2" fmla="*/ 23 w 61"/>
                  <a:gd name="T3" fmla="*/ 29 h 67"/>
                  <a:gd name="T4" fmla="*/ 8 w 61"/>
                  <a:gd name="T5" fmla="*/ 60 h 67"/>
                  <a:gd name="T6" fmla="*/ 35 w 61"/>
                  <a:gd name="T7" fmla="*/ 47 h 67"/>
                  <a:gd name="T8" fmla="*/ 50 w 61"/>
                  <a:gd name="T9" fmla="*/ 8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" h="67">
                    <a:moveTo>
                      <a:pt x="50" y="8"/>
                    </a:moveTo>
                    <a:cubicBezTo>
                      <a:pt x="38" y="0"/>
                      <a:pt x="29" y="16"/>
                      <a:pt x="23" y="29"/>
                    </a:cubicBezTo>
                    <a:cubicBezTo>
                      <a:pt x="17" y="42"/>
                      <a:pt x="0" y="54"/>
                      <a:pt x="8" y="60"/>
                    </a:cubicBezTo>
                    <a:cubicBezTo>
                      <a:pt x="18" y="67"/>
                      <a:pt x="22" y="55"/>
                      <a:pt x="35" y="47"/>
                    </a:cubicBezTo>
                    <a:cubicBezTo>
                      <a:pt x="56" y="35"/>
                      <a:pt x="61" y="14"/>
                      <a:pt x="50" y="8"/>
                    </a:cubicBezTo>
                    <a:close/>
                  </a:path>
                </a:pathLst>
              </a:custGeom>
              <a:solidFill>
                <a:srgbClr val="E6E6E6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9" name="Freeform 39"/>
              <p:cNvSpPr/>
              <p:nvPr/>
            </p:nvSpPr>
            <p:spPr bwMode="auto">
              <a:xfrm>
                <a:off x="8680721" y="3581399"/>
                <a:ext cx="101600" cy="119063"/>
              </a:xfrm>
              <a:custGeom>
                <a:avLst/>
                <a:gdLst>
                  <a:gd name="T0" fmla="*/ 15 w 24"/>
                  <a:gd name="T1" fmla="*/ 27 h 28"/>
                  <a:gd name="T2" fmla="*/ 8 w 24"/>
                  <a:gd name="T3" fmla="*/ 21 h 28"/>
                  <a:gd name="T4" fmla="*/ 8 w 24"/>
                  <a:gd name="T5" fmla="*/ 17 h 28"/>
                  <a:gd name="T6" fmla="*/ 5 w 24"/>
                  <a:gd name="T7" fmla="*/ 12 h 28"/>
                  <a:gd name="T8" fmla="*/ 10 w 24"/>
                  <a:gd name="T9" fmla="*/ 15 h 28"/>
                  <a:gd name="T10" fmla="*/ 14 w 24"/>
                  <a:gd name="T11" fmla="*/ 14 h 28"/>
                  <a:gd name="T12" fmla="*/ 18 w 24"/>
                  <a:gd name="T13" fmla="*/ 12 h 28"/>
                  <a:gd name="T14" fmla="*/ 15 w 24"/>
                  <a:gd name="T15" fmla="*/ 2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" h="28">
                    <a:moveTo>
                      <a:pt x="15" y="27"/>
                    </a:moveTo>
                    <a:cubicBezTo>
                      <a:pt x="11" y="25"/>
                      <a:pt x="9" y="24"/>
                      <a:pt x="8" y="21"/>
                    </a:cubicBezTo>
                    <a:cubicBezTo>
                      <a:pt x="7" y="20"/>
                      <a:pt x="6" y="19"/>
                      <a:pt x="8" y="17"/>
                    </a:cubicBezTo>
                    <a:cubicBezTo>
                      <a:pt x="6" y="16"/>
                      <a:pt x="4" y="13"/>
                      <a:pt x="5" y="12"/>
                    </a:cubicBezTo>
                    <a:cubicBezTo>
                      <a:pt x="6" y="11"/>
                      <a:pt x="7" y="14"/>
                      <a:pt x="10" y="15"/>
                    </a:cubicBezTo>
                    <a:cubicBezTo>
                      <a:pt x="6" y="12"/>
                      <a:pt x="0" y="0"/>
                      <a:pt x="14" y="14"/>
                    </a:cubicBezTo>
                    <a:cubicBezTo>
                      <a:pt x="12" y="11"/>
                      <a:pt x="12" y="6"/>
                      <a:pt x="18" y="12"/>
                    </a:cubicBezTo>
                    <a:cubicBezTo>
                      <a:pt x="24" y="19"/>
                      <a:pt x="22" y="28"/>
                      <a:pt x="15" y="27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0" name="Freeform 40"/>
              <p:cNvSpPr/>
              <p:nvPr/>
            </p:nvSpPr>
            <p:spPr bwMode="auto">
              <a:xfrm>
                <a:off x="8739459" y="3654424"/>
                <a:ext cx="271463" cy="173038"/>
              </a:xfrm>
              <a:custGeom>
                <a:avLst/>
                <a:gdLst>
                  <a:gd name="T0" fmla="*/ 46 w 64"/>
                  <a:gd name="T1" fmla="*/ 36 h 41"/>
                  <a:gd name="T2" fmla="*/ 2 w 64"/>
                  <a:gd name="T3" fmla="*/ 7 h 41"/>
                  <a:gd name="T4" fmla="*/ 4 w 64"/>
                  <a:gd name="T5" fmla="*/ 3 h 41"/>
                  <a:gd name="T6" fmla="*/ 56 w 64"/>
                  <a:gd name="T7" fmla="*/ 24 h 41"/>
                  <a:gd name="T8" fmla="*/ 46 w 64"/>
                  <a:gd name="T9" fmla="*/ 3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41">
                    <a:moveTo>
                      <a:pt x="46" y="36"/>
                    </a:moveTo>
                    <a:cubicBezTo>
                      <a:pt x="38" y="31"/>
                      <a:pt x="0" y="12"/>
                      <a:pt x="2" y="7"/>
                    </a:cubicBezTo>
                    <a:cubicBezTo>
                      <a:pt x="1" y="4"/>
                      <a:pt x="0" y="4"/>
                      <a:pt x="4" y="3"/>
                    </a:cubicBezTo>
                    <a:cubicBezTo>
                      <a:pt x="7" y="0"/>
                      <a:pt x="46" y="17"/>
                      <a:pt x="56" y="24"/>
                    </a:cubicBezTo>
                    <a:cubicBezTo>
                      <a:pt x="64" y="30"/>
                      <a:pt x="57" y="41"/>
                      <a:pt x="46" y="36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1" name="Freeform 41"/>
              <p:cNvSpPr/>
              <p:nvPr/>
            </p:nvSpPr>
            <p:spPr bwMode="auto">
              <a:xfrm>
                <a:off x="8901384" y="3543299"/>
                <a:ext cx="263525" cy="301625"/>
              </a:xfrm>
              <a:custGeom>
                <a:avLst/>
                <a:gdLst>
                  <a:gd name="T0" fmla="*/ 52 w 62"/>
                  <a:gd name="T1" fmla="*/ 7 h 71"/>
                  <a:gd name="T2" fmla="*/ 23 w 62"/>
                  <a:gd name="T3" fmla="*/ 30 h 71"/>
                  <a:gd name="T4" fmla="*/ 8 w 62"/>
                  <a:gd name="T5" fmla="*/ 64 h 71"/>
                  <a:gd name="T6" fmla="*/ 42 w 62"/>
                  <a:gd name="T7" fmla="*/ 42 h 71"/>
                  <a:gd name="T8" fmla="*/ 52 w 62"/>
                  <a:gd name="T9" fmla="*/ 7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1">
                    <a:moveTo>
                      <a:pt x="52" y="7"/>
                    </a:moveTo>
                    <a:cubicBezTo>
                      <a:pt x="41" y="0"/>
                      <a:pt x="29" y="17"/>
                      <a:pt x="23" y="30"/>
                    </a:cubicBezTo>
                    <a:cubicBezTo>
                      <a:pt x="17" y="43"/>
                      <a:pt x="0" y="58"/>
                      <a:pt x="8" y="64"/>
                    </a:cubicBezTo>
                    <a:cubicBezTo>
                      <a:pt x="18" y="71"/>
                      <a:pt x="33" y="54"/>
                      <a:pt x="42" y="42"/>
                    </a:cubicBezTo>
                    <a:cubicBezTo>
                      <a:pt x="52" y="31"/>
                      <a:pt x="62" y="13"/>
                      <a:pt x="52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2" name="Freeform 42"/>
              <p:cNvSpPr/>
              <p:nvPr/>
            </p:nvSpPr>
            <p:spPr bwMode="auto">
              <a:xfrm>
                <a:off x="8998221" y="3200399"/>
                <a:ext cx="331788" cy="406400"/>
              </a:xfrm>
              <a:custGeom>
                <a:avLst/>
                <a:gdLst>
                  <a:gd name="T0" fmla="*/ 13 w 78"/>
                  <a:gd name="T1" fmla="*/ 30 h 96"/>
                  <a:gd name="T2" fmla="*/ 29 w 78"/>
                  <a:gd name="T3" fmla="*/ 41 h 96"/>
                  <a:gd name="T4" fmla="*/ 11 w 78"/>
                  <a:gd name="T5" fmla="*/ 94 h 96"/>
                  <a:gd name="T6" fmla="*/ 70 w 78"/>
                  <a:gd name="T7" fmla="*/ 57 h 96"/>
                  <a:gd name="T8" fmla="*/ 53 w 78"/>
                  <a:gd name="T9" fmla="*/ 6 h 96"/>
                  <a:gd name="T10" fmla="*/ 13 w 78"/>
                  <a:gd name="T11" fmla="*/ 3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" h="96">
                    <a:moveTo>
                      <a:pt x="13" y="30"/>
                    </a:moveTo>
                    <a:cubicBezTo>
                      <a:pt x="17" y="37"/>
                      <a:pt x="27" y="39"/>
                      <a:pt x="29" y="41"/>
                    </a:cubicBezTo>
                    <a:cubicBezTo>
                      <a:pt x="37" y="51"/>
                      <a:pt x="24" y="83"/>
                      <a:pt x="11" y="94"/>
                    </a:cubicBezTo>
                    <a:cubicBezTo>
                      <a:pt x="24" y="96"/>
                      <a:pt x="56" y="74"/>
                      <a:pt x="70" y="57"/>
                    </a:cubicBezTo>
                    <a:cubicBezTo>
                      <a:pt x="78" y="48"/>
                      <a:pt x="78" y="14"/>
                      <a:pt x="53" y="6"/>
                    </a:cubicBezTo>
                    <a:cubicBezTo>
                      <a:pt x="33" y="0"/>
                      <a:pt x="0" y="9"/>
                      <a:pt x="13" y="30"/>
                    </a:cubicBezTo>
                    <a:close/>
                  </a:path>
                </a:pathLst>
              </a:custGeom>
              <a:solidFill>
                <a:srgbClr val="BD7B42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3" name="Freeform 43"/>
              <p:cNvSpPr/>
              <p:nvPr/>
            </p:nvSpPr>
            <p:spPr bwMode="auto">
              <a:xfrm>
                <a:off x="9096646" y="3357562"/>
                <a:ext cx="38100" cy="53975"/>
              </a:xfrm>
              <a:custGeom>
                <a:avLst/>
                <a:gdLst>
                  <a:gd name="T0" fmla="*/ 5 w 9"/>
                  <a:gd name="T1" fmla="*/ 0 h 13"/>
                  <a:gd name="T2" fmla="*/ 0 w 9"/>
                  <a:gd name="T3" fmla="*/ 6 h 13"/>
                  <a:gd name="T4" fmla="*/ 4 w 9"/>
                  <a:gd name="T5" fmla="*/ 13 h 13"/>
                  <a:gd name="T6" fmla="*/ 9 w 9"/>
                  <a:gd name="T7" fmla="*/ 7 h 13"/>
                  <a:gd name="T8" fmla="*/ 5 w 9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3">
                    <a:moveTo>
                      <a:pt x="5" y="0"/>
                    </a:moveTo>
                    <a:cubicBezTo>
                      <a:pt x="3" y="0"/>
                      <a:pt x="0" y="2"/>
                      <a:pt x="0" y="6"/>
                    </a:cubicBezTo>
                    <a:cubicBezTo>
                      <a:pt x="0" y="10"/>
                      <a:pt x="1" y="13"/>
                      <a:pt x="4" y="13"/>
                    </a:cubicBezTo>
                    <a:cubicBezTo>
                      <a:pt x="6" y="13"/>
                      <a:pt x="9" y="11"/>
                      <a:pt x="9" y="7"/>
                    </a:cubicBezTo>
                    <a:cubicBezTo>
                      <a:pt x="9" y="3"/>
                      <a:pt x="8" y="0"/>
                      <a:pt x="5" y="0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4" name="Freeform 44"/>
              <p:cNvSpPr/>
              <p:nvPr/>
            </p:nvSpPr>
            <p:spPr bwMode="auto">
              <a:xfrm>
                <a:off x="8863284" y="3717924"/>
                <a:ext cx="134938" cy="109538"/>
              </a:xfrm>
              <a:custGeom>
                <a:avLst/>
                <a:gdLst>
                  <a:gd name="T0" fmla="*/ 10 w 32"/>
                  <a:gd name="T1" fmla="*/ 0 h 26"/>
                  <a:gd name="T2" fmla="*/ 0 w 32"/>
                  <a:gd name="T3" fmla="*/ 24 h 26"/>
                  <a:gd name="T4" fmla="*/ 22 w 32"/>
                  <a:gd name="T5" fmla="*/ 25 h 26"/>
                  <a:gd name="T6" fmla="*/ 25 w 32"/>
                  <a:gd name="T7" fmla="*/ 5 h 26"/>
                  <a:gd name="T8" fmla="*/ 10 w 32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6">
                    <a:moveTo>
                      <a:pt x="10" y="0"/>
                    </a:moveTo>
                    <a:cubicBezTo>
                      <a:pt x="6" y="5"/>
                      <a:pt x="1" y="15"/>
                      <a:pt x="0" y="24"/>
                    </a:cubicBezTo>
                    <a:cubicBezTo>
                      <a:pt x="5" y="25"/>
                      <a:pt x="12" y="26"/>
                      <a:pt x="22" y="25"/>
                    </a:cubicBezTo>
                    <a:cubicBezTo>
                      <a:pt x="32" y="24"/>
                      <a:pt x="30" y="7"/>
                      <a:pt x="25" y="5"/>
                    </a:cubicBezTo>
                    <a:cubicBezTo>
                      <a:pt x="19" y="2"/>
                      <a:pt x="16" y="1"/>
                      <a:pt x="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5" name="Freeform 45"/>
              <p:cNvSpPr/>
              <p:nvPr/>
            </p:nvSpPr>
            <p:spPr bwMode="auto">
              <a:xfrm>
                <a:off x="9020446" y="3241674"/>
                <a:ext cx="79375" cy="187325"/>
              </a:xfrm>
              <a:custGeom>
                <a:avLst/>
                <a:gdLst>
                  <a:gd name="T0" fmla="*/ 12 w 19"/>
                  <a:gd name="T1" fmla="*/ 44 h 44"/>
                  <a:gd name="T2" fmla="*/ 12 w 19"/>
                  <a:gd name="T3" fmla="*/ 0 h 44"/>
                  <a:gd name="T4" fmla="*/ 16 w 19"/>
                  <a:gd name="T5" fmla="*/ 11 h 44"/>
                  <a:gd name="T6" fmla="*/ 12 w 19"/>
                  <a:gd name="T7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44">
                    <a:moveTo>
                      <a:pt x="12" y="44"/>
                    </a:moveTo>
                    <a:cubicBezTo>
                      <a:pt x="0" y="34"/>
                      <a:pt x="0" y="6"/>
                      <a:pt x="12" y="0"/>
                    </a:cubicBezTo>
                    <a:cubicBezTo>
                      <a:pt x="18" y="2"/>
                      <a:pt x="19" y="8"/>
                      <a:pt x="16" y="11"/>
                    </a:cubicBezTo>
                    <a:cubicBezTo>
                      <a:pt x="10" y="18"/>
                      <a:pt x="9" y="35"/>
                      <a:pt x="12" y="44"/>
                    </a:cubicBezTo>
                    <a:close/>
                  </a:path>
                </a:pathLst>
              </a:custGeom>
              <a:solidFill>
                <a:srgbClr val="BD7B42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6" name="Freeform 46"/>
              <p:cNvSpPr/>
              <p:nvPr/>
            </p:nvSpPr>
            <p:spPr bwMode="auto">
              <a:xfrm>
                <a:off x="7953646" y="1252537"/>
                <a:ext cx="217488" cy="207963"/>
              </a:xfrm>
              <a:custGeom>
                <a:avLst/>
                <a:gdLst>
                  <a:gd name="T0" fmla="*/ 7 w 51"/>
                  <a:gd name="T1" fmla="*/ 49 h 49"/>
                  <a:gd name="T2" fmla="*/ 51 w 51"/>
                  <a:gd name="T3" fmla="*/ 14 h 49"/>
                  <a:gd name="T4" fmla="*/ 35 w 51"/>
                  <a:gd name="T5" fmla="*/ 0 h 49"/>
                  <a:gd name="T6" fmla="*/ 0 w 51"/>
                  <a:gd name="T7" fmla="*/ 41 h 49"/>
                  <a:gd name="T8" fmla="*/ 7 w 51"/>
                  <a:gd name="T9" fmla="*/ 4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49">
                    <a:moveTo>
                      <a:pt x="7" y="49"/>
                    </a:moveTo>
                    <a:cubicBezTo>
                      <a:pt x="18" y="41"/>
                      <a:pt x="35" y="31"/>
                      <a:pt x="51" y="14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23" y="14"/>
                      <a:pt x="11" y="32"/>
                      <a:pt x="0" y="41"/>
                    </a:cubicBezTo>
                    <a:cubicBezTo>
                      <a:pt x="2" y="44"/>
                      <a:pt x="3" y="47"/>
                      <a:pt x="7" y="49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7" name="Freeform 47"/>
              <p:cNvSpPr/>
              <p:nvPr/>
            </p:nvSpPr>
            <p:spPr bwMode="auto">
              <a:xfrm>
                <a:off x="8085409" y="963612"/>
                <a:ext cx="182563" cy="344488"/>
              </a:xfrm>
              <a:custGeom>
                <a:avLst/>
                <a:gdLst>
                  <a:gd name="T0" fmla="*/ 29 w 43"/>
                  <a:gd name="T1" fmla="*/ 1 h 81"/>
                  <a:gd name="T2" fmla="*/ 8 w 43"/>
                  <a:gd name="T3" fmla="*/ 40 h 81"/>
                  <a:gd name="T4" fmla="*/ 12 w 43"/>
                  <a:gd name="T5" fmla="*/ 79 h 81"/>
                  <a:gd name="T6" fmla="*/ 36 w 43"/>
                  <a:gd name="T7" fmla="*/ 39 h 81"/>
                  <a:gd name="T8" fmla="*/ 29 w 43"/>
                  <a:gd name="T9" fmla="*/ 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81">
                    <a:moveTo>
                      <a:pt x="29" y="1"/>
                    </a:moveTo>
                    <a:cubicBezTo>
                      <a:pt x="12" y="0"/>
                      <a:pt x="8" y="24"/>
                      <a:pt x="8" y="40"/>
                    </a:cubicBezTo>
                    <a:cubicBezTo>
                      <a:pt x="8" y="56"/>
                      <a:pt x="0" y="78"/>
                      <a:pt x="12" y="79"/>
                    </a:cubicBezTo>
                    <a:cubicBezTo>
                      <a:pt x="26" y="81"/>
                      <a:pt x="33" y="55"/>
                      <a:pt x="36" y="39"/>
                    </a:cubicBezTo>
                    <a:cubicBezTo>
                      <a:pt x="40" y="22"/>
                      <a:pt x="43" y="1"/>
                      <a:pt x="29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8" name="Freeform 48"/>
              <p:cNvSpPr/>
              <p:nvPr/>
            </p:nvSpPr>
            <p:spPr bwMode="auto">
              <a:xfrm>
                <a:off x="7912371" y="1374774"/>
                <a:ext cx="122238" cy="106363"/>
              </a:xfrm>
              <a:custGeom>
                <a:avLst/>
                <a:gdLst>
                  <a:gd name="T0" fmla="*/ 24 w 29"/>
                  <a:gd name="T1" fmla="*/ 17 h 25"/>
                  <a:gd name="T2" fmla="*/ 16 w 29"/>
                  <a:gd name="T3" fmla="*/ 24 h 25"/>
                  <a:gd name="T4" fmla="*/ 10 w 29"/>
                  <a:gd name="T5" fmla="*/ 23 h 25"/>
                  <a:gd name="T6" fmla="*/ 6 w 29"/>
                  <a:gd name="T7" fmla="*/ 18 h 25"/>
                  <a:gd name="T8" fmla="*/ 11 w 29"/>
                  <a:gd name="T9" fmla="*/ 9 h 25"/>
                  <a:gd name="T10" fmla="*/ 24 w 29"/>
                  <a:gd name="T11" fmla="*/ 17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" h="25">
                    <a:moveTo>
                      <a:pt x="24" y="17"/>
                    </a:moveTo>
                    <a:cubicBezTo>
                      <a:pt x="21" y="21"/>
                      <a:pt x="20" y="23"/>
                      <a:pt x="16" y="24"/>
                    </a:cubicBezTo>
                    <a:cubicBezTo>
                      <a:pt x="12" y="25"/>
                      <a:pt x="10" y="23"/>
                      <a:pt x="10" y="23"/>
                    </a:cubicBezTo>
                    <a:cubicBezTo>
                      <a:pt x="7" y="25"/>
                      <a:pt x="2" y="23"/>
                      <a:pt x="6" y="18"/>
                    </a:cubicBezTo>
                    <a:cubicBezTo>
                      <a:pt x="6" y="18"/>
                      <a:pt x="0" y="18"/>
                      <a:pt x="11" y="9"/>
                    </a:cubicBezTo>
                    <a:cubicBezTo>
                      <a:pt x="21" y="0"/>
                      <a:pt x="29" y="10"/>
                      <a:pt x="24" y="17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9" name="Freeform 49"/>
              <p:cNvSpPr/>
              <p:nvPr/>
            </p:nvSpPr>
            <p:spPr bwMode="auto">
              <a:xfrm>
                <a:off x="8047309" y="1196974"/>
                <a:ext cx="169863" cy="177800"/>
              </a:xfrm>
              <a:custGeom>
                <a:avLst/>
                <a:gdLst>
                  <a:gd name="T0" fmla="*/ 31 w 40"/>
                  <a:gd name="T1" fmla="*/ 26 h 42"/>
                  <a:gd name="T2" fmla="*/ 14 w 40"/>
                  <a:gd name="T3" fmla="*/ 42 h 42"/>
                  <a:gd name="T4" fmla="*/ 0 w 40"/>
                  <a:gd name="T5" fmla="*/ 27 h 42"/>
                  <a:gd name="T6" fmla="*/ 16 w 40"/>
                  <a:gd name="T7" fmla="*/ 7 h 42"/>
                  <a:gd name="T8" fmla="*/ 31 w 40"/>
                  <a:gd name="T9" fmla="*/ 2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2">
                    <a:moveTo>
                      <a:pt x="31" y="26"/>
                    </a:moveTo>
                    <a:cubicBezTo>
                      <a:pt x="22" y="35"/>
                      <a:pt x="25" y="32"/>
                      <a:pt x="14" y="42"/>
                    </a:cubicBezTo>
                    <a:cubicBezTo>
                      <a:pt x="12" y="36"/>
                      <a:pt x="6" y="29"/>
                      <a:pt x="0" y="27"/>
                    </a:cubicBezTo>
                    <a:cubicBezTo>
                      <a:pt x="7" y="17"/>
                      <a:pt x="6" y="14"/>
                      <a:pt x="16" y="7"/>
                    </a:cubicBezTo>
                    <a:cubicBezTo>
                      <a:pt x="26" y="0"/>
                      <a:pt x="40" y="15"/>
                      <a:pt x="31" y="26"/>
                    </a:cubicBezTo>
                    <a:close/>
                  </a:path>
                </a:pathLst>
              </a:custGeom>
              <a:solidFill>
                <a:srgbClr val="4D4D4D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0" name="Freeform 50"/>
              <p:cNvSpPr/>
              <p:nvPr/>
            </p:nvSpPr>
            <p:spPr bwMode="auto">
              <a:xfrm>
                <a:off x="8115571" y="1044574"/>
                <a:ext cx="157163" cy="271463"/>
              </a:xfrm>
              <a:custGeom>
                <a:avLst/>
                <a:gdLst>
                  <a:gd name="T0" fmla="*/ 13 w 37"/>
                  <a:gd name="T1" fmla="*/ 9 h 64"/>
                  <a:gd name="T2" fmla="*/ 17 w 37"/>
                  <a:gd name="T3" fmla="*/ 57 h 64"/>
                  <a:gd name="T4" fmla="*/ 13 w 37"/>
                  <a:gd name="T5" fmla="*/ 9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" h="64">
                    <a:moveTo>
                      <a:pt x="13" y="9"/>
                    </a:moveTo>
                    <a:cubicBezTo>
                      <a:pt x="5" y="25"/>
                      <a:pt x="0" y="48"/>
                      <a:pt x="17" y="57"/>
                    </a:cubicBezTo>
                    <a:cubicBezTo>
                      <a:pt x="30" y="64"/>
                      <a:pt x="37" y="0"/>
                      <a:pt x="13" y="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1" name="Freeform 51"/>
              <p:cNvSpPr/>
              <p:nvPr/>
            </p:nvSpPr>
            <p:spPr bwMode="auto">
              <a:xfrm>
                <a:off x="8018734" y="1269999"/>
                <a:ext cx="139700" cy="130175"/>
              </a:xfrm>
              <a:custGeom>
                <a:avLst/>
                <a:gdLst>
                  <a:gd name="T0" fmla="*/ 24 w 33"/>
                  <a:gd name="T1" fmla="*/ 26 h 31"/>
                  <a:gd name="T2" fmla="*/ 31 w 33"/>
                  <a:gd name="T3" fmla="*/ 19 h 31"/>
                  <a:gd name="T4" fmla="*/ 18 w 33"/>
                  <a:gd name="T5" fmla="*/ 10 h 31"/>
                  <a:gd name="T6" fmla="*/ 9 w 33"/>
                  <a:gd name="T7" fmla="*/ 1 h 31"/>
                  <a:gd name="T8" fmla="*/ 3 w 33"/>
                  <a:gd name="T9" fmla="*/ 7 h 31"/>
                  <a:gd name="T10" fmla="*/ 24 w 33"/>
                  <a:gd name="T11" fmla="*/ 2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1">
                    <a:moveTo>
                      <a:pt x="24" y="26"/>
                    </a:moveTo>
                    <a:cubicBezTo>
                      <a:pt x="27" y="24"/>
                      <a:pt x="29" y="21"/>
                      <a:pt x="31" y="19"/>
                    </a:cubicBezTo>
                    <a:cubicBezTo>
                      <a:pt x="33" y="15"/>
                      <a:pt x="27" y="18"/>
                      <a:pt x="18" y="10"/>
                    </a:cubicBezTo>
                    <a:cubicBezTo>
                      <a:pt x="14" y="6"/>
                      <a:pt x="11" y="0"/>
                      <a:pt x="9" y="1"/>
                    </a:cubicBezTo>
                    <a:cubicBezTo>
                      <a:pt x="7" y="4"/>
                      <a:pt x="5" y="5"/>
                      <a:pt x="3" y="7"/>
                    </a:cubicBezTo>
                    <a:cubicBezTo>
                      <a:pt x="0" y="10"/>
                      <a:pt x="18" y="31"/>
                      <a:pt x="24" y="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2" name="Freeform 52"/>
              <p:cNvSpPr/>
              <p:nvPr/>
            </p:nvSpPr>
            <p:spPr bwMode="auto">
              <a:xfrm>
                <a:off x="8252096" y="2295524"/>
                <a:ext cx="63500" cy="106363"/>
              </a:xfrm>
              <a:custGeom>
                <a:avLst/>
                <a:gdLst>
                  <a:gd name="T0" fmla="*/ 15 w 15"/>
                  <a:gd name="T1" fmla="*/ 6 h 25"/>
                  <a:gd name="T2" fmla="*/ 11 w 15"/>
                  <a:gd name="T3" fmla="*/ 22 h 25"/>
                  <a:gd name="T4" fmla="*/ 6 w 15"/>
                  <a:gd name="T5" fmla="*/ 24 h 25"/>
                  <a:gd name="T6" fmla="*/ 3 w 15"/>
                  <a:gd name="T7" fmla="*/ 12 h 25"/>
                  <a:gd name="T8" fmla="*/ 15 w 15"/>
                  <a:gd name="T9" fmla="*/ 6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25">
                    <a:moveTo>
                      <a:pt x="15" y="6"/>
                    </a:moveTo>
                    <a:cubicBezTo>
                      <a:pt x="12" y="12"/>
                      <a:pt x="11" y="16"/>
                      <a:pt x="11" y="22"/>
                    </a:cubicBezTo>
                    <a:cubicBezTo>
                      <a:pt x="11" y="24"/>
                      <a:pt x="6" y="25"/>
                      <a:pt x="6" y="24"/>
                    </a:cubicBezTo>
                    <a:cubicBezTo>
                      <a:pt x="6" y="19"/>
                      <a:pt x="8" y="15"/>
                      <a:pt x="3" y="12"/>
                    </a:cubicBezTo>
                    <a:cubicBezTo>
                      <a:pt x="0" y="10"/>
                      <a:pt x="15" y="0"/>
                      <a:pt x="15" y="6"/>
                    </a:cubicBezTo>
                    <a:close/>
                  </a:path>
                </a:pathLst>
              </a:custGeom>
              <a:solidFill>
                <a:srgbClr val="4D4D4D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3" name="Freeform 53"/>
              <p:cNvSpPr/>
              <p:nvPr/>
            </p:nvSpPr>
            <p:spPr bwMode="auto">
              <a:xfrm>
                <a:off x="8174309" y="2241549"/>
                <a:ext cx="141288" cy="160338"/>
              </a:xfrm>
              <a:custGeom>
                <a:avLst/>
                <a:gdLst>
                  <a:gd name="T0" fmla="*/ 2 w 33"/>
                  <a:gd name="T1" fmla="*/ 31 h 38"/>
                  <a:gd name="T2" fmla="*/ 11 w 33"/>
                  <a:gd name="T3" fmla="*/ 11 h 38"/>
                  <a:gd name="T4" fmla="*/ 31 w 33"/>
                  <a:gd name="T5" fmla="*/ 7 h 38"/>
                  <a:gd name="T6" fmla="*/ 15 w 33"/>
                  <a:gd name="T7" fmla="*/ 33 h 38"/>
                  <a:gd name="T8" fmla="*/ 2 w 33"/>
                  <a:gd name="T9" fmla="*/ 31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38">
                    <a:moveTo>
                      <a:pt x="2" y="31"/>
                    </a:moveTo>
                    <a:cubicBezTo>
                      <a:pt x="6" y="28"/>
                      <a:pt x="9" y="16"/>
                      <a:pt x="11" y="11"/>
                    </a:cubicBezTo>
                    <a:cubicBezTo>
                      <a:pt x="13" y="5"/>
                      <a:pt x="29" y="0"/>
                      <a:pt x="31" y="7"/>
                    </a:cubicBezTo>
                    <a:cubicBezTo>
                      <a:pt x="33" y="15"/>
                      <a:pt x="19" y="30"/>
                      <a:pt x="15" y="33"/>
                    </a:cubicBezTo>
                    <a:cubicBezTo>
                      <a:pt x="10" y="36"/>
                      <a:pt x="0" y="38"/>
                      <a:pt x="2" y="31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4" name="Freeform 54"/>
              <p:cNvSpPr/>
              <p:nvPr/>
            </p:nvSpPr>
            <p:spPr bwMode="auto">
              <a:xfrm>
                <a:off x="8140971" y="2270124"/>
                <a:ext cx="182563" cy="157163"/>
              </a:xfrm>
              <a:custGeom>
                <a:avLst/>
                <a:gdLst>
                  <a:gd name="T0" fmla="*/ 10 w 43"/>
                  <a:gd name="T1" fmla="*/ 25 h 37"/>
                  <a:gd name="T2" fmla="*/ 3 w 43"/>
                  <a:gd name="T3" fmla="*/ 30 h 37"/>
                  <a:gd name="T4" fmla="*/ 11 w 43"/>
                  <a:gd name="T5" fmla="*/ 36 h 37"/>
                  <a:gd name="T6" fmla="*/ 29 w 43"/>
                  <a:gd name="T7" fmla="*/ 23 h 37"/>
                  <a:gd name="T8" fmla="*/ 42 w 43"/>
                  <a:gd name="T9" fmla="*/ 7 h 37"/>
                  <a:gd name="T10" fmla="*/ 39 w 43"/>
                  <a:gd name="T11" fmla="*/ 0 h 37"/>
                  <a:gd name="T12" fmla="*/ 22 w 43"/>
                  <a:gd name="T13" fmla="*/ 21 h 37"/>
                  <a:gd name="T14" fmla="*/ 10 w 43"/>
                  <a:gd name="T15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37">
                    <a:moveTo>
                      <a:pt x="10" y="25"/>
                    </a:moveTo>
                    <a:cubicBezTo>
                      <a:pt x="7" y="27"/>
                      <a:pt x="6" y="28"/>
                      <a:pt x="3" y="30"/>
                    </a:cubicBezTo>
                    <a:cubicBezTo>
                      <a:pt x="0" y="32"/>
                      <a:pt x="0" y="37"/>
                      <a:pt x="11" y="36"/>
                    </a:cubicBezTo>
                    <a:cubicBezTo>
                      <a:pt x="21" y="34"/>
                      <a:pt x="24" y="29"/>
                      <a:pt x="29" y="23"/>
                    </a:cubicBezTo>
                    <a:cubicBezTo>
                      <a:pt x="33" y="16"/>
                      <a:pt x="43" y="15"/>
                      <a:pt x="42" y="7"/>
                    </a:cubicBezTo>
                    <a:cubicBezTo>
                      <a:pt x="42" y="3"/>
                      <a:pt x="41" y="2"/>
                      <a:pt x="39" y="0"/>
                    </a:cubicBezTo>
                    <a:cubicBezTo>
                      <a:pt x="38" y="7"/>
                      <a:pt x="27" y="16"/>
                      <a:pt x="22" y="21"/>
                    </a:cubicBezTo>
                    <a:cubicBezTo>
                      <a:pt x="17" y="27"/>
                      <a:pt x="12" y="27"/>
                      <a:pt x="10" y="25"/>
                    </a:cubicBezTo>
                    <a:close/>
                  </a:path>
                </a:pathLst>
              </a:custGeom>
              <a:solidFill>
                <a:srgbClr val="4D4D4D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5" name="Freeform 55"/>
              <p:cNvSpPr/>
              <p:nvPr/>
            </p:nvSpPr>
            <p:spPr bwMode="auto">
              <a:xfrm>
                <a:off x="8391796" y="2351087"/>
                <a:ext cx="68263" cy="111125"/>
              </a:xfrm>
              <a:custGeom>
                <a:avLst/>
                <a:gdLst>
                  <a:gd name="T0" fmla="*/ 16 w 16"/>
                  <a:gd name="T1" fmla="*/ 6 h 26"/>
                  <a:gd name="T2" fmla="*/ 11 w 16"/>
                  <a:gd name="T3" fmla="*/ 23 h 26"/>
                  <a:gd name="T4" fmla="*/ 7 w 16"/>
                  <a:gd name="T5" fmla="*/ 24 h 26"/>
                  <a:gd name="T6" fmla="*/ 4 w 16"/>
                  <a:gd name="T7" fmla="*/ 12 h 26"/>
                  <a:gd name="T8" fmla="*/ 16 w 16"/>
                  <a:gd name="T9" fmla="*/ 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6">
                    <a:moveTo>
                      <a:pt x="16" y="6"/>
                    </a:moveTo>
                    <a:cubicBezTo>
                      <a:pt x="13" y="13"/>
                      <a:pt x="12" y="16"/>
                      <a:pt x="11" y="23"/>
                    </a:cubicBezTo>
                    <a:cubicBezTo>
                      <a:pt x="11" y="25"/>
                      <a:pt x="6" y="26"/>
                      <a:pt x="7" y="24"/>
                    </a:cubicBezTo>
                    <a:cubicBezTo>
                      <a:pt x="7" y="20"/>
                      <a:pt x="8" y="16"/>
                      <a:pt x="4" y="12"/>
                    </a:cubicBezTo>
                    <a:cubicBezTo>
                      <a:pt x="0" y="10"/>
                      <a:pt x="16" y="0"/>
                      <a:pt x="16" y="6"/>
                    </a:cubicBezTo>
                    <a:close/>
                  </a:path>
                </a:pathLst>
              </a:custGeom>
              <a:solidFill>
                <a:srgbClr val="4D4D4D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6" name="Freeform 56"/>
              <p:cNvSpPr/>
              <p:nvPr/>
            </p:nvSpPr>
            <p:spPr bwMode="auto">
              <a:xfrm>
                <a:off x="8315596" y="2300287"/>
                <a:ext cx="139700" cy="161925"/>
              </a:xfrm>
              <a:custGeom>
                <a:avLst/>
                <a:gdLst>
                  <a:gd name="T0" fmla="*/ 2 w 33"/>
                  <a:gd name="T1" fmla="*/ 31 h 38"/>
                  <a:gd name="T2" fmla="*/ 12 w 33"/>
                  <a:gd name="T3" fmla="*/ 10 h 38"/>
                  <a:gd name="T4" fmla="*/ 31 w 33"/>
                  <a:gd name="T5" fmla="*/ 7 h 38"/>
                  <a:gd name="T6" fmla="*/ 15 w 33"/>
                  <a:gd name="T7" fmla="*/ 32 h 38"/>
                  <a:gd name="T8" fmla="*/ 2 w 33"/>
                  <a:gd name="T9" fmla="*/ 31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38">
                    <a:moveTo>
                      <a:pt x="2" y="31"/>
                    </a:moveTo>
                    <a:cubicBezTo>
                      <a:pt x="6" y="27"/>
                      <a:pt x="10" y="16"/>
                      <a:pt x="12" y="10"/>
                    </a:cubicBezTo>
                    <a:cubicBezTo>
                      <a:pt x="14" y="4"/>
                      <a:pt x="29" y="0"/>
                      <a:pt x="31" y="7"/>
                    </a:cubicBezTo>
                    <a:cubicBezTo>
                      <a:pt x="33" y="14"/>
                      <a:pt x="19" y="29"/>
                      <a:pt x="15" y="32"/>
                    </a:cubicBezTo>
                    <a:cubicBezTo>
                      <a:pt x="11" y="35"/>
                      <a:pt x="0" y="38"/>
                      <a:pt x="2" y="31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7" name="Freeform 57"/>
              <p:cNvSpPr/>
              <p:nvPr/>
            </p:nvSpPr>
            <p:spPr bwMode="auto">
              <a:xfrm>
                <a:off x="8285434" y="2330449"/>
                <a:ext cx="177800" cy="152400"/>
              </a:xfrm>
              <a:custGeom>
                <a:avLst/>
                <a:gdLst>
                  <a:gd name="T0" fmla="*/ 9 w 42"/>
                  <a:gd name="T1" fmla="*/ 24 h 36"/>
                  <a:gd name="T2" fmla="*/ 2 w 42"/>
                  <a:gd name="T3" fmla="*/ 30 h 36"/>
                  <a:gd name="T4" fmla="*/ 10 w 42"/>
                  <a:gd name="T5" fmla="*/ 35 h 36"/>
                  <a:gd name="T6" fmla="*/ 28 w 42"/>
                  <a:gd name="T7" fmla="*/ 22 h 36"/>
                  <a:gd name="T8" fmla="*/ 42 w 42"/>
                  <a:gd name="T9" fmla="*/ 6 h 36"/>
                  <a:gd name="T10" fmla="*/ 38 w 42"/>
                  <a:gd name="T11" fmla="*/ 0 h 36"/>
                  <a:gd name="T12" fmla="*/ 22 w 42"/>
                  <a:gd name="T13" fmla="*/ 21 h 36"/>
                  <a:gd name="T14" fmla="*/ 9 w 42"/>
                  <a:gd name="T15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36">
                    <a:moveTo>
                      <a:pt x="9" y="24"/>
                    </a:moveTo>
                    <a:cubicBezTo>
                      <a:pt x="6" y="27"/>
                      <a:pt x="5" y="28"/>
                      <a:pt x="2" y="30"/>
                    </a:cubicBezTo>
                    <a:cubicBezTo>
                      <a:pt x="0" y="32"/>
                      <a:pt x="0" y="36"/>
                      <a:pt x="10" y="35"/>
                    </a:cubicBezTo>
                    <a:cubicBezTo>
                      <a:pt x="21" y="34"/>
                      <a:pt x="24" y="28"/>
                      <a:pt x="28" y="22"/>
                    </a:cubicBezTo>
                    <a:cubicBezTo>
                      <a:pt x="32" y="15"/>
                      <a:pt x="42" y="15"/>
                      <a:pt x="42" y="6"/>
                    </a:cubicBezTo>
                    <a:cubicBezTo>
                      <a:pt x="41" y="2"/>
                      <a:pt x="40" y="1"/>
                      <a:pt x="38" y="0"/>
                    </a:cubicBezTo>
                    <a:cubicBezTo>
                      <a:pt x="37" y="6"/>
                      <a:pt x="26" y="16"/>
                      <a:pt x="22" y="21"/>
                    </a:cubicBezTo>
                    <a:cubicBezTo>
                      <a:pt x="17" y="26"/>
                      <a:pt x="12" y="26"/>
                      <a:pt x="9" y="24"/>
                    </a:cubicBezTo>
                    <a:close/>
                  </a:path>
                </a:pathLst>
              </a:custGeom>
              <a:solidFill>
                <a:srgbClr val="4D4D4D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8" name="Freeform 58"/>
              <p:cNvSpPr/>
              <p:nvPr/>
            </p:nvSpPr>
            <p:spPr bwMode="auto">
              <a:xfrm>
                <a:off x="8161609" y="968374"/>
                <a:ext cx="238125" cy="220663"/>
              </a:xfrm>
              <a:custGeom>
                <a:avLst/>
                <a:gdLst>
                  <a:gd name="T0" fmla="*/ 56 w 56"/>
                  <a:gd name="T1" fmla="*/ 9 h 52"/>
                  <a:gd name="T2" fmla="*/ 7 w 56"/>
                  <a:gd name="T3" fmla="*/ 0 h 52"/>
                  <a:gd name="T4" fmla="*/ 13 w 56"/>
                  <a:gd name="T5" fmla="*/ 47 h 52"/>
                  <a:gd name="T6" fmla="*/ 56 w 56"/>
                  <a:gd name="T7" fmla="*/ 9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6" h="52">
                    <a:moveTo>
                      <a:pt x="56" y="9"/>
                    </a:moveTo>
                    <a:cubicBezTo>
                      <a:pt x="51" y="6"/>
                      <a:pt x="12" y="1"/>
                      <a:pt x="7" y="0"/>
                    </a:cubicBezTo>
                    <a:cubicBezTo>
                      <a:pt x="6" y="2"/>
                      <a:pt x="0" y="42"/>
                      <a:pt x="13" y="47"/>
                    </a:cubicBezTo>
                    <a:cubicBezTo>
                      <a:pt x="27" y="52"/>
                      <a:pt x="42" y="21"/>
                      <a:pt x="56" y="9"/>
                    </a:cubicBezTo>
                    <a:close/>
                  </a:path>
                </a:pathLst>
              </a:custGeom>
              <a:solidFill>
                <a:srgbClr val="4D4D4D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9" name="Freeform 59"/>
              <p:cNvSpPr/>
              <p:nvPr/>
            </p:nvSpPr>
            <p:spPr bwMode="auto">
              <a:xfrm>
                <a:off x="8221934" y="874712"/>
                <a:ext cx="152400" cy="195263"/>
              </a:xfrm>
              <a:custGeom>
                <a:avLst/>
                <a:gdLst>
                  <a:gd name="T0" fmla="*/ 32 w 36"/>
                  <a:gd name="T1" fmla="*/ 46 h 46"/>
                  <a:gd name="T2" fmla="*/ 2 w 36"/>
                  <a:gd name="T3" fmla="*/ 46 h 46"/>
                  <a:gd name="T4" fmla="*/ 2 w 36"/>
                  <a:gd name="T5" fmla="*/ 0 h 46"/>
                  <a:gd name="T6" fmla="*/ 32 w 36"/>
                  <a:gd name="T7" fmla="*/ 0 h 46"/>
                  <a:gd name="T8" fmla="*/ 32 w 36"/>
                  <a:gd name="T9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46">
                    <a:moveTo>
                      <a:pt x="32" y="46"/>
                    </a:moveTo>
                    <a:cubicBezTo>
                      <a:pt x="22" y="46"/>
                      <a:pt x="12" y="46"/>
                      <a:pt x="2" y="46"/>
                    </a:cubicBezTo>
                    <a:cubicBezTo>
                      <a:pt x="0" y="29"/>
                      <a:pt x="0" y="14"/>
                      <a:pt x="2" y="0"/>
                    </a:cubicBezTo>
                    <a:cubicBezTo>
                      <a:pt x="12" y="0"/>
                      <a:pt x="22" y="0"/>
                      <a:pt x="32" y="0"/>
                    </a:cubicBezTo>
                    <a:cubicBezTo>
                      <a:pt x="35" y="15"/>
                      <a:pt x="36" y="30"/>
                      <a:pt x="32" y="46"/>
                    </a:cubicBezTo>
                    <a:close/>
                  </a:path>
                </a:pathLst>
              </a:custGeom>
              <a:solidFill>
                <a:srgbClr val="4D4D4D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0" name="Freeform 60"/>
              <p:cNvSpPr/>
              <p:nvPr/>
            </p:nvSpPr>
            <p:spPr bwMode="auto">
              <a:xfrm>
                <a:off x="8174309" y="1316037"/>
                <a:ext cx="209550" cy="1017588"/>
              </a:xfrm>
              <a:custGeom>
                <a:avLst/>
                <a:gdLst>
                  <a:gd name="T0" fmla="*/ 48 w 49"/>
                  <a:gd name="T1" fmla="*/ 6 h 240"/>
                  <a:gd name="T2" fmla="*/ 37 w 49"/>
                  <a:gd name="T3" fmla="*/ 156 h 240"/>
                  <a:gd name="T4" fmla="*/ 34 w 49"/>
                  <a:gd name="T5" fmla="*/ 231 h 240"/>
                  <a:gd name="T6" fmla="*/ 8 w 49"/>
                  <a:gd name="T7" fmla="*/ 233 h 240"/>
                  <a:gd name="T8" fmla="*/ 1 w 49"/>
                  <a:gd name="T9" fmla="*/ 55 h 240"/>
                  <a:gd name="T10" fmla="*/ 11 w 49"/>
                  <a:gd name="T11" fmla="*/ 0 h 240"/>
                  <a:gd name="T12" fmla="*/ 48 w 49"/>
                  <a:gd name="T13" fmla="*/ 6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" h="240">
                    <a:moveTo>
                      <a:pt x="48" y="6"/>
                    </a:moveTo>
                    <a:cubicBezTo>
                      <a:pt x="49" y="45"/>
                      <a:pt x="36" y="131"/>
                      <a:pt x="37" y="156"/>
                    </a:cubicBezTo>
                    <a:cubicBezTo>
                      <a:pt x="39" y="181"/>
                      <a:pt x="35" y="225"/>
                      <a:pt x="34" y="231"/>
                    </a:cubicBezTo>
                    <a:cubicBezTo>
                      <a:pt x="29" y="240"/>
                      <a:pt x="14" y="235"/>
                      <a:pt x="8" y="233"/>
                    </a:cubicBezTo>
                    <a:cubicBezTo>
                      <a:pt x="11" y="214"/>
                      <a:pt x="0" y="85"/>
                      <a:pt x="1" y="55"/>
                    </a:cubicBezTo>
                    <a:cubicBezTo>
                      <a:pt x="1" y="29"/>
                      <a:pt x="4" y="0"/>
                      <a:pt x="11" y="0"/>
                    </a:cubicBezTo>
                    <a:cubicBezTo>
                      <a:pt x="21" y="0"/>
                      <a:pt x="43" y="0"/>
                      <a:pt x="48" y="6"/>
                    </a:cubicBezTo>
                    <a:close/>
                  </a:path>
                </a:pathLst>
              </a:custGeom>
              <a:solidFill>
                <a:srgbClr val="7DBBD0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1" name="Freeform 61"/>
              <p:cNvSpPr/>
              <p:nvPr/>
            </p:nvSpPr>
            <p:spPr bwMode="auto">
              <a:xfrm>
                <a:off x="8267971" y="1541462"/>
                <a:ext cx="123825" cy="754063"/>
              </a:xfrm>
              <a:custGeom>
                <a:avLst/>
                <a:gdLst>
                  <a:gd name="T0" fmla="*/ 21 w 29"/>
                  <a:gd name="T1" fmla="*/ 178 h 178"/>
                  <a:gd name="T2" fmla="*/ 10 w 29"/>
                  <a:gd name="T3" fmla="*/ 13 h 178"/>
                  <a:gd name="T4" fmla="*/ 19 w 29"/>
                  <a:gd name="T5" fmla="*/ 19 h 178"/>
                  <a:gd name="T6" fmla="*/ 21 w 29"/>
                  <a:gd name="T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178">
                    <a:moveTo>
                      <a:pt x="21" y="178"/>
                    </a:moveTo>
                    <a:cubicBezTo>
                      <a:pt x="14" y="154"/>
                      <a:pt x="0" y="59"/>
                      <a:pt x="10" y="13"/>
                    </a:cubicBezTo>
                    <a:cubicBezTo>
                      <a:pt x="12" y="5"/>
                      <a:pt x="15" y="0"/>
                      <a:pt x="19" y="19"/>
                    </a:cubicBezTo>
                    <a:cubicBezTo>
                      <a:pt x="24" y="50"/>
                      <a:pt x="29" y="125"/>
                      <a:pt x="21" y="178"/>
                    </a:cubicBezTo>
                    <a:close/>
                  </a:path>
                </a:pathLst>
              </a:custGeom>
              <a:solidFill>
                <a:srgbClr val="5C9AB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2" name="Freeform 62"/>
              <p:cNvSpPr/>
              <p:nvPr/>
            </p:nvSpPr>
            <p:spPr bwMode="auto">
              <a:xfrm>
                <a:off x="8298134" y="1333499"/>
                <a:ext cx="225425" cy="1060450"/>
              </a:xfrm>
              <a:custGeom>
                <a:avLst/>
                <a:gdLst>
                  <a:gd name="T0" fmla="*/ 44 w 53"/>
                  <a:gd name="T1" fmla="*/ 10 h 250"/>
                  <a:gd name="T2" fmla="*/ 42 w 53"/>
                  <a:gd name="T3" fmla="*/ 165 h 250"/>
                  <a:gd name="T4" fmla="*/ 40 w 53"/>
                  <a:gd name="T5" fmla="*/ 242 h 250"/>
                  <a:gd name="T6" fmla="*/ 12 w 53"/>
                  <a:gd name="T7" fmla="*/ 243 h 250"/>
                  <a:gd name="T8" fmla="*/ 0 w 53"/>
                  <a:gd name="T9" fmla="*/ 15 h 250"/>
                  <a:gd name="T10" fmla="*/ 44 w 53"/>
                  <a:gd name="T11" fmla="*/ 1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" h="250">
                    <a:moveTo>
                      <a:pt x="44" y="10"/>
                    </a:moveTo>
                    <a:cubicBezTo>
                      <a:pt x="53" y="58"/>
                      <a:pt x="40" y="141"/>
                      <a:pt x="42" y="165"/>
                    </a:cubicBezTo>
                    <a:cubicBezTo>
                      <a:pt x="44" y="190"/>
                      <a:pt x="38" y="232"/>
                      <a:pt x="40" y="242"/>
                    </a:cubicBezTo>
                    <a:cubicBezTo>
                      <a:pt x="37" y="248"/>
                      <a:pt x="21" y="250"/>
                      <a:pt x="12" y="243"/>
                    </a:cubicBezTo>
                    <a:cubicBezTo>
                      <a:pt x="12" y="214"/>
                      <a:pt x="0" y="51"/>
                      <a:pt x="0" y="15"/>
                    </a:cubicBezTo>
                    <a:cubicBezTo>
                      <a:pt x="9" y="8"/>
                      <a:pt x="36" y="0"/>
                      <a:pt x="44" y="10"/>
                    </a:cubicBezTo>
                    <a:close/>
                  </a:path>
                </a:pathLst>
              </a:custGeom>
              <a:solidFill>
                <a:srgbClr val="7DBBD0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3" name="Freeform 63"/>
              <p:cNvSpPr/>
              <p:nvPr/>
            </p:nvSpPr>
            <p:spPr bwMode="auto">
              <a:xfrm>
                <a:off x="8183834" y="1231899"/>
                <a:ext cx="403225" cy="249238"/>
              </a:xfrm>
              <a:custGeom>
                <a:avLst/>
                <a:gdLst>
                  <a:gd name="T0" fmla="*/ 5 w 95"/>
                  <a:gd name="T1" fmla="*/ 0 h 59"/>
                  <a:gd name="T2" fmla="*/ 77 w 95"/>
                  <a:gd name="T3" fmla="*/ 51 h 59"/>
                  <a:gd name="T4" fmla="*/ 3 w 95"/>
                  <a:gd name="T5" fmla="*/ 46 h 59"/>
                  <a:gd name="T6" fmla="*/ 5 w 95"/>
                  <a:gd name="T7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5" h="59">
                    <a:moveTo>
                      <a:pt x="5" y="0"/>
                    </a:moveTo>
                    <a:cubicBezTo>
                      <a:pt x="4" y="0"/>
                      <a:pt x="95" y="44"/>
                      <a:pt x="77" y="51"/>
                    </a:cubicBezTo>
                    <a:cubicBezTo>
                      <a:pt x="58" y="58"/>
                      <a:pt x="14" y="59"/>
                      <a:pt x="3" y="46"/>
                    </a:cubicBezTo>
                    <a:cubicBezTo>
                      <a:pt x="0" y="31"/>
                      <a:pt x="8" y="15"/>
                      <a:pt x="5" y="0"/>
                    </a:cubicBezTo>
                    <a:close/>
                  </a:path>
                </a:pathLst>
              </a:custGeom>
              <a:solidFill>
                <a:srgbClr val="26444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4" name="Freeform 64"/>
              <p:cNvSpPr/>
              <p:nvPr/>
            </p:nvSpPr>
            <p:spPr bwMode="auto">
              <a:xfrm>
                <a:off x="8090171" y="636587"/>
                <a:ext cx="200025" cy="255588"/>
              </a:xfrm>
              <a:custGeom>
                <a:avLst/>
                <a:gdLst>
                  <a:gd name="T0" fmla="*/ 30 w 47"/>
                  <a:gd name="T1" fmla="*/ 60 h 60"/>
                  <a:gd name="T2" fmla="*/ 36 w 47"/>
                  <a:gd name="T3" fmla="*/ 3 h 60"/>
                  <a:gd name="T4" fmla="*/ 35 w 47"/>
                  <a:gd name="T5" fmla="*/ 17 h 60"/>
                  <a:gd name="T6" fmla="*/ 30 w 47"/>
                  <a:gd name="T7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7" h="60">
                    <a:moveTo>
                      <a:pt x="30" y="60"/>
                    </a:moveTo>
                    <a:cubicBezTo>
                      <a:pt x="0" y="42"/>
                      <a:pt x="9" y="0"/>
                      <a:pt x="36" y="3"/>
                    </a:cubicBezTo>
                    <a:cubicBezTo>
                      <a:pt x="47" y="5"/>
                      <a:pt x="42" y="11"/>
                      <a:pt x="35" y="17"/>
                    </a:cubicBezTo>
                    <a:cubicBezTo>
                      <a:pt x="27" y="23"/>
                      <a:pt x="28" y="49"/>
                      <a:pt x="30" y="60"/>
                    </a:cubicBezTo>
                    <a:close/>
                  </a:path>
                </a:pathLst>
              </a:custGeom>
              <a:solidFill>
                <a:srgbClr val="E6C41A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5" name="Freeform 65"/>
              <p:cNvSpPr/>
              <p:nvPr/>
            </p:nvSpPr>
            <p:spPr bwMode="auto">
              <a:xfrm>
                <a:off x="8183834" y="649287"/>
                <a:ext cx="296863" cy="327025"/>
              </a:xfrm>
              <a:custGeom>
                <a:avLst/>
                <a:gdLst>
                  <a:gd name="T0" fmla="*/ 25 w 70"/>
                  <a:gd name="T1" fmla="*/ 0 h 77"/>
                  <a:gd name="T2" fmla="*/ 68 w 70"/>
                  <a:gd name="T3" fmla="*/ 36 h 77"/>
                  <a:gd name="T4" fmla="*/ 25 w 70"/>
                  <a:gd name="T5" fmla="*/ 77 h 77"/>
                  <a:gd name="T6" fmla="*/ 0 w 70"/>
                  <a:gd name="T7" fmla="*/ 42 h 77"/>
                  <a:gd name="T8" fmla="*/ 25 w 70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" h="77">
                    <a:moveTo>
                      <a:pt x="25" y="0"/>
                    </a:moveTo>
                    <a:cubicBezTo>
                      <a:pt x="50" y="0"/>
                      <a:pt x="66" y="17"/>
                      <a:pt x="68" y="36"/>
                    </a:cubicBezTo>
                    <a:cubicBezTo>
                      <a:pt x="70" y="55"/>
                      <a:pt x="42" y="77"/>
                      <a:pt x="25" y="77"/>
                    </a:cubicBezTo>
                    <a:cubicBezTo>
                      <a:pt x="9" y="77"/>
                      <a:pt x="1" y="62"/>
                      <a:pt x="0" y="42"/>
                    </a:cubicBezTo>
                    <a:cubicBezTo>
                      <a:pt x="0" y="22"/>
                      <a:pt x="1" y="0"/>
                      <a:pt x="25" y="0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6" name="Freeform 66"/>
              <p:cNvSpPr/>
              <p:nvPr/>
            </p:nvSpPr>
            <p:spPr bwMode="auto">
              <a:xfrm>
                <a:off x="8353696" y="1770062"/>
                <a:ext cx="309563" cy="479425"/>
              </a:xfrm>
              <a:custGeom>
                <a:avLst/>
                <a:gdLst>
                  <a:gd name="T0" fmla="*/ 195 w 195"/>
                  <a:gd name="T1" fmla="*/ 0 h 302"/>
                  <a:gd name="T2" fmla="*/ 195 w 195"/>
                  <a:gd name="T3" fmla="*/ 190 h 302"/>
                  <a:gd name="T4" fmla="*/ 0 w 195"/>
                  <a:gd name="T5" fmla="*/ 302 h 302"/>
                  <a:gd name="T6" fmla="*/ 0 w 195"/>
                  <a:gd name="T7" fmla="*/ 112 h 302"/>
                  <a:gd name="T8" fmla="*/ 195 w 195"/>
                  <a:gd name="T9" fmla="*/ 0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5" h="302">
                    <a:moveTo>
                      <a:pt x="195" y="0"/>
                    </a:moveTo>
                    <a:lnTo>
                      <a:pt x="195" y="190"/>
                    </a:lnTo>
                    <a:lnTo>
                      <a:pt x="0" y="302"/>
                    </a:lnTo>
                    <a:lnTo>
                      <a:pt x="0" y="112"/>
                    </a:lnTo>
                    <a:lnTo>
                      <a:pt x="195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7" name="Freeform 67"/>
              <p:cNvSpPr/>
              <p:nvPr/>
            </p:nvSpPr>
            <p:spPr bwMode="auto">
              <a:xfrm>
                <a:off x="8298134" y="1736724"/>
                <a:ext cx="365125" cy="211138"/>
              </a:xfrm>
              <a:custGeom>
                <a:avLst/>
                <a:gdLst>
                  <a:gd name="T0" fmla="*/ 74 w 86"/>
                  <a:gd name="T1" fmla="*/ 0 h 50"/>
                  <a:gd name="T2" fmla="*/ 86 w 86"/>
                  <a:gd name="T3" fmla="*/ 8 h 50"/>
                  <a:gd name="T4" fmla="*/ 13 w 86"/>
                  <a:gd name="T5" fmla="*/ 50 h 50"/>
                  <a:gd name="T6" fmla="*/ 0 w 86"/>
                  <a:gd name="T7" fmla="*/ 43 h 50"/>
                  <a:gd name="T8" fmla="*/ 74 w 86"/>
                  <a:gd name="T9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50">
                    <a:moveTo>
                      <a:pt x="74" y="0"/>
                    </a:moveTo>
                    <a:cubicBezTo>
                      <a:pt x="86" y="8"/>
                      <a:pt x="86" y="8"/>
                      <a:pt x="86" y="8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3"/>
                      <a:pt x="70" y="3"/>
                      <a:pt x="74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8" name="Freeform 68"/>
              <p:cNvSpPr/>
              <p:nvPr/>
            </p:nvSpPr>
            <p:spPr bwMode="auto">
              <a:xfrm>
                <a:off x="8298134" y="1919287"/>
                <a:ext cx="55563" cy="330200"/>
              </a:xfrm>
              <a:custGeom>
                <a:avLst/>
                <a:gdLst>
                  <a:gd name="T0" fmla="*/ 0 w 35"/>
                  <a:gd name="T1" fmla="*/ 0 h 208"/>
                  <a:gd name="T2" fmla="*/ 35 w 35"/>
                  <a:gd name="T3" fmla="*/ 18 h 208"/>
                  <a:gd name="T4" fmla="*/ 35 w 35"/>
                  <a:gd name="T5" fmla="*/ 208 h 208"/>
                  <a:gd name="T6" fmla="*/ 0 w 35"/>
                  <a:gd name="T7" fmla="*/ 189 h 208"/>
                  <a:gd name="T8" fmla="*/ 0 w 35"/>
                  <a:gd name="T9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208">
                    <a:moveTo>
                      <a:pt x="0" y="0"/>
                    </a:moveTo>
                    <a:lnTo>
                      <a:pt x="35" y="18"/>
                    </a:lnTo>
                    <a:lnTo>
                      <a:pt x="35" y="208"/>
                    </a:lnTo>
                    <a:lnTo>
                      <a:pt x="0" y="1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9" name="Freeform 69"/>
              <p:cNvSpPr/>
              <p:nvPr/>
            </p:nvSpPr>
            <p:spPr bwMode="auto">
              <a:xfrm>
                <a:off x="8353696" y="1770062"/>
                <a:ext cx="309563" cy="296863"/>
              </a:xfrm>
              <a:custGeom>
                <a:avLst/>
                <a:gdLst>
                  <a:gd name="T0" fmla="*/ 195 w 195"/>
                  <a:gd name="T1" fmla="*/ 0 h 187"/>
                  <a:gd name="T2" fmla="*/ 195 w 195"/>
                  <a:gd name="T3" fmla="*/ 94 h 187"/>
                  <a:gd name="T4" fmla="*/ 117 w 195"/>
                  <a:gd name="T5" fmla="*/ 179 h 187"/>
                  <a:gd name="T6" fmla="*/ 0 w 195"/>
                  <a:gd name="T7" fmla="*/ 187 h 187"/>
                  <a:gd name="T8" fmla="*/ 0 w 195"/>
                  <a:gd name="T9" fmla="*/ 112 h 187"/>
                  <a:gd name="T10" fmla="*/ 195 w 195"/>
                  <a:gd name="T11" fmla="*/ 0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5" h="187">
                    <a:moveTo>
                      <a:pt x="195" y="0"/>
                    </a:moveTo>
                    <a:lnTo>
                      <a:pt x="195" y="94"/>
                    </a:lnTo>
                    <a:lnTo>
                      <a:pt x="117" y="179"/>
                    </a:lnTo>
                    <a:lnTo>
                      <a:pt x="0" y="187"/>
                    </a:lnTo>
                    <a:lnTo>
                      <a:pt x="0" y="112"/>
                    </a:lnTo>
                    <a:lnTo>
                      <a:pt x="195" y="0"/>
                    </a:lnTo>
                    <a:close/>
                  </a:path>
                </a:pathLst>
              </a:custGeom>
              <a:solidFill>
                <a:srgbClr val="808080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0" name="Freeform 70"/>
              <p:cNvSpPr/>
              <p:nvPr/>
            </p:nvSpPr>
            <p:spPr bwMode="auto">
              <a:xfrm>
                <a:off x="8531496" y="2016124"/>
                <a:ext cx="20638" cy="63500"/>
              </a:xfrm>
              <a:custGeom>
                <a:avLst/>
                <a:gdLst>
                  <a:gd name="T0" fmla="*/ 13 w 13"/>
                  <a:gd name="T1" fmla="*/ 0 h 40"/>
                  <a:gd name="T2" fmla="*/ 13 w 13"/>
                  <a:gd name="T3" fmla="*/ 32 h 40"/>
                  <a:gd name="T4" fmla="*/ 0 w 13"/>
                  <a:gd name="T5" fmla="*/ 40 h 40"/>
                  <a:gd name="T6" fmla="*/ 0 w 13"/>
                  <a:gd name="T7" fmla="*/ 8 h 40"/>
                  <a:gd name="T8" fmla="*/ 13 w 1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40">
                    <a:moveTo>
                      <a:pt x="13" y="0"/>
                    </a:moveTo>
                    <a:lnTo>
                      <a:pt x="13" y="32"/>
                    </a:lnTo>
                    <a:lnTo>
                      <a:pt x="0" y="40"/>
                    </a:lnTo>
                    <a:lnTo>
                      <a:pt x="0" y="8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1" name="Freeform 71"/>
              <p:cNvSpPr/>
              <p:nvPr/>
            </p:nvSpPr>
            <p:spPr bwMode="auto">
              <a:xfrm>
                <a:off x="8412434" y="1749424"/>
                <a:ext cx="144463" cy="142875"/>
              </a:xfrm>
              <a:custGeom>
                <a:avLst/>
                <a:gdLst>
                  <a:gd name="T0" fmla="*/ 24 w 34"/>
                  <a:gd name="T1" fmla="*/ 3 h 34"/>
                  <a:gd name="T2" fmla="*/ 8 w 34"/>
                  <a:gd name="T3" fmla="*/ 12 h 34"/>
                  <a:gd name="T4" fmla="*/ 0 w 34"/>
                  <a:gd name="T5" fmla="*/ 29 h 34"/>
                  <a:gd name="T6" fmla="*/ 0 w 34"/>
                  <a:gd name="T7" fmla="*/ 33 h 34"/>
                  <a:gd name="T8" fmla="*/ 0 w 34"/>
                  <a:gd name="T9" fmla="*/ 33 h 34"/>
                  <a:gd name="T10" fmla="*/ 3 w 34"/>
                  <a:gd name="T11" fmla="*/ 31 h 34"/>
                  <a:gd name="T12" fmla="*/ 3 w 34"/>
                  <a:gd name="T13" fmla="*/ 31 h 34"/>
                  <a:gd name="T14" fmla="*/ 3 w 34"/>
                  <a:gd name="T15" fmla="*/ 31 h 34"/>
                  <a:gd name="T16" fmla="*/ 3 w 34"/>
                  <a:gd name="T17" fmla="*/ 28 h 34"/>
                  <a:gd name="T18" fmla="*/ 9 w 34"/>
                  <a:gd name="T19" fmla="*/ 16 h 34"/>
                  <a:gd name="T20" fmla="*/ 24 w 34"/>
                  <a:gd name="T21" fmla="*/ 7 h 34"/>
                  <a:gd name="T22" fmla="*/ 30 w 34"/>
                  <a:gd name="T23" fmla="*/ 13 h 34"/>
                  <a:gd name="T24" fmla="*/ 30 w 34"/>
                  <a:gd name="T25" fmla="*/ 15 h 34"/>
                  <a:gd name="T26" fmla="*/ 30 w 34"/>
                  <a:gd name="T27" fmla="*/ 15 h 34"/>
                  <a:gd name="T28" fmla="*/ 30 w 34"/>
                  <a:gd name="T29" fmla="*/ 15 h 34"/>
                  <a:gd name="T30" fmla="*/ 34 w 34"/>
                  <a:gd name="T31" fmla="*/ 13 h 34"/>
                  <a:gd name="T32" fmla="*/ 34 w 34"/>
                  <a:gd name="T33" fmla="*/ 13 h 34"/>
                  <a:gd name="T34" fmla="*/ 34 w 34"/>
                  <a:gd name="T35" fmla="*/ 11 h 34"/>
                  <a:gd name="T36" fmla="*/ 24 w 34"/>
                  <a:gd name="T37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" h="34">
                    <a:moveTo>
                      <a:pt x="24" y="3"/>
                    </a:moveTo>
                    <a:cubicBezTo>
                      <a:pt x="8" y="12"/>
                      <a:pt x="8" y="12"/>
                      <a:pt x="8" y="12"/>
                    </a:cubicBezTo>
                    <a:cubicBezTo>
                      <a:pt x="1" y="16"/>
                      <a:pt x="0" y="20"/>
                      <a:pt x="0" y="29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34"/>
                      <a:pt x="3" y="32"/>
                      <a:pt x="3" y="31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3" y="22"/>
                      <a:pt x="4" y="19"/>
                      <a:pt x="9" y="16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8" y="5"/>
                      <a:pt x="30" y="7"/>
                      <a:pt x="30" y="13"/>
                    </a:cubicBezTo>
                    <a:cubicBezTo>
                      <a:pt x="30" y="15"/>
                      <a:pt x="30" y="15"/>
                      <a:pt x="30" y="15"/>
                    </a:cubicBezTo>
                    <a:cubicBezTo>
                      <a:pt x="30" y="15"/>
                      <a:pt x="30" y="15"/>
                      <a:pt x="30" y="15"/>
                    </a:cubicBezTo>
                    <a:cubicBezTo>
                      <a:pt x="30" y="15"/>
                      <a:pt x="30" y="15"/>
                      <a:pt x="30" y="15"/>
                    </a:cubicBezTo>
                    <a:cubicBezTo>
                      <a:pt x="30" y="16"/>
                      <a:pt x="34" y="14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3"/>
                      <a:pt x="29" y="0"/>
                      <a:pt x="24" y="3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3" name="Freeform 72"/>
              <p:cNvSpPr>
                <a:spLocks noEditPoints="1"/>
              </p:cNvSpPr>
              <p:nvPr/>
            </p:nvSpPr>
            <p:spPr bwMode="auto">
              <a:xfrm>
                <a:off x="8412434" y="1790699"/>
                <a:ext cx="144463" cy="101600"/>
              </a:xfrm>
              <a:custGeom>
                <a:avLst/>
                <a:gdLst>
                  <a:gd name="T0" fmla="*/ 0 w 34"/>
                  <a:gd name="T1" fmla="*/ 20 h 24"/>
                  <a:gd name="T2" fmla="*/ 0 w 34"/>
                  <a:gd name="T3" fmla="*/ 23 h 24"/>
                  <a:gd name="T4" fmla="*/ 0 w 34"/>
                  <a:gd name="T5" fmla="*/ 23 h 24"/>
                  <a:gd name="T6" fmla="*/ 3 w 34"/>
                  <a:gd name="T7" fmla="*/ 21 h 24"/>
                  <a:gd name="T8" fmla="*/ 3 w 34"/>
                  <a:gd name="T9" fmla="*/ 21 h 24"/>
                  <a:gd name="T10" fmla="*/ 3 w 34"/>
                  <a:gd name="T11" fmla="*/ 21 h 24"/>
                  <a:gd name="T12" fmla="*/ 3 w 34"/>
                  <a:gd name="T13" fmla="*/ 18 h 24"/>
                  <a:gd name="T14" fmla="*/ 3 w 34"/>
                  <a:gd name="T15" fmla="*/ 18 h 24"/>
                  <a:gd name="T16" fmla="*/ 0 w 34"/>
                  <a:gd name="T17" fmla="*/ 20 h 24"/>
                  <a:gd name="T18" fmla="*/ 30 w 34"/>
                  <a:gd name="T19" fmla="*/ 2 h 24"/>
                  <a:gd name="T20" fmla="*/ 30 w 34"/>
                  <a:gd name="T21" fmla="*/ 3 h 24"/>
                  <a:gd name="T22" fmla="*/ 30 w 34"/>
                  <a:gd name="T23" fmla="*/ 5 h 24"/>
                  <a:gd name="T24" fmla="*/ 30 w 34"/>
                  <a:gd name="T25" fmla="*/ 5 h 24"/>
                  <a:gd name="T26" fmla="*/ 30 w 34"/>
                  <a:gd name="T27" fmla="*/ 5 h 24"/>
                  <a:gd name="T28" fmla="*/ 34 w 34"/>
                  <a:gd name="T29" fmla="*/ 3 h 24"/>
                  <a:gd name="T30" fmla="*/ 34 w 34"/>
                  <a:gd name="T31" fmla="*/ 3 h 24"/>
                  <a:gd name="T32" fmla="*/ 34 w 34"/>
                  <a:gd name="T33" fmla="*/ 1 h 24"/>
                  <a:gd name="T34" fmla="*/ 34 w 34"/>
                  <a:gd name="T35" fmla="*/ 0 h 24"/>
                  <a:gd name="T36" fmla="*/ 30 w 34"/>
                  <a:gd name="T37" fmla="*/ 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" h="24">
                    <a:moveTo>
                      <a:pt x="0" y="20"/>
                    </a:move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4"/>
                      <a:pt x="3" y="22"/>
                      <a:pt x="3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3" y="19"/>
                      <a:pt x="0" y="20"/>
                      <a:pt x="0" y="20"/>
                    </a:cubicBezTo>
                    <a:close/>
                    <a:moveTo>
                      <a:pt x="30" y="2"/>
                    </a:moveTo>
                    <a:cubicBezTo>
                      <a:pt x="30" y="2"/>
                      <a:pt x="30" y="2"/>
                      <a:pt x="30" y="3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30" y="6"/>
                      <a:pt x="34" y="4"/>
                      <a:pt x="34" y="3"/>
                    </a:cubicBezTo>
                    <a:cubicBezTo>
                      <a:pt x="34" y="3"/>
                      <a:pt x="34" y="3"/>
                      <a:pt x="34" y="3"/>
                    </a:cubicBezTo>
                    <a:cubicBezTo>
                      <a:pt x="34" y="1"/>
                      <a:pt x="34" y="1"/>
                      <a:pt x="34" y="1"/>
                    </a:cubicBezTo>
                    <a:cubicBezTo>
                      <a:pt x="34" y="1"/>
                      <a:pt x="34" y="0"/>
                      <a:pt x="34" y="0"/>
                    </a:cubicBezTo>
                    <a:cubicBezTo>
                      <a:pt x="34" y="1"/>
                      <a:pt x="31" y="3"/>
                      <a:pt x="3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4" name="Freeform 73"/>
              <p:cNvSpPr/>
              <p:nvPr/>
            </p:nvSpPr>
            <p:spPr bwMode="auto">
              <a:xfrm>
                <a:off x="8353696" y="1770062"/>
                <a:ext cx="309563" cy="284163"/>
              </a:xfrm>
              <a:custGeom>
                <a:avLst/>
                <a:gdLst>
                  <a:gd name="T0" fmla="*/ 195 w 195"/>
                  <a:gd name="T1" fmla="*/ 0 h 179"/>
                  <a:gd name="T2" fmla="*/ 195 w 195"/>
                  <a:gd name="T3" fmla="*/ 85 h 179"/>
                  <a:gd name="T4" fmla="*/ 117 w 195"/>
                  <a:gd name="T5" fmla="*/ 168 h 179"/>
                  <a:gd name="T6" fmla="*/ 0 w 195"/>
                  <a:gd name="T7" fmla="*/ 179 h 179"/>
                  <a:gd name="T8" fmla="*/ 0 w 195"/>
                  <a:gd name="T9" fmla="*/ 112 h 179"/>
                  <a:gd name="T10" fmla="*/ 195 w 195"/>
                  <a:gd name="T11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5" h="179">
                    <a:moveTo>
                      <a:pt x="195" y="0"/>
                    </a:moveTo>
                    <a:lnTo>
                      <a:pt x="195" y="85"/>
                    </a:lnTo>
                    <a:lnTo>
                      <a:pt x="117" y="168"/>
                    </a:lnTo>
                    <a:lnTo>
                      <a:pt x="0" y="179"/>
                    </a:lnTo>
                    <a:lnTo>
                      <a:pt x="0" y="112"/>
                    </a:lnTo>
                    <a:lnTo>
                      <a:pt x="195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5" name="Freeform 74"/>
              <p:cNvSpPr/>
              <p:nvPr/>
            </p:nvSpPr>
            <p:spPr bwMode="auto">
              <a:xfrm>
                <a:off x="8450534" y="1714499"/>
                <a:ext cx="73025" cy="127000"/>
              </a:xfrm>
              <a:custGeom>
                <a:avLst/>
                <a:gdLst>
                  <a:gd name="T0" fmla="*/ 16 w 17"/>
                  <a:gd name="T1" fmla="*/ 8 h 30"/>
                  <a:gd name="T2" fmla="*/ 16 w 17"/>
                  <a:gd name="T3" fmla="*/ 18 h 30"/>
                  <a:gd name="T4" fmla="*/ 13 w 17"/>
                  <a:gd name="T5" fmla="*/ 20 h 30"/>
                  <a:gd name="T6" fmla="*/ 8 w 17"/>
                  <a:gd name="T7" fmla="*/ 21 h 30"/>
                  <a:gd name="T8" fmla="*/ 0 w 17"/>
                  <a:gd name="T9" fmla="*/ 16 h 30"/>
                  <a:gd name="T10" fmla="*/ 16 w 17"/>
                  <a:gd name="T11" fmla="*/ 8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30">
                    <a:moveTo>
                      <a:pt x="16" y="8"/>
                    </a:moveTo>
                    <a:cubicBezTo>
                      <a:pt x="17" y="13"/>
                      <a:pt x="17" y="15"/>
                      <a:pt x="16" y="18"/>
                    </a:cubicBezTo>
                    <a:cubicBezTo>
                      <a:pt x="16" y="20"/>
                      <a:pt x="14" y="21"/>
                      <a:pt x="13" y="20"/>
                    </a:cubicBezTo>
                    <a:cubicBezTo>
                      <a:pt x="12" y="23"/>
                      <a:pt x="8" y="24"/>
                      <a:pt x="8" y="21"/>
                    </a:cubicBezTo>
                    <a:cubicBezTo>
                      <a:pt x="7" y="25"/>
                      <a:pt x="0" y="30"/>
                      <a:pt x="0" y="16"/>
                    </a:cubicBezTo>
                    <a:cubicBezTo>
                      <a:pt x="1" y="2"/>
                      <a:pt x="14" y="0"/>
                      <a:pt x="16" y="8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6" name="Freeform 75"/>
              <p:cNvSpPr/>
              <p:nvPr/>
            </p:nvSpPr>
            <p:spPr bwMode="auto">
              <a:xfrm>
                <a:off x="7894909" y="1430337"/>
                <a:ext cx="38100" cy="42863"/>
              </a:xfrm>
              <a:custGeom>
                <a:avLst/>
                <a:gdLst>
                  <a:gd name="T0" fmla="*/ 8 w 9"/>
                  <a:gd name="T1" fmla="*/ 1 h 10"/>
                  <a:gd name="T2" fmla="*/ 2 w 9"/>
                  <a:gd name="T3" fmla="*/ 3 h 10"/>
                  <a:gd name="T4" fmla="*/ 1 w 9"/>
                  <a:gd name="T5" fmla="*/ 9 h 10"/>
                  <a:gd name="T6" fmla="*/ 6 w 9"/>
                  <a:gd name="T7" fmla="*/ 7 h 10"/>
                  <a:gd name="T8" fmla="*/ 8 w 9"/>
                  <a:gd name="T9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0">
                    <a:moveTo>
                      <a:pt x="8" y="1"/>
                    </a:moveTo>
                    <a:cubicBezTo>
                      <a:pt x="7" y="0"/>
                      <a:pt x="4" y="1"/>
                      <a:pt x="2" y="3"/>
                    </a:cubicBezTo>
                    <a:cubicBezTo>
                      <a:pt x="1" y="5"/>
                      <a:pt x="0" y="8"/>
                      <a:pt x="1" y="9"/>
                    </a:cubicBezTo>
                    <a:cubicBezTo>
                      <a:pt x="2" y="10"/>
                      <a:pt x="5" y="9"/>
                      <a:pt x="6" y="7"/>
                    </a:cubicBezTo>
                    <a:cubicBezTo>
                      <a:pt x="8" y="5"/>
                      <a:pt x="9" y="2"/>
                      <a:pt x="8" y="1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7" name="Freeform 76"/>
              <p:cNvSpPr/>
              <p:nvPr/>
            </p:nvSpPr>
            <p:spPr bwMode="auto">
              <a:xfrm>
                <a:off x="8437834" y="1757362"/>
                <a:ext cx="30163" cy="46038"/>
              </a:xfrm>
              <a:custGeom>
                <a:avLst/>
                <a:gdLst>
                  <a:gd name="T0" fmla="*/ 6 w 7"/>
                  <a:gd name="T1" fmla="*/ 0 h 11"/>
                  <a:gd name="T2" fmla="*/ 3 w 7"/>
                  <a:gd name="T3" fmla="*/ 3 h 11"/>
                  <a:gd name="T4" fmla="*/ 1 w 7"/>
                  <a:gd name="T5" fmla="*/ 10 h 11"/>
                  <a:gd name="T6" fmla="*/ 7 w 7"/>
                  <a:gd name="T7" fmla="*/ 4 h 11"/>
                  <a:gd name="T8" fmla="*/ 6 w 7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1">
                    <a:moveTo>
                      <a:pt x="6" y="0"/>
                    </a:moveTo>
                    <a:cubicBezTo>
                      <a:pt x="5" y="0"/>
                      <a:pt x="4" y="1"/>
                      <a:pt x="3" y="3"/>
                    </a:cubicBezTo>
                    <a:cubicBezTo>
                      <a:pt x="2" y="5"/>
                      <a:pt x="0" y="9"/>
                      <a:pt x="1" y="10"/>
                    </a:cubicBezTo>
                    <a:cubicBezTo>
                      <a:pt x="3" y="11"/>
                      <a:pt x="6" y="6"/>
                      <a:pt x="7" y="4"/>
                    </a:cubicBezTo>
                    <a:cubicBezTo>
                      <a:pt x="7" y="2"/>
                      <a:pt x="7" y="1"/>
                      <a:pt x="6" y="0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8" name="Freeform 77"/>
              <p:cNvSpPr/>
              <p:nvPr/>
            </p:nvSpPr>
            <p:spPr bwMode="auto">
              <a:xfrm>
                <a:off x="7809184" y="1171574"/>
                <a:ext cx="430213" cy="390525"/>
              </a:xfrm>
              <a:custGeom>
                <a:avLst/>
                <a:gdLst>
                  <a:gd name="T0" fmla="*/ 271 w 271"/>
                  <a:gd name="T1" fmla="*/ 115 h 246"/>
                  <a:gd name="T2" fmla="*/ 73 w 271"/>
                  <a:gd name="T3" fmla="*/ 0 h 246"/>
                  <a:gd name="T4" fmla="*/ 0 w 271"/>
                  <a:gd name="T5" fmla="*/ 131 h 246"/>
                  <a:gd name="T6" fmla="*/ 198 w 271"/>
                  <a:gd name="T7" fmla="*/ 246 h 246"/>
                  <a:gd name="T8" fmla="*/ 271 w 271"/>
                  <a:gd name="T9" fmla="*/ 115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1" h="246">
                    <a:moveTo>
                      <a:pt x="271" y="115"/>
                    </a:moveTo>
                    <a:lnTo>
                      <a:pt x="73" y="0"/>
                    </a:lnTo>
                    <a:lnTo>
                      <a:pt x="0" y="131"/>
                    </a:lnTo>
                    <a:lnTo>
                      <a:pt x="198" y="246"/>
                    </a:lnTo>
                    <a:lnTo>
                      <a:pt x="271" y="115"/>
                    </a:lnTo>
                    <a:close/>
                  </a:path>
                </a:pathLst>
              </a:custGeom>
              <a:solidFill>
                <a:srgbClr val="5DC77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9" name="Freeform 78"/>
              <p:cNvSpPr/>
              <p:nvPr/>
            </p:nvSpPr>
            <p:spPr bwMode="auto">
              <a:xfrm>
                <a:off x="8140971" y="963612"/>
                <a:ext cx="446088" cy="484188"/>
              </a:xfrm>
              <a:custGeom>
                <a:avLst/>
                <a:gdLst>
                  <a:gd name="T0" fmla="*/ 94 w 105"/>
                  <a:gd name="T1" fmla="*/ 44 h 114"/>
                  <a:gd name="T2" fmla="*/ 91 w 105"/>
                  <a:gd name="T3" fmla="*/ 105 h 114"/>
                  <a:gd name="T4" fmla="*/ 86 w 105"/>
                  <a:gd name="T5" fmla="*/ 106 h 114"/>
                  <a:gd name="T6" fmla="*/ 12 w 105"/>
                  <a:gd name="T7" fmla="*/ 101 h 114"/>
                  <a:gd name="T8" fmla="*/ 2 w 105"/>
                  <a:gd name="T9" fmla="*/ 57 h 114"/>
                  <a:gd name="T10" fmla="*/ 7 w 105"/>
                  <a:gd name="T11" fmla="*/ 28 h 114"/>
                  <a:gd name="T12" fmla="*/ 10 w 105"/>
                  <a:gd name="T13" fmla="*/ 3 h 114"/>
                  <a:gd name="T14" fmla="*/ 22 w 105"/>
                  <a:gd name="T15" fmla="*/ 3 h 114"/>
                  <a:gd name="T16" fmla="*/ 20 w 105"/>
                  <a:gd name="T17" fmla="*/ 36 h 114"/>
                  <a:gd name="T18" fmla="*/ 59 w 105"/>
                  <a:gd name="T19" fmla="*/ 9 h 114"/>
                  <a:gd name="T20" fmla="*/ 94 w 105"/>
                  <a:gd name="T21" fmla="*/ 4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" h="114">
                    <a:moveTo>
                      <a:pt x="94" y="44"/>
                    </a:moveTo>
                    <a:cubicBezTo>
                      <a:pt x="95" y="62"/>
                      <a:pt x="92" y="85"/>
                      <a:pt x="91" y="105"/>
                    </a:cubicBezTo>
                    <a:cubicBezTo>
                      <a:pt x="90" y="105"/>
                      <a:pt x="105" y="99"/>
                      <a:pt x="86" y="106"/>
                    </a:cubicBezTo>
                    <a:cubicBezTo>
                      <a:pt x="68" y="114"/>
                      <a:pt x="24" y="114"/>
                      <a:pt x="12" y="101"/>
                    </a:cubicBezTo>
                    <a:cubicBezTo>
                      <a:pt x="16" y="76"/>
                      <a:pt x="5" y="73"/>
                      <a:pt x="2" y="57"/>
                    </a:cubicBezTo>
                    <a:cubicBezTo>
                      <a:pt x="0" y="49"/>
                      <a:pt x="7" y="38"/>
                      <a:pt x="7" y="28"/>
                    </a:cubicBezTo>
                    <a:cubicBezTo>
                      <a:pt x="6" y="21"/>
                      <a:pt x="1" y="8"/>
                      <a:pt x="10" y="3"/>
                    </a:cubicBezTo>
                    <a:cubicBezTo>
                      <a:pt x="14" y="0"/>
                      <a:pt x="15" y="2"/>
                      <a:pt x="22" y="3"/>
                    </a:cubicBezTo>
                    <a:cubicBezTo>
                      <a:pt x="17" y="11"/>
                      <a:pt x="16" y="28"/>
                      <a:pt x="20" y="36"/>
                    </a:cubicBezTo>
                    <a:cubicBezTo>
                      <a:pt x="31" y="36"/>
                      <a:pt x="50" y="17"/>
                      <a:pt x="59" y="9"/>
                    </a:cubicBezTo>
                    <a:cubicBezTo>
                      <a:pt x="76" y="16"/>
                      <a:pt x="94" y="24"/>
                      <a:pt x="94" y="44"/>
                    </a:cubicBezTo>
                    <a:close/>
                  </a:path>
                </a:pathLst>
              </a:custGeom>
              <a:solidFill>
                <a:srgbClr val="4D4D4D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0" name="Freeform 79"/>
              <p:cNvSpPr/>
              <p:nvPr/>
            </p:nvSpPr>
            <p:spPr bwMode="auto">
              <a:xfrm>
                <a:off x="8179071" y="598487"/>
                <a:ext cx="339725" cy="357188"/>
              </a:xfrm>
              <a:custGeom>
                <a:avLst/>
                <a:gdLst>
                  <a:gd name="T0" fmla="*/ 1 w 80"/>
                  <a:gd name="T1" fmla="*/ 39 h 84"/>
                  <a:gd name="T2" fmla="*/ 46 w 80"/>
                  <a:gd name="T3" fmla="*/ 34 h 84"/>
                  <a:gd name="T4" fmla="*/ 46 w 80"/>
                  <a:gd name="T5" fmla="*/ 53 h 84"/>
                  <a:gd name="T6" fmla="*/ 53 w 80"/>
                  <a:gd name="T7" fmla="*/ 59 h 84"/>
                  <a:gd name="T8" fmla="*/ 41 w 80"/>
                  <a:gd name="T9" fmla="*/ 84 h 84"/>
                  <a:gd name="T10" fmla="*/ 69 w 80"/>
                  <a:gd name="T11" fmla="*/ 29 h 84"/>
                  <a:gd name="T12" fmla="*/ 19 w 80"/>
                  <a:gd name="T13" fmla="*/ 10 h 84"/>
                  <a:gd name="T14" fmla="*/ 1 w 80"/>
                  <a:gd name="T15" fmla="*/ 39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0" h="84">
                    <a:moveTo>
                      <a:pt x="1" y="39"/>
                    </a:moveTo>
                    <a:cubicBezTo>
                      <a:pt x="11" y="32"/>
                      <a:pt x="37" y="21"/>
                      <a:pt x="46" y="34"/>
                    </a:cubicBezTo>
                    <a:cubicBezTo>
                      <a:pt x="50" y="40"/>
                      <a:pt x="45" y="49"/>
                      <a:pt x="46" y="53"/>
                    </a:cubicBezTo>
                    <a:cubicBezTo>
                      <a:pt x="46" y="55"/>
                      <a:pt x="47" y="57"/>
                      <a:pt x="53" y="59"/>
                    </a:cubicBezTo>
                    <a:cubicBezTo>
                      <a:pt x="55" y="60"/>
                      <a:pt x="51" y="74"/>
                      <a:pt x="41" y="84"/>
                    </a:cubicBezTo>
                    <a:cubicBezTo>
                      <a:pt x="47" y="81"/>
                      <a:pt x="80" y="64"/>
                      <a:pt x="69" y="29"/>
                    </a:cubicBezTo>
                    <a:cubicBezTo>
                      <a:pt x="62" y="10"/>
                      <a:pt x="41" y="0"/>
                      <a:pt x="19" y="10"/>
                    </a:cubicBezTo>
                    <a:cubicBezTo>
                      <a:pt x="0" y="16"/>
                      <a:pt x="2" y="29"/>
                      <a:pt x="1" y="39"/>
                    </a:cubicBezTo>
                    <a:close/>
                  </a:path>
                </a:pathLst>
              </a:custGeom>
              <a:solidFill>
                <a:srgbClr val="E6C41A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1" name="Freeform 80"/>
              <p:cNvSpPr/>
              <p:nvPr/>
            </p:nvSpPr>
            <p:spPr bwMode="auto">
              <a:xfrm>
                <a:off x="8133034" y="623887"/>
                <a:ext cx="309563" cy="230188"/>
              </a:xfrm>
              <a:custGeom>
                <a:avLst/>
                <a:gdLst>
                  <a:gd name="T0" fmla="*/ 13 w 73"/>
                  <a:gd name="T1" fmla="*/ 18 h 54"/>
                  <a:gd name="T2" fmla="*/ 54 w 73"/>
                  <a:gd name="T3" fmla="*/ 53 h 54"/>
                  <a:gd name="T4" fmla="*/ 69 w 73"/>
                  <a:gd name="T5" fmla="*/ 22 h 54"/>
                  <a:gd name="T6" fmla="*/ 13 w 73"/>
                  <a:gd name="T7" fmla="*/ 18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54">
                    <a:moveTo>
                      <a:pt x="13" y="18"/>
                    </a:moveTo>
                    <a:cubicBezTo>
                      <a:pt x="0" y="39"/>
                      <a:pt x="43" y="51"/>
                      <a:pt x="54" y="53"/>
                    </a:cubicBezTo>
                    <a:cubicBezTo>
                      <a:pt x="65" y="54"/>
                      <a:pt x="66" y="45"/>
                      <a:pt x="69" y="22"/>
                    </a:cubicBezTo>
                    <a:cubicBezTo>
                      <a:pt x="73" y="0"/>
                      <a:pt x="23" y="7"/>
                      <a:pt x="13" y="18"/>
                    </a:cubicBezTo>
                    <a:close/>
                  </a:path>
                </a:pathLst>
              </a:custGeom>
              <a:solidFill>
                <a:srgbClr val="E6C41A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2" name="Oval 81"/>
              <p:cNvSpPr>
                <a:spLocks noChangeArrowheads="1"/>
              </p:cNvSpPr>
              <p:nvPr/>
            </p:nvSpPr>
            <p:spPr bwMode="auto">
              <a:xfrm>
                <a:off x="8387034" y="815974"/>
                <a:ext cx="42863" cy="63500"/>
              </a:xfrm>
              <a:prstGeom prst="ellipse">
                <a:avLst/>
              </a:pr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3" name="Freeform 82"/>
              <p:cNvSpPr/>
              <p:nvPr/>
            </p:nvSpPr>
            <p:spPr bwMode="auto">
              <a:xfrm>
                <a:off x="8472759" y="1506537"/>
                <a:ext cx="92075" cy="238125"/>
              </a:xfrm>
              <a:custGeom>
                <a:avLst/>
                <a:gdLst>
                  <a:gd name="T0" fmla="*/ 11 w 22"/>
                  <a:gd name="T1" fmla="*/ 55 h 56"/>
                  <a:gd name="T2" fmla="*/ 22 w 22"/>
                  <a:gd name="T3" fmla="*/ 0 h 56"/>
                  <a:gd name="T4" fmla="*/ 0 w 22"/>
                  <a:gd name="T5" fmla="*/ 0 h 56"/>
                  <a:gd name="T6" fmla="*/ 1 w 22"/>
                  <a:gd name="T7" fmla="*/ 54 h 56"/>
                  <a:gd name="T8" fmla="*/ 11 w 22"/>
                  <a:gd name="T9" fmla="*/ 5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56">
                    <a:moveTo>
                      <a:pt x="11" y="55"/>
                    </a:moveTo>
                    <a:cubicBezTo>
                      <a:pt x="14" y="42"/>
                      <a:pt x="21" y="23"/>
                      <a:pt x="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8"/>
                      <a:pt x="3" y="40"/>
                      <a:pt x="1" y="54"/>
                    </a:cubicBezTo>
                    <a:cubicBezTo>
                      <a:pt x="4" y="55"/>
                      <a:pt x="7" y="56"/>
                      <a:pt x="11" y="55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4" name="Freeform 83"/>
              <p:cNvSpPr/>
              <p:nvPr/>
            </p:nvSpPr>
            <p:spPr bwMode="auto">
              <a:xfrm>
                <a:off x="8374334" y="1082674"/>
                <a:ext cx="139700" cy="407988"/>
              </a:xfrm>
              <a:custGeom>
                <a:avLst/>
                <a:gdLst>
                  <a:gd name="T0" fmla="*/ 11 w 33"/>
                  <a:gd name="T1" fmla="*/ 0 h 96"/>
                  <a:gd name="T2" fmla="*/ 21 w 33"/>
                  <a:gd name="T3" fmla="*/ 82 h 96"/>
                  <a:gd name="T4" fmla="*/ 11 w 33"/>
                  <a:gd name="T5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" h="96">
                    <a:moveTo>
                      <a:pt x="11" y="0"/>
                    </a:moveTo>
                    <a:cubicBezTo>
                      <a:pt x="0" y="34"/>
                      <a:pt x="14" y="68"/>
                      <a:pt x="21" y="82"/>
                    </a:cubicBezTo>
                    <a:cubicBezTo>
                      <a:pt x="28" y="96"/>
                      <a:pt x="33" y="16"/>
                      <a:pt x="1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5" name="Freeform 84"/>
              <p:cNvSpPr/>
              <p:nvPr/>
            </p:nvSpPr>
            <p:spPr bwMode="auto">
              <a:xfrm>
                <a:off x="8379096" y="1011237"/>
                <a:ext cx="195263" cy="558800"/>
              </a:xfrm>
              <a:custGeom>
                <a:avLst/>
                <a:gdLst>
                  <a:gd name="T0" fmla="*/ 45 w 46"/>
                  <a:gd name="T1" fmla="*/ 130 h 132"/>
                  <a:gd name="T2" fmla="*/ 45 w 46"/>
                  <a:gd name="T3" fmla="*/ 71 h 132"/>
                  <a:gd name="T4" fmla="*/ 16 w 46"/>
                  <a:gd name="T5" fmla="*/ 10 h 132"/>
                  <a:gd name="T6" fmla="*/ 20 w 46"/>
                  <a:gd name="T7" fmla="*/ 86 h 132"/>
                  <a:gd name="T8" fmla="*/ 21 w 46"/>
                  <a:gd name="T9" fmla="*/ 128 h 132"/>
                  <a:gd name="T10" fmla="*/ 45 w 46"/>
                  <a:gd name="T11" fmla="*/ 13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" h="132">
                    <a:moveTo>
                      <a:pt x="45" y="130"/>
                    </a:moveTo>
                    <a:cubicBezTo>
                      <a:pt x="46" y="115"/>
                      <a:pt x="46" y="114"/>
                      <a:pt x="45" y="71"/>
                    </a:cubicBezTo>
                    <a:cubicBezTo>
                      <a:pt x="44" y="28"/>
                      <a:pt x="32" y="0"/>
                      <a:pt x="16" y="10"/>
                    </a:cubicBezTo>
                    <a:cubicBezTo>
                      <a:pt x="0" y="17"/>
                      <a:pt x="18" y="71"/>
                      <a:pt x="20" y="86"/>
                    </a:cubicBezTo>
                    <a:cubicBezTo>
                      <a:pt x="23" y="102"/>
                      <a:pt x="19" y="112"/>
                      <a:pt x="21" y="128"/>
                    </a:cubicBezTo>
                    <a:cubicBezTo>
                      <a:pt x="30" y="131"/>
                      <a:pt x="40" y="132"/>
                      <a:pt x="45" y="130"/>
                    </a:cubicBezTo>
                    <a:close/>
                  </a:path>
                </a:pathLst>
              </a:custGeom>
              <a:solidFill>
                <a:srgbClr val="4D4D4D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6" name="Freeform 85"/>
              <p:cNvSpPr/>
              <p:nvPr/>
            </p:nvSpPr>
            <p:spPr bwMode="auto">
              <a:xfrm>
                <a:off x="8133034" y="620712"/>
                <a:ext cx="236538" cy="261938"/>
              </a:xfrm>
              <a:custGeom>
                <a:avLst/>
                <a:gdLst>
                  <a:gd name="T0" fmla="*/ 16 w 56"/>
                  <a:gd name="T1" fmla="*/ 16 h 62"/>
                  <a:gd name="T2" fmla="*/ 45 w 56"/>
                  <a:gd name="T3" fmla="*/ 58 h 62"/>
                  <a:gd name="T4" fmla="*/ 21 w 56"/>
                  <a:gd name="T5" fmla="*/ 19 h 62"/>
                  <a:gd name="T6" fmla="*/ 16 w 56"/>
                  <a:gd name="T7" fmla="*/ 16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6" h="62">
                    <a:moveTo>
                      <a:pt x="16" y="16"/>
                    </a:moveTo>
                    <a:cubicBezTo>
                      <a:pt x="0" y="40"/>
                      <a:pt x="33" y="55"/>
                      <a:pt x="45" y="58"/>
                    </a:cubicBezTo>
                    <a:cubicBezTo>
                      <a:pt x="56" y="62"/>
                      <a:pt x="8" y="37"/>
                      <a:pt x="21" y="19"/>
                    </a:cubicBezTo>
                    <a:cubicBezTo>
                      <a:pt x="35" y="0"/>
                      <a:pt x="21" y="10"/>
                      <a:pt x="16" y="16"/>
                    </a:cubicBezTo>
                    <a:close/>
                  </a:path>
                </a:pathLst>
              </a:custGeom>
              <a:solidFill>
                <a:srgbClr val="E6C41A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7" name="Freeform 86"/>
              <p:cNvSpPr/>
              <p:nvPr/>
            </p:nvSpPr>
            <p:spPr bwMode="auto">
              <a:xfrm>
                <a:off x="7912371" y="1425574"/>
                <a:ext cx="28575" cy="52388"/>
              </a:xfrm>
              <a:custGeom>
                <a:avLst/>
                <a:gdLst>
                  <a:gd name="T0" fmla="*/ 6 w 7"/>
                  <a:gd name="T1" fmla="*/ 1 h 12"/>
                  <a:gd name="T2" fmla="*/ 1 w 7"/>
                  <a:gd name="T3" fmla="*/ 5 h 12"/>
                  <a:gd name="T4" fmla="*/ 2 w 7"/>
                  <a:gd name="T5" fmla="*/ 12 h 12"/>
                  <a:gd name="T6" fmla="*/ 6 w 7"/>
                  <a:gd name="T7" fmla="*/ 7 h 12"/>
                  <a:gd name="T8" fmla="*/ 6 w 7"/>
                  <a:gd name="T9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2">
                    <a:moveTo>
                      <a:pt x="6" y="1"/>
                    </a:moveTo>
                    <a:cubicBezTo>
                      <a:pt x="4" y="0"/>
                      <a:pt x="2" y="2"/>
                      <a:pt x="1" y="5"/>
                    </a:cubicBezTo>
                    <a:cubicBezTo>
                      <a:pt x="0" y="8"/>
                      <a:pt x="0" y="11"/>
                      <a:pt x="2" y="12"/>
                    </a:cubicBezTo>
                    <a:cubicBezTo>
                      <a:pt x="3" y="12"/>
                      <a:pt x="5" y="10"/>
                      <a:pt x="6" y="7"/>
                    </a:cubicBezTo>
                    <a:cubicBezTo>
                      <a:pt x="7" y="4"/>
                      <a:pt x="7" y="2"/>
                      <a:pt x="6" y="1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8" name="Freeform 87"/>
              <p:cNvSpPr/>
              <p:nvPr/>
            </p:nvSpPr>
            <p:spPr bwMode="auto">
              <a:xfrm>
                <a:off x="7933009" y="1435099"/>
                <a:ext cx="30163" cy="50800"/>
              </a:xfrm>
              <a:custGeom>
                <a:avLst/>
                <a:gdLst>
                  <a:gd name="T0" fmla="*/ 5 w 7"/>
                  <a:gd name="T1" fmla="*/ 0 h 12"/>
                  <a:gd name="T2" fmla="*/ 1 w 7"/>
                  <a:gd name="T3" fmla="*/ 5 h 12"/>
                  <a:gd name="T4" fmla="*/ 2 w 7"/>
                  <a:gd name="T5" fmla="*/ 11 h 12"/>
                  <a:gd name="T6" fmla="*/ 6 w 7"/>
                  <a:gd name="T7" fmla="*/ 7 h 12"/>
                  <a:gd name="T8" fmla="*/ 5 w 7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2">
                    <a:moveTo>
                      <a:pt x="5" y="0"/>
                    </a:moveTo>
                    <a:cubicBezTo>
                      <a:pt x="4" y="0"/>
                      <a:pt x="2" y="2"/>
                      <a:pt x="1" y="5"/>
                    </a:cubicBezTo>
                    <a:cubicBezTo>
                      <a:pt x="0" y="8"/>
                      <a:pt x="0" y="11"/>
                      <a:pt x="2" y="11"/>
                    </a:cubicBezTo>
                    <a:cubicBezTo>
                      <a:pt x="3" y="12"/>
                      <a:pt x="5" y="10"/>
                      <a:pt x="6" y="7"/>
                    </a:cubicBezTo>
                    <a:cubicBezTo>
                      <a:pt x="7" y="4"/>
                      <a:pt x="7" y="1"/>
                      <a:pt x="5" y="0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9" name="Freeform 88"/>
              <p:cNvSpPr/>
              <p:nvPr/>
            </p:nvSpPr>
            <p:spPr bwMode="auto">
              <a:xfrm>
                <a:off x="7950471" y="1447799"/>
                <a:ext cx="33338" cy="50800"/>
              </a:xfrm>
              <a:custGeom>
                <a:avLst/>
                <a:gdLst>
                  <a:gd name="T0" fmla="*/ 6 w 8"/>
                  <a:gd name="T1" fmla="*/ 0 h 12"/>
                  <a:gd name="T2" fmla="*/ 1 w 8"/>
                  <a:gd name="T3" fmla="*/ 5 h 12"/>
                  <a:gd name="T4" fmla="*/ 2 w 8"/>
                  <a:gd name="T5" fmla="*/ 11 h 12"/>
                  <a:gd name="T6" fmla="*/ 7 w 8"/>
                  <a:gd name="T7" fmla="*/ 7 h 12"/>
                  <a:gd name="T8" fmla="*/ 6 w 8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12">
                    <a:moveTo>
                      <a:pt x="6" y="0"/>
                    </a:moveTo>
                    <a:cubicBezTo>
                      <a:pt x="4" y="0"/>
                      <a:pt x="2" y="2"/>
                      <a:pt x="1" y="5"/>
                    </a:cubicBezTo>
                    <a:cubicBezTo>
                      <a:pt x="0" y="8"/>
                      <a:pt x="0" y="11"/>
                      <a:pt x="2" y="11"/>
                    </a:cubicBezTo>
                    <a:cubicBezTo>
                      <a:pt x="4" y="12"/>
                      <a:pt x="6" y="10"/>
                      <a:pt x="7" y="7"/>
                    </a:cubicBezTo>
                    <a:cubicBezTo>
                      <a:pt x="8" y="4"/>
                      <a:pt x="7" y="1"/>
                      <a:pt x="6" y="0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0" name="Freeform 89"/>
              <p:cNvSpPr/>
              <p:nvPr/>
            </p:nvSpPr>
            <p:spPr bwMode="auto">
              <a:xfrm>
                <a:off x="7499621" y="2393949"/>
                <a:ext cx="153988" cy="279400"/>
              </a:xfrm>
              <a:custGeom>
                <a:avLst/>
                <a:gdLst>
                  <a:gd name="T0" fmla="*/ 19 w 36"/>
                  <a:gd name="T1" fmla="*/ 11 h 66"/>
                  <a:gd name="T2" fmla="*/ 4 w 36"/>
                  <a:gd name="T3" fmla="*/ 62 h 66"/>
                  <a:gd name="T4" fmla="*/ 9 w 36"/>
                  <a:gd name="T5" fmla="*/ 64 h 66"/>
                  <a:gd name="T6" fmla="*/ 33 w 36"/>
                  <a:gd name="T7" fmla="*/ 14 h 66"/>
                  <a:gd name="T8" fmla="*/ 19 w 36"/>
                  <a:gd name="T9" fmla="*/ 11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66">
                    <a:moveTo>
                      <a:pt x="19" y="11"/>
                    </a:moveTo>
                    <a:cubicBezTo>
                      <a:pt x="16" y="21"/>
                      <a:pt x="0" y="59"/>
                      <a:pt x="4" y="62"/>
                    </a:cubicBezTo>
                    <a:cubicBezTo>
                      <a:pt x="6" y="65"/>
                      <a:pt x="6" y="66"/>
                      <a:pt x="9" y="64"/>
                    </a:cubicBezTo>
                    <a:cubicBezTo>
                      <a:pt x="13" y="64"/>
                      <a:pt x="31" y="26"/>
                      <a:pt x="33" y="14"/>
                    </a:cubicBezTo>
                    <a:cubicBezTo>
                      <a:pt x="36" y="4"/>
                      <a:pt x="23" y="0"/>
                      <a:pt x="19" y="11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1" name="Freeform 90"/>
              <p:cNvSpPr/>
              <p:nvPr/>
            </p:nvSpPr>
            <p:spPr bwMode="auto">
              <a:xfrm>
                <a:off x="7542484" y="2389187"/>
                <a:ext cx="123825" cy="165100"/>
              </a:xfrm>
              <a:custGeom>
                <a:avLst/>
                <a:gdLst>
                  <a:gd name="T0" fmla="*/ 6 w 29"/>
                  <a:gd name="T1" fmla="*/ 11 h 39"/>
                  <a:gd name="T2" fmla="*/ 0 w 29"/>
                  <a:gd name="T3" fmla="*/ 34 h 39"/>
                  <a:gd name="T4" fmla="*/ 15 w 29"/>
                  <a:gd name="T5" fmla="*/ 38 h 39"/>
                  <a:gd name="T6" fmla="*/ 26 w 29"/>
                  <a:gd name="T7" fmla="*/ 16 h 39"/>
                  <a:gd name="T8" fmla="*/ 6 w 29"/>
                  <a:gd name="T9" fmla="*/ 1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39">
                    <a:moveTo>
                      <a:pt x="6" y="11"/>
                    </a:moveTo>
                    <a:cubicBezTo>
                      <a:pt x="3" y="20"/>
                      <a:pt x="1" y="28"/>
                      <a:pt x="0" y="34"/>
                    </a:cubicBezTo>
                    <a:cubicBezTo>
                      <a:pt x="3" y="36"/>
                      <a:pt x="11" y="39"/>
                      <a:pt x="15" y="38"/>
                    </a:cubicBezTo>
                    <a:cubicBezTo>
                      <a:pt x="22" y="28"/>
                      <a:pt x="24" y="24"/>
                      <a:pt x="26" y="16"/>
                    </a:cubicBezTo>
                    <a:cubicBezTo>
                      <a:pt x="29" y="6"/>
                      <a:pt x="10" y="0"/>
                      <a:pt x="6" y="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2" name="Freeform 91"/>
              <p:cNvSpPr/>
              <p:nvPr/>
            </p:nvSpPr>
            <p:spPr bwMode="auto">
              <a:xfrm>
                <a:off x="7550421" y="2193924"/>
                <a:ext cx="225425" cy="327025"/>
              </a:xfrm>
              <a:custGeom>
                <a:avLst/>
                <a:gdLst>
                  <a:gd name="T0" fmla="*/ 41 w 53"/>
                  <a:gd name="T1" fmla="*/ 7 h 77"/>
                  <a:gd name="T2" fmla="*/ 33 w 53"/>
                  <a:gd name="T3" fmla="*/ 45 h 77"/>
                  <a:gd name="T4" fmla="*/ 10 w 53"/>
                  <a:gd name="T5" fmla="*/ 72 h 77"/>
                  <a:gd name="T6" fmla="*/ 14 w 53"/>
                  <a:gd name="T7" fmla="*/ 31 h 77"/>
                  <a:gd name="T8" fmla="*/ 41 w 53"/>
                  <a:gd name="T9" fmla="*/ 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" h="77">
                    <a:moveTo>
                      <a:pt x="41" y="7"/>
                    </a:moveTo>
                    <a:cubicBezTo>
                      <a:pt x="53" y="14"/>
                      <a:pt x="42" y="33"/>
                      <a:pt x="33" y="45"/>
                    </a:cubicBezTo>
                    <a:cubicBezTo>
                      <a:pt x="25" y="57"/>
                      <a:pt x="19" y="77"/>
                      <a:pt x="10" y="72"/>
                    </a:cubicBezTo>
                    <a:cubicBezTo>
                      <a:pt x="0" y="67"/>
                      <a:pt x="8" y="45"/>
                      <a:pt x="14" y="31"/>
                    </a:cubicBezTo>
                    <a:cubicBezTo>
                      <a:pt x="20" y="17"/>
                      <a:pt x="31" y="0"/>
                      <a:pt x="41" y="7"/>
                    </a:cubicBezTo>
                    <a:close/>
                  </a:path>
                </a:pathLst>
              </a:custGeom>
              <a:solidFill>
                <a:srgbClr val="5DC77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3" name="Oval 92"/>
              <p:cNvSpPr>
                <a:spLocks noChangeArrowheads="1"/>
              </p:cNvSpPr>
              <p:nvPr/>
            </p:nvSpPr>
            <p:spPr bwMode="auto">
              <a:xfrm>
                <a:off x="7550421" y="2708274"/>
                <a:ext cx="22225" cy="41275"/>
              </a:xfrm>
              <a:prstGeom prst="ellipse">
                <a:avLst/>
              </a:pr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4" name="Freeform 93"/>
              <p:cNvSpPr/>
              <p:nvPr/>
            </p:nvSpPr>
            <p:spPr bwMode="auto">
              <a:xfrm>
                <a:off x="7326584" y="2398712"/>
                <a:ext cx="419100" cy="368300"/>
              </a:xfrm>
              <a:custGeom>
                <a:avLst/>
                <a:gdLst>
                  <a:gd name="T0" fmla="*/ 264 w 264"/>
                  <a:gd name="T1" fmla="*/ 93 h 232"/>
                  <a:gd name="T2" fmla="*/ 56 w 264"/>
                  <a:gd name="T3" fmla="*/ 0 h 232"/>
                  <a:gd name="T4" fmla="*/ 0 w 264"/>
                  <a:gd name="T5" fmla="*/ 139 h 232"/>
                  <a:gd name="T6" fmla="*/ 208 w 264"/>
                  <a:gd name="T7" fmla="*/ 232 h 232"/>
                  <a:gd name="T8" fmla="*/ 264 w 264"/>
                  <a:gd name="T9" fmla="*/ 93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4" h="232">
                    <a:moveTo>
                      <a:pt x="264" y="93"/>
                    </a:moveTo>
                    <a:lnTo>
                      <a:pt x="56" y="0"/>
                    </a:lnTo>
                    <a:lnTo>
                      <a:pt x="0" y="139"/>
                    </a:lnTo>
                    <a:lnTo>
                      <a:pt x="208" y="232"/>
                    </a:lnTo>
                    <a:lnTo>
                      <a:pt x="264" y="93"/>
                    </a:lnTo>
                    <a:close/>
                  </a:path>
                </a:pathLst>
              </a:custGeom>
              <a:solidFill>
                <a:srgbClr val="7DBBD0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5" name="Freeform 94"/>
              <p:cNvSpPr/>
              <p:nvPr/>
            </p:nvSpPr>
            <p:spPr bwMode="auto">
              <a:xfrm>
                <a:off x="7631384" y="2198687"/>
                <a:ext cx="136525" cy="292100"/>
              </a:xfrm>
              <a:custGeom>
                <a:avLst/>
                <a:gdLst>
                  <a:gd name="T0" fmla="*/ 16 w 32"/>
                  <a:gd name="T1" fmla="*/ 4 h 69"/>
                  <a:gd name="T2" fmla="*/ 9 w 32"/>
                  <a:gd name="T3" fmla="*/ 59 h 69"/>
                  <a:gd name="T4" fmla="*/ 16 w 32"/>
                  <a:gd name="T5" fmla="*/ 4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" h="69">
                    <a:moveTo>
                      <a:pt x="16" y="4"/>
                    </a:moveTo>
                    <a:cubicBezTo>
                      <a:pt x="1" y="11"/>
                      <a:pt x="0" y="50"/>
                      <a:pt x="9" y="59"/>
                    </a:cubicBezTo>
                    <a:cubicBezTo>
                      <a:pt x="18" y="69"/>
                      <a:pt x="32" y="0"/>
                      <a:pt x="16" y="4"/>
                    </a:cubicBezTo>
                    <a:close/>
                  </a:path>
                </a:pathLst>
              </a:custGeom>
              <a:solidFill>
                <a:srgbClr val="31965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6" name="Rectangle 95"/>
              <p:cNvSpPr>
                <a:spLocks noChangeArrowheads="1"/>
              </p:cNvSpPr>
              <p:nvPr/>
            </p:nvSpPr>
            <p:spPr bwMode="auto">
              <a:xfrm>
                <a:off x="7763146" y="2117724"/>
                <a:ext cx="93663" cy="131763"/>
              </a:xfrm>
              <a:prstGeom prst="rect">
                <a:avLst/>
              </a:prstGeom>
              <a:solidFill>
                <a:srgbClr val="EBCAB7"/>
              </a:solidFill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7" name="Freeform 96"/>
              <p:cNvSpPr/>
              <p:nvPr/>
            </p:nvSpPr>
            <p:spPr bwMode="auto">
              <a:xfrm>
                <a:off x="7686946" y="2800349"/>
                <a:ext cx="195263" cy="671513"/>
              </a:xfrm>
              <a:custGeom>
                <a:avLst/>
                <a:gdLst>
                  <a:gd name="T0" fmla="*/ 26 w 46"/>
                  <a:gd name="T1" fmla="*/ 31 h 158"/>
                  <a:gd name="T2" fmla="*/ 24 w 46"/>
                  <a:gd name="T3" fmla="*/ 88 h 158"/>
                  <a:gd name="T4" fmla="*/ 28 w 46"/>
                  <a:gd name="T5" fmla="*/ 139 h 158"/>
                  <a:gd name="T6" fmla="*/ 42 w 46"/>
                  <a:gd name="T7" fmla="*/ 148 h 158"/>
                  <a:gd name="T8" fmla="*/ 37 w 46"/>
                  <a:gd name="T9" fmla="*/ 156 h 158"/>
                  <a:gd name="T10" fmla="*/ 19 w 46"/>
                  <a:gd name="T11" fmla="*/ 152 h 158"/>
                  <a:gd name="T12" fmla="*/ 5 w 46"/>
                  <a:gd name="T13" fmla="*/ 143 h 158"/>
                  <a:gd name="T14" fmla="*/ 8 w 46"/>
                  <a:gd name="T15" fmla="*/ 123 h 158"/>
                  <a:gd name="T16" fmla="*/ 5 w 46"/>
                  <a:gd name="T17" fmla="*/ 82 h 158"/>
                  <a:gd name="T18" fmla="*/ 0 w 46"/>
                  <a:gd name="T19" fmla="*/ 19 h 158"/>
                  <a:gd name="T20" fmla="*/ 26 w 46"/>
                  <a:gd name="T21" fmla="*/ 31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" h="158">
                    <a:moveTo>
                      <a:pt x="26" y="31"/>
                    </a:moveTo>
                    <a:cubicBezTo>
                      <a:pt x="26" y="44"/>
                      <a:pt x="25" y="73"/>
                      <a:pt x="24" y="88"/>
                    </a:cubicBezTo>
                    <a:cubicBezTo>
                      <a:pt x="23" y="102"/>
                      <a:pt x="21" y="130"/>
                      <a:pt x="28" y="139"/>
                    </a:cubicBezTo>
                    <a:cubicBezTo>
                      <a:pt x="36" y="148"/>
                      <a:pt x="40" y="148"/>
                      <a:pt x="42" y="148"/>
                    </a:cubicBezTo>
                    <a:cubicBezTo>
                      <a:pt x="45" y="149"/>
                      <a:pt x="46" y="155"/>
                      <a:pt x="37" y="156"/>
                    </a:cubicBezTo>
                    <a:cubicBezTo>
                      <a:pt x="28" y="158"/>
                      <a:pt x="24" y="156"/>
                      <a:pt x="19" y="152"/>
                    </a:cubicBezTo>
                    <a:cubicBezTo>
                      <a:pt x="14" y="148"/>
                      <a:pt x="6" y="151"/>
                      <a:pt x="5" y="143"/>
                    </a:cubicBezTo>
                    <a:cubicBezTo>
                      <a:pt x="3" y="135"/>
                      <a:pt x="9" y="137"/>
                      <a:pt x="8" y="123"/>
                    </a:cubicBezTo>
                    <a:cubicBezTo>
                      <a:pt x="6" y="108"/>
                      <a:pt x="1" y="97"/>
                      <a:pt x="5" y="82"/>
                    </a:cubicBezTo>
                    <a:cubicBezTo>
                      <a:pt x="8" y="68"/>
                      <a:pt x="0" y="38"/>
                      <a:pt x="0" y="19"/>
                    </a:cubicBezTo>
                    <a:cubicBezTo>
                      <a:pt x="0" y="0"/>
                      <a:pt x="24" y="6"/>
                      <a:pt x="26" y="31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8" name="Freeform 97"/>
              <p:cNvSpPr/>
              <p:nvPr/>
            </p:nvSpPr>
            <p:spPr bwMode="auto">
              <a:xfrm>
                <a:off x="7707584" y="3386137"/>
                <a:ext cx="55563" cy="93663"/>
              </a:xfrm>
              <a:custGeom>
                <a:avLst/>
                <a:gdLst>
                  <a:gd name="T0" fmla="*/ 0 w 13"/>
                  <a:gd name="T1" fmla="*/ 5 h 22"/>
                  <a:gd name="T2" fmla="*/ 4 w 13"/>
                  <a:gd name="T3" fmla="*/ 20 h 22"/>
                  <a:gd name="T4" fmla="*/ 8 w 13"/>
                  <a:gd name="T5" fmla="*/ 20 h 22"/>
                  <a:gd name="T6" fmla="*/ 10 w 13"/>
                  <a:gd name="T7" fmla="*/ 9 h 22"/>
                  <a:gd name="T8" fmla="*/ 0 w 13"/>
                  <a:gd name="T9" fmla="*/ 5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2">
                    <a:moveTo>
                      <a:pt x="0" y="5"/>
                    </a:moveTo>
                    <a:cubicBezTo>
                      <a:pt x="2" y="11"/>
                      <a:pt x="3" y="14"/>
                      <a:pt x="4" y="20"/>
                    </a:cubicBezTo>
                    <a:cubicBezTo>
                      <a:pt x="4" y="22"/>
                      <a:pt x="8" y="22"/>
                      <a:pt x="8" y="20"/>
                    </a:cubicBezTo>
                    <a:cubicBezTo>
                      <a:pt x="8" y="16"/>
                      <a:pt x="6" y="13"/>
                      <a:pt x="10" y="9"/>
                    </a:cubicBezTo>
                    <a:cubicBezTo>
                      <a:pt x="13" y="6"/>
                      <a:pt x="0" y="0"/>
                      <a:pt x="0" y="5"/>
                    </a:cubicBezTo>
                    <a:close/>
                  </a:path>
                </a:pathLst>
              </a:custGeom>
              <a:solidFill>
                <a:srgbClr val="4D4D4D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9" name="Freeform 98"/>
              <p:cNvSpPr/>
              <p:nvPr/>
            </p:nvSpPr>
            <p:spPr bwMode="auto">
              <a:xfrm>
                <a:off x="7704409" y="3378199"/>
                <a:ext cx="177800" cy="93663"/>
              </a:xfrm>
              <a:custGeom>
                <a:avLst/>
                <a:gdLst>
                  <a:gd name="T0" fmla="*/ 31 w 42"/>
                  <a:gd name="T1" fmla="*/ 10 h 22"/>
                  <a:gd name="T2" fmla="*/ 38 w 42"/>
                  <a:gd name="T3" fmla="*/ 12 h 22"/>
                  <a:gd name="T4" fmla="*/ 33 w 42"/>
                  <a:gd name="T5" fmla="*/ 20 h 22"/>
                  <a:gd name="T6" fmla="*/ 15 w 42"/>
                  <a:gd name="T7" fmla="*/ 16 h 22"/>
                  <a:gd name="T8" fmla="*/ 1 w 42"/>
                  <a:gd name="T9" fmla="*/ 7 h 22"/>
                  <a:gd name="T10" fmla="*/ 2 w 42"/>
                  <a:gd name="T11" fmla="*/ 0 h 22"/>
                  <a:gd name="T12" fmla="*/ 20 w 42"/>
                  <a:gd name="T13" fmla="*/ 12 h 22"/>
                  <a:gd name="T14" fmla="*/ 31 w 42"/>
                  <a:gd name="T15" fmla="*/ 1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22">
                    <a:moveTo>
                      <a:pt x="31" y="10"/>
                    </a:moveTo>
                    <a:cubicBezTo>
                      <a:pt x="34" y="11"/>
                      <a:pt x="35" y="12"/>
                      <a:pt x="38" y="12"/>
                    </a:cubicBezTo>
                    <a:cubicBezTo>
                      <a:pt x="41" y="13"/>
                      <a:pt x="42" y="19"/>
                      <a:pt x="33" y="20"/>
                    </a:cubicBezTo>
                    <a:cubicBezTo>
                      <a:pt x="24" y="22"/>
                      <a:pt x="20" y="20"/>
                      <a:pt x="15" y="16"/>
                    </a:cubicBezTo>
                    <a:cubicBezTo>
                      <a:pt x="10" y="12"/>
                      <a:pt x="2" y="15"/>
                      <a:pt x="1" y="7"/>
                    </a:cubicBezTo>
                    <a:cubicBezTo>
                      <a:pt x="0" y="3"/>
                      <a:pt x="1" y="2"/>
                      <a:pt x="2" y="0"/>
                    </a:cubicBezTo>
                    <a:cubicBezTo>
                      <a:pt x="4" y="5"/>
                      <a:pt x="15" y="9"/>
                      <a:pt x="20" y="12"/>
                    </a:cubicBezTo>
                    <a:cubicBezTo>
                      <a:pt x="25" y="15"/>
                      <a:pt x="30" y="13"/>
                      <a:pt x="31" y="10"/>
                    </a:cubicBezTo>
                    <a:close/>
                  </a:path>
                </a:pathLst>
              </a:custGeom>
              <a:solidFill>
                <a:srgbClr val="4D4D4D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0" name="Freeform 99"/>
              <p:cNvSpPr/>
              <p:nvPr/>
            </p:nvSpPr>
            <p:spPr bwMode="auto">
              <a:xfrm>
                <a:off x="7836171" y="3424237"/>
                <a:ext cx="58738" cy="93663"/>
              </a:xfrm>
              <a:custGeom>
                <a:avLst/>
                <a:gdLst>
                  <a:gd name="T0" fmla="*/ 1 w 14"/>
                  <a:gd name="T1" fmla="*/ 6 h 22"/>
                  <a:gd name="T2" fmla="*/ 4 w 14"/>
                  <a:gd name="T3" fmla="*/ 21 h 22"/>
                  <a:gd name="T4" fmla="*/ 8 w 14"/>
                  <a:gd name="T5" fmla="*/ 21 h 22"/>
                  <a:gd name="T6" fmla="*/ 11 w 14"/>
                  <a:gd name="T7" fmla="*/ 9 h 22"/>
                  <a:gd name="T8" fmla="*/ 1 w 14"/>
                  <a:gd name="T9" fmla="*/ 6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22">
                    <a:moveTo>
                      <a:pt x="1" y="6"/>
                    </a:moveTo>
                    <a:cubicBezTo>
                      <a:pt x="3" y="11"/>
                      <a:pt x="4" y="15"/>
                      <a:pt x="4" y="21"/>
                    </a:cubicBezTo>
                    <a:cubicBezTo>
                      <a:pt x="4" y="22"/>
                      <a:pt x="8" y="22"/>
                      <a:pt x="8" y="21"/>
                    </a:cubicBezTo>
                    <a:cubicBezTo>
                      <a:pt x="8" y="17"/>
                      <a:pt x="7" y="13"/>
                      <a:pt x="11" y="9"/>
                    </a:cubicBezTo>
                    <a:cubicBezTo>
                      <a:pt x="14" y="6"/>
                      <a:pt x="0" y="0"/>
                      <a:pt x="1" y="6"/>
                    </a:cubicBezTo>
                    <a:close/>
                  </a:path>
                </a:pathLst>
              </a:custGeom>
              <a:solidFill>
                <a:srgbClr val="4D4D4D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1" name="Freeform 100"/>
              <p:cNvSpPr/>
              <p:nvPr/>
            </p:nvSpPr>
            <p:spPr bwMode="auto">
              <a:xfrm>
                <a:off x="7796484" y="2852737"/>
                <a:ext cx="212725" cy="665163"/>
              </a:xfrm>
              <a:custGeom>
                <a:avLst/>
                <a:gdLst>
                  <a:gd name="T0" fmla="*/ 30 w 50"/>
                  <a:gd name="T1" fmla="*/ 30 h 157"/>
                  <a:gd name="T2" fmla="*/ 28 w 50"/>
                  <a:gd name="T3" fmla="*/ 87 h 157"/>
                  <a:gd name="T4" fmla="*/ 32 w 50"/>
                  <a:gd name="T5" fmla="*/ 139 h 157"/>
                  <a:gd name="T6" fmla="*/ 46 w 50"/>
                  <a:gd name="T7" fmla="*/ 148 h 157"/>
                  <a:gd name="T8" fmla="*/ 41 w 50"/>
                  <a:gd name="T9" fmla="*/ 156 h 157"/>
                  <a:gd name="T10" fmla="*/ 23 w 50"/>
                  <a:gd name="T11" fmla="*/ 151 h 157"/>
                  <a:gd name="T12" fmla="*/ 8 w 50"/>
                  <a:gd name="T13" fmla="*/ 142 h 157"/>
                  <a:gd name="T14" fmla="*/ 11 w 50"/>
                  <a:gd name="T15" fmla="*/ 122 h 157"/>
                  <a:gd name="T16" fmla="*/ 8 w 50"/>
                  <a:gd name="T17" fmla="*/ 82 h 157"/>
                  <a:gd name="T18" fmla="*/ 0 w 50"/>
                  <a:gd name="T19" fmla="*/ 20 h 157"/>
                  <a:gd name="T20" fmla="*/ 30 w 50"/>
                  <a:gd name="T21" fmla="*/ 30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157">
                    <a:moveTo>
                      <a:pt x="30" y="30"/>
                    </a:moveTo>
                    <a:cubicBezTo>
                      <a:pt x="30" y="44"/>
                      <a:pt x="29" y="73"/>
                      <a:pt x="28" y="87"/>
                    </a:cubicBezTo>
                    <a:cubicBezTo>
                      <a:pt x="27" y="102"/>
                      <a:pt x="24" y="129"/>
                      <a:pt x="32" y="139"/>
                    </a:cubicBezTo>
                    <a:cubicBezTo>
                      <a:pt x="39" y="147"/>
                      <a:pt x="43" y="147"/>
                      <a:pt x="46" y="148"/>
                    </a:cubicBezTo>
                    <a:cubicBezTo>
                      <a:pt x="48" y="149"/>
                      <a:pt x="50" y="154"/>
                      <a:pt x="41" y="156"/>
                    </a:cubicBezTo>
                    <a:cubicBezTo>
                      <a:pt x="31" y="157"/>
                      <a:pt x="28" y="155"/>
                      <a:pt x="23" y="151"/>
                    </a:cubicBezTo>
                    <a:cubicBezTo>
                      <a:pt x="18" y="147"/>
                      <a:pt x="10" y="150"/>
                      <a:pt x="8" y="142"/>
                    </a:cubicBezTo>
                    <a:cubicBezTo>
                      <a:pt x="7" y="135"/>
                      <a:pt x="12" y="136"/>
                      <a:pt x="11" y="122"/>
                    </a:cubicBezTo>
                    <a:cubicBezTo>
                      <a:pt x="10" y="107"/>
                      <a:pt x="5" y="96"/>
                      <a:pt x="8" y="82"/>
                    </a:cubicBezTo>
                    <a:cubicBezTo>
                      <a:pt x="12" y="67"/>
                      <a:pt x="0" y="39"/>
                      <a:pt x="0" y="20"/>
                    </a:cubicBezTo>
                    <a:cubicBezTo>
                      <a:pt x="0" y="0"/>
                      <a:pt x="28" y="5"/>
                      <a:pt x="30" y="30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2" name="Freeform 101"/>
              <p:cNvSpPr/>
              <p:nvPr/>
            </p:nvSpPr>
            <p:spPr bwMode="auto">
              <a:xfrm>
                <a:off x="7831409" y="3424237"/>
                <a:ext cx="177800" cy="93663"/>
              </a:xfrm>
              <a:custGeom>
                <a:avLst/>
                <a:gdLst>
                  <a:gd name="T0" fmla="*/ 31 w 42"/>
                  <a:gd name="T1" fmla="*/ 10 h 22"/>
                  <a:gd name="T2" fmla="*/ 38 w 42"/>
                  <a:gd name="T3" fmla="*/ 13 h 22"/>
                  <a:gd name="T4" fmla="*/ 33 w 42"/>
                  <a:gd name="T5" fmla="*/ 21 h 22"/>
                  <a:gd name="T6" fmla="*/ 15 w 42"/>
                  <a:gd name="T7" fmla="*/ 16 h 22"/>
                  <a:gd name="T8" fmla="*/ 0 w 42"/>
                  <a:gd name="T9" fmla="*/ 7 h 22"/>
                  <a:gd name="T10" fmla="*/ 2 w 42"/>
                  <a:gd name="T11" fmla="*/ 0 h 22"/>
                  <a:gd name="T12" fmla="*/ 20 w 42"/>
                  <a:gd name="T13" fmla="*/ 12 h 22"/>
                  <a:gd name="T14" fmla="*/ 31 w 42"/>
                  <a:gd name="T15" fmla="*/ 1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22">
                    <a:moveTo>
                      <a:pt x="31" y="10"/>
                    </a:moveTo>
                    <a:cubicBezTo>
                      <a:pt x="34" y="12"/>
                      <a:pt x="35" y="12"/>
                      <a:pt x="38" y="13"/>
                    </a:cubicBezTo>
                    <a:cubicBezTo>
                      <a:pt x="40" y="13"/>
                      <a:pt x="42" y="19"/>
                      <a:pt x="33" y="21"/>
                    </a:cubicBezTo>
                    <a:cubicBezTo>
                      <a:pt x="23" y="22"/>
                      <a:pt x="20" y="20"/>
                      <a:pt x="15" y="16"/>
                    </a:cubicBezTo>
                    <a:cubicBezTo>
                      <a:pt x="10" y="12"/>
                      <a:pt x="2" y="15"/>
                      <a:pt x="0" y="7"/>
                    </a:cubicBezTo>
                    <a:cubicBezTo>
                      <a:pt x="0" y="4"/>
                      <a:pt x="1" y="2"/>
                      <a:pt x="2" y="0"/>
                    </a:cubicBezTo>
                    <a:cubicBezTo>
                      <a:pt x="4" y="6"/>
                      <a:pt x="15" y="9"/>
                      <a:pt x="20" y="12"/>
                    </a:cubicBezTo>
                    <a:cubicBezTo>
                      <a:pt x="25" y="15"/>
                      <a:pt x="29" y="13"/>
                      <a:pt x="31" y="10"/>
                    </a:cubicBezTo>
                    <a:close/>
                  </a:path>
                </a:pathLst>
              </a:custGeom>
              <a:solidFill>
                <a:srgbClr val="4D4D4D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3" name="Freeform 102"/>
              <p:cNvSpPr/>
              <p:nvPr/>
            </p:nvSpPr>
            <p:spPr bwMode="auto">
              <a:xfrm>
                <a:off x="7640909" y="2533649"/>
                <a:ext cx="304800" cy="539750"/>
              </a:xfrm>
              <a:custGeom>
                <a:avLst/>
                <a:gdLst>
                  <a:gd name="T0" fmla="*/ 65 w 72"/>
                  <a:gd name="T1" fmla="*/ 22 h 127"/>
                  <a:gd name="T2" fmla="*/ 67 w 72"/>
                  <a:gd name="T3" fmla="*/ 116 h 127"/>
                  <a:gd name="T4" fmla="*/ 7 w 72"/>
                  <a:gd name="T5" fmla="*/ 105 h 127"/>
                  <a:gd name="T6" fmla="*/ 2 w 72"/>
                  <a:gd name="T7" fmla="*/ 55 h 127"/>
                  <a:gd name="T8" fmla="*/ 6 w 72"/>
                  <a:gd name="T9" fmla="*/ 8 h 127"/>
                  <a:gd name="T10" fmla="*/ 65 w 72"/>
                  <a:gd name="T11" fmla="*/ 22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127">
                    <a:moveTo>
                      <a:pt x="65" y="22"/>
                    </a:moveTo>
                    <a:cubicBezTo>
                      <a:pt x="70" y="38"/>
                      <a:pt x="72" y="98"/>
                      <a:pt x="67" y="116"/>
                    </a:cubicBezTo>
                    <a:cubicBezTo>
                      <a:pt x="51" y="120"/>
                      <a:pt x="33" y="127"/>
                      <a:pt x="7" y="105"/>
                    </a:cubicBezTo>
                    <a:cubicBezTo>
                      <a:pt x="7" y="96"/>
                      <a:pt x="5" y="68"/>
                      <a:pt x="2" y="55"/>
                    </a:cubicBezTo>
                    <a:cubicBezTo>
                      <a:pt x="0" y="44"/>
                      <a:pt x="1" y="22"/>
                      <a:pt x="6" y="8"/>
                    </a:cubicBezTo>
                    <a:cubicBezTo>
                      <a:pt x="7" y="6"/>
                      <a:pt x="57" y="0"/>
                      <a:pt x="65" y="22"/>
                    </a:cubicBezTo>
                    <a:close/>
                  </a:path>
                </a:pathLst>
              </a:custGeom>
              <a:solidFill>
                <a:srgbClr val="4D4D4D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4" name="Freeform 103"/>
              <p:cNvSpPr/>
              <p:nvPr/>
            </p:nvSpPr>
            <p:spPr bwMode="auto">
              <a:xfrm>
                <a:off x="7618684" y="2198687"/>
                <a:ext cx="382588" cy="449263"/>
              </a:xfrm>
              <a:custGeom>
                <a:avLst/>
                <a:gdLst>
                  <a:gd name="T0" fmla="*/ 56 w 90"/>
                  <a:gd name="T1" fmla="*/ 9 h 106"/>
                  <a:gd name="T2" fmla="*/ 63 w 90"/>
                  <a:gd name="T3" fmla="*/ 51 h 106"/>
                  <a:gd name="T4" fmla="*/ 60 w 90"/>
                  <a:gd name="T5" fmla="*/ 100 h 106"/>
                  <a:gd name="T6" fmla="*/ 10 w 90"/>
                  <a:gd name="T7" fmla="*/ 92 h 106"/>
                  <a:gd name="T8" fmla="*/ 10 w 90"/>
                  <a:gd name="T9" fmla="*/ 43 h 106"/>
                  <a:gd name="T10" fmla="*/ 33 w 90"/>
                  <a:gd name="T11" fmla="*/ 4 h 106"/>
                  <a:gd name="T12" fmla="*/ 56 w 90"/>
                  <a:gd name="T13" fmla="*/ 9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106">
                    <a:moveTo>
                      <a:pt x="56" y="9"/>
                    </a:moveTo>
                    <a:cubicBezTo>
                      <a:pt x="67" y="17"/>
                      <a:pt x="90" y="37"/>
                      <a:pt x="63" y="51"/>
                    </a:cubicBezTo>
                    <a:cubicBezTo>
                      <a:pt x="42" y="61"/>
                      <a:pt x="69" y="88"/>
                      <a:pt x="60" y="100"/>
                    </a:cubicBezTo>
                    <a:cubicBezTo>
                      <a:pt x="45" y="106"/>
                      <a:pt x="16" y="102"/>
                      <a:pt x="10" y="92"/>
                    </a:cubicBezTo>
                    <a:cubicBezTo>
                      <a:pt x="0" y="80"/>
                      <a:pt x="14" y="61"/>
                      <a:pt x="10" y="43"/>
                    </a:cubicBezTo>
                    <a:cubicBezTo>
                      <a:pt x="7" y="31"/>
                      <a:pt x="4" y="0"/>
                      <a:pt x="33" y="4"/>
                    </a:cubicBezTo>
                    <a:cubicBezTo>
                      <a:pt x="35" y="9"/>
                      <a:pt x="39" y="12"/>
                      <a:pt x="56" y="9"/>
                    </a:cubicBezTo>
                    <a:close/>
                  </a:path>
                </a:pathLst>
              </a:custGeom>
              <a:solidFill>
                <a:srgbClr val="5DC77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5" name="Freeform 104"/>
              <p:cNvSpPr/>
              <p:nvPr/>
            </p:nvSpPr>
            <p:spPr bwMode="auto">
              <a:xfrm>
                <a:off x="7666309" y="1897062"/>
                <a:ext cx="287338" cy="293688"/>
              </a:xfrm>
              <a:custGeom>
                <a:avLst/>
                <a:gdLst>
                  <a:gd name="T0" fmla="*/ 23 w 68"/>
                  <a:gd name="T1" fmla="*/ 4 h 69"/>
                  <a:gd name="T2" fmla="*/ 6 w 68"/>
                  <a:gd name="T3" fmla="*/ 43 h 69"/>
                  <a:gd name="T4" fmla="*/ 51 w 68"/>
                  <a:gd name="T5" fmla="*/ 65 h 69"/>
                  <a:gd name="T6" fmla="*/ 62 w 68"/>
                  <a:gd name="T7" fmla="*/ 28 h 69"/>
                  <a:gd name="T8" fmla="*/ 23 w 68"/>
                  <a:gd name="T9" fmla="*/ 4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69">
                    <a:moveTo>
                      <a:pt x="23" y="4"/>
                    </a:moveTo>
                    <a:cubicBezTo>
                      <a:pt x="8" y="8"/>
                      <a:pt x="0" y="25"/>
                      <a:pt x="6" y="43"/>
                    </a:cubicBezTo>
                    <a:cubicBezTo>
                      <a:pt x="13" y="60"/>
                      <a:pt x="35" y="69"/>
                      <a:pt x="51" y="65"/>
                    </a:cubicBezTo>
                    <a:cubicBezTo>
                      <a:pt x="66" y="61"/>
                      <a:pt x="68" y="45"/>
                      <a:pt x="62" y="28"/>
                    </a:cubicBezTo>
                    <a:cubicBezTo>
                      <a:pt x="56" y="10"/>
                      <a:pt x="38" y="0"/>
                      <a:pt x="23" y="4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6" name="Freeform 105"/>
              <p:cNvSpPr/>
              <p:nvPr/>
            </p:nvSpPr>
            <p:spPr bwMode="auto">
              <a:xfrm>
                <a:off x="7813946" y="2282824"/>
                <a:ext cx="144463" cy="357188"/>
              </a:xfrm>
              <a:custGeom>
                <a:avLst/>
                <a:gdLst>
                  <a:gd name="T0" fmla="*/ 18 w 34"/>
                  <a:gd name="T1" fmla="*/ 2 h 84"/>
                  <a:gd name="T2" fmla="*/ 25 w 34"/>
                  <a:gd name="T3" fmla="*/ 38 h 84"/>
                  <a:gd name="T4" fmla="*/ 19 w 34"/>
                  <a:gd name="T5" fmla="*/ 84 h 84"/>
                  <a:gd name="T6" fmla="*/ 0 w 34"/>
                  <a:gd name="T7" fmla="*/ 36 h 84"/>
                  <a:gd name="T8" fmla="*/ 18 w 34"/>
                  <a:gd name="T9" fmla="*/ 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84">
                    <a:moveTo>
                      <a:pt x="18" y="2"/>
                    </a:moveTo>
                    <a:cubicBezTo>
                      <a:pt x="33" y="3"/>
                      <a:pt x="28" y="23"/>
                      <a:pt x="25" y="38"/>
                    </a:cubicBezTo>
                    <a:cubicBezTo>
                      <a:pt x="20" y="54"/>
                      <a:pt x="34" y="84"/>
                      <a:pt x="19" y="84"/>
                    </a:cubicBezTo>
                    <a:cubicBezTo>
                      <a:pt x="8" y="83"/>
                      <a:pt x="1" y="51"/>
                      <a:pt x="0" y="36"/>
                    </a:cubicBezTo>
                    <a:cubicBezTo>
                      <a:pt x="0" y="21"/>
                      <a:pt x="6" y="0"/>
                      <a:pt x="18" y="2"/>
                    </a:cubicBezTo>
                    <a:close/>
                  </a:path>
                </a:pathLst>
              </a:custGeom>
              <a:solidFill>
                <a:srgbClr val="31965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7" name="Freeform 106"/>
              <p:cNvSpPr/>
              <p:nvPr/>
            </p:nvSpPr>
            <p:spPr bwMode="auto">
              <a:xfrm>
                <a:off x="7996509" y="2759074"/>
                <a:ext cx="127000" cy="96838"/>
              </a:xfrm>
              <a:custGeom>
                <a:avLst/>
                <a:gdLst>
                  <a:gd name="T0" fmla="*/ 2 w 30"/>
                  <a:gd name="T1" fmla="*/ 9 h 23"/>
                  <a:gd name="T2" fmla="*/ 8 w 30"/>
                  <a:gd name="T3" fmla="*/ 17 h 23"/>
                  <a:gd name="T4" fmla="*/ 12 w 30"/>
                  <a:gd name="T5" fmla="*/ 16 h 23"/>
                  <a:gd name="T6" fmla="*/ 18 w 30"/>
                  <a:gd name="T7" fmla="*/ 18 h 23"/>
                  <a:gd name="T8" fmla="*/ 14 w 30"/>
                  <a:gd name="T9" fmla="*/ 14 h 23"/>
                  <a:gd name="T10" fmla="*/ 15 w 30"/>
                  <a:gd name="T11" fmla="*/ 10 h 23"/>
                  <a:gd name="T12" fmla="*/ 16 w 30"/>
                  <a:gd name="T13" fmla="*/ 6 h 23"/>
                  <a:gd name="T14" fmla="*/ 2 w 30"/>
                  <a:gd name="T15" fmla="*/ 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23">
                    <a:moveTo>
                      <a:pt x="2" y="9"/>
                    </a:moveTo>
                    <a:cubicBezTo>
                      <a:pt x="4" y="13"/>
                      <a:pt x="5" y="15"/>
                      <a:pt x="8" y="17"/>
                    </a:cubicBezTo>
                    <a:cubicBezTo>
                      <a:pt x="9" y="17"/>
                      <a:pt x="11" y="18"/>
                      <a:pt x="12" y="16"/>
                    </a:cubicBezTo>
                    <a:cubicBezTo>
                      <a:pt x="14" y="18"/>
                      <a:pt x="16" y="20"/>
                      <a:pt x="18" y="18"/>
                    </a:cubicBezTo>
                    <a:cubicBezTo>
                      <a:pt x="18" y="18"/>
                      <a:pt x="16" y="16"/>
                      <a:pt x="14" y="14"/>
                    </a:cubicBezTo>
                    <a:cubicBezTo>
                      <a:pt x="18" y="18"/>
                      <a:pt x="30" y="23"/>
                      <a:pt x="15" y="10"/>
                    </a:cubicBezTo>
                    <a:cubicBezTo>
                      <a:pt x="18" y="11"/>
                      <a:pt x="23" y="11"/>
                      <a:pt x="16" y="6"/>
                    </a:cubicBezTo>
                    <a:cubicBezTo>
                      <a:pt x="9" y="0"/>
                      <a:pt x="0" y="3"/>
                      <a:pt x="2" y="9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8" name="Freeform 107"/>
              <p:cNvSpPr/>
              <p:nvPr/>
            </p:nvSpPr>
            <p:spPr bwMode="auto">
              <a:xfrm>
                <a:off x="7852046" y="2533649"/>
                <a:ext cx="192088" cy="263525"/>
              </a:xfrm>
              <a:custGeom>
                <a:avLst/>
                <a:gdLst>
                  <a:gd name="T0" fmla="*/ 6 w 45"/>
                  <a:gd name="T1" fmla="*/ 18 h 62"/>
                  <a:gd name="T2" fmla="*/ 38 w 45"/>
                  <a:gd name="T3" fmla="*/ 60 h 62"/>
                  <a:gd name="T4" fmla="*/ 42 w 45"/>
                  <a:gd name="T5" fmla="*/ 58 h 62"/>
                  <a:gd name="T6" fmla="*/ 17 w 45"/>
                  <a:gd name="T7" fmla="*/ 8 h 62"/>
                  <a:gd name="T8" fmla="*/ 6 w 45"/>
                  <a:gd name="T9" fmla="*/ 1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62">
                    <a:moveTo>
                      <a:pt x="6" y="18"/>
                    </a:moveTo>
                    <a:cubicBezTo>
                      <a:pt x="12" y="26"/>
                      <a:pt x="33" y="62"/>
                      <a:pt x="38" y="60"/>
                    </a:cubicBezTo>
                    <a:cubicBezTo>
                      <a:pt x="42" y="61"/>
                      <a:pt x="42" y="61"/>
                      <a:pt x="42" y="58"/>
                    </a:cubicBezTo>
                    <a:cubicBezTo>
                      <a:pt x="45" y="54"/>
                      <a:pt x="25" y="17"/>
                      <a:pt x="17" y="8"/>
                    </a:cubicBezTo>
                    <a:cubicBezTo>
                      <a:pt x="10" y="0"/>
                      <a:pt x="0" y="8"/>
                      <a:pt x="6" y="18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9" name="Freeform 108"/>
              <p:cNvSpPr/>
              <p:nvPr/>
            </p:nvSpPr>
            <p:spPr bwMode="auto">
              <a:xfrm>
                <a:off x="7839346" y="2525712"/>
                <a:ext cx="144463" cy="169863"/>
              </a:xfrm>
              <a:custGeom>
                <a:avLst/>
                <a:gdLst>
                  <a:gd name="T0" fmla="*/ 6 w 34"/>
                  <a:gd name="T1" fmla="*/ 21 h 40"/>
                  <a:gd name="T2" fmla="*/ 21 w 34"/>
                  <a:gd name="T3" fmla="*/ 40 h 40"/>
                  <a:gd name="T4" fmla="*/ 34 w 34"/>
                  <a:gd name="T5" fmla="*/ 30 h 40"/>
                  <a:gd name="T6" fmla="*/ 23 w 34"/>
                  <a:gd name="T7" fmla="*/ 8 h 40"/>
                  <a:gd name="T8" fmla="*/ 6 w 34"/>
                  <a:gd name="T9" fmla="*/ 21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40">
                    <a:moveTo>
                      <a:pt x="6" y="21"/>
                    </a:moveTo>
                    <a:cubicBezTo>
                      <a:pt x="12" y="30"/>
                      <a:pt x="17" y="35"/>
                      <a:pt x="21" y="40"/>
                    </a:cubicBezTo>
                    <a:cubicBezTo>
                      <a:pt x="24" y="39"/>
                      <a:pt x="32" y="34"/>
                      <a:pt x="34" y="30"/>
                    </a:cubicBezTo>
                    <a:cubicBezTo>
                      <a:pt x="30" y="19"/>
                      <a:pt x="27" y="15"/>
                      <a:pt x="23" y="8"/>
                    </a:cubicBezTo>
                    <a:cubicBezTo>
                      <a:pt x="16" y="0"/>
                      <a:pt x="0" y="11"/>
                      <a:pt x="6" y="21"/>
                    </a:cubicBezTo>
                    <a:close/>
                  </a:path>
                </a:pathLst>
              </a:custGeom>
              <a:solidFill>
                <a:srgbClr val="5DC77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0" name="Freeform 109"/>
              <p:cNvSpPr/>
              <p:nvPr/>
            </p:nvSpPr>
            <p:spPr bwMode="auto">
              <a:xfrm>
                <a:off x="7831409" y="2279649"/>
                <a:ext cx="122238" cy="360363"/>
              </a:xfrm>
              <a:custGeom>
                <a:avLst/>
                <a:gdLst>
                  <a:gd name="T0" fmla="*/ 15 w 29"/>
                  <a:gd name="T1" fmla="*/ 2 h 85"/>
                  <a:gd name="T2" fmla="*/ 25 w 29"/>
                  <a:gd name="T3" fmla="*/ 46 h 85"/>
                  <a:gd name="T4" fmla="*/ 15 w 29"/>
                  <a:gd name="T5" fmla="*/ 85 h 85"/>
                  <a:gd name="T6" fmla="*/ 1 w 29"/>
                  <a:gd name="T7" fmla="*/ 36 h 85"/>
                  <a:gd name="T8" fmla="*/ 15 w 29"/>
                  <a:gd name="T9" fmla="*/ 2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85">
                    <a:moveTo>
                      <a:pt x="15" y="2"/>
                    </a:moveTo>
                    <a:cubicBezTo>
                      <a:pt x="29" y="4"/>
                      <a:pt x="26" y="31"/>
                      <a:pt x="25" y="46"/>
                    </a:cubicBezTo>
                    <a:cubicBezTo>
                      <a:pt x="25" y="61"/>
                      <a:pt x="24" y="84"/>
                      <a:pt x="15" y="85"/>
                    </a:cubicBezTo>
                    <a:cubicBezTo>
                      <a:pt x="4" y="84"/>
                      <a:pt x="1" y="51"/>
                      <a:pt x="1" y="36"/>
                    </a:cubicBezTo>
                    <a:cubicBezTo>
                      <a:pt x="0" y="20"/>
                      <a:pt x="3" y="0"/>
                      <a:pt x="15" y="2"/>
                    </a:cubicBezTo>
                    <a:close/>
                  </a:path>
                </a:pathLst>
              </a:custGeom>
              <a:solidFill>
                <a:srgbClr val="5DC77F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1" name="Freeform 110"/>
              <p:cNvSpPr/>
              <p:nvPr/>
            </p:nvSpPr>
            <p:spPr bwMode="auto">
              <a:xfrm>
                <a:off x="7839346" y="1889124"/>
                <a:ext cx="212725" cy="173038"/>
              </a:xfrm>
              <a:custGeom>
                <a:avLst/>
                <a:gdLst>
                  <a:gd name="T0" fmla="*/ 9 w 50"/>
                  <a:gd name="T1" fmla="*/ 41 h 41"/>
                  <a:gd name="T2" fmla="*/ 0 w 50"/>
                  <a:gd name="T3" fmla="*/ 6 h 41"/>
                  <a:gd name="T4" fmla="*/ 9 w 50"/>
                  <a:gd name="T5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" h="41">
                    <a:moveTo>
                      <a:pt x="9" y="41"/>
                    </a:moveTo>
                    <a:cubicBezTo>
                      <a:pt x="50" y="10"/>
                      <a:pt x="18" y="0"/>
                      <a:pt x="0" y="6"/>
                    </a:cubicBezTo>
                    <a:cubicBezTo>
                      <a:pt x="11" y="14"/>
                      <a:pt x="9" y="33"/>
                      <a:pt x="9" y="41"/>
                    </a:cubicBezTo>
                    <a:close/>
                  </a:path>
                </a:pathLst>
              </a:custGeom>
              <a:solidFill>
                <a:srgbClr val="643A12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2" name="Freeform 111"/>
              <p:cNvSpPr/>
              <p:nvPr/>
            </p:nvSpPr>
            <p:spPr bwMode="auto">
              <a:xfrm>
                <a:off x="7648846" y="1876424"/>
                <a:ext cx="279400" cy="292100"/>
              </a:xfrm>
              <a:custGeom>
                <a:avLst/>
                <a:gdLst>
                  <a:gd name="T0" fmla="*/ 54 w 66"/>
                  <a:gd name="T1" fmla="*/ 10 h 69"/>
                  <a:gd name="T2" fmla="*/ 7 w 66"/>
                  <a:gd name="T3" fmla="*/ 24 h 69"/>
                  <a:gd name="T4" fmla="*/ 33 w 66"/>
                  <a:gd name="T5" fmla="*/ 68 h 69"/>
                  <a:gd name="T6" fmla="*/ 47 w 66"/>
                  <a:gd name="T7" fmla="*/ 51 h 69"/>
                  <a:gd name="T8" fmla="*/ 47 w 66"/>
                  <a:gd name="T9" fmla="*/ 41 h 69"/>
                  <a:gd name="T10" fmla="*/ 54 w 66"/>
                  <a:gd name="T11" fmla="*/ 1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6" h="69">
                    <a:moveTo>
                      <a:pt x="54" y="10"/>
                    </a:moveTo>
                    <a:cubicBezTo>
                      <a:pt x="40" y="0"/>
                      <a:pt x="14" y="5"/>
                      <a:pt x="7" y="24"/>
                    </a:cubicBezTo>
                    <a:cubicBezTo>
                      <a:pt x="0" y="43"/>
                      <a:pt x="12" y="65"/>
                      <a:pt x="33" y="68"/>
                    </a:cubicBezTo>
                    <a:cubicBezTo>
                      <a:pt x="39" y="69"/>
                      <a:pt x="43" y="61"/>
                      <a:pt x="47" y="51"/>
                    </a:cubicBezTo>
                    <a:cubicBezTo>
                      <a:pt x="50" y="45"/>
                      <a:pt x="43" y="43"/>
                      <a:pt x="47" y="41"/>
                    </a:cubicBezTo>
                    <a:cubicBezTo>
                      <a:pt x="65" y="33"/>
                      <a:pt x="66" y="20"/>
                      <a:pt x="54" y="10"/>
                    </a:cubicBezTo>
                    <a:close/>
                  </a:path>
                </a:pathLst>
              </a:custGeom>
              <a:solidFill>
                <a:srgbClr val="643A12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3" name="Oval 112"/>
              <p:cNvSpPr>
                <a:spLocks noChangeArrowheads="1"/>
              </p:cNvSpPr>
              <p:nvPr/>
            </p:nvSpPr>
            <p:spPr bwMode="auto">
              <a:xfrm>
                <a:off x="7653609" y="1892299"/>
                <a:ext cx="185738" cy="233363"/>
              </a:xfrm>
              <a:prstGeom prst="ellipse">
                <a:avLst/>
              </a:prstGeom>
              <a:solidFill>
                <a:srgbClr val="4F2C0B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4" name="Freeform 113"/>
              <p:cNvSpPr/>
              <p:nvPr/>
            </p:nvSpPr>
            <p:spPr bwMode="auto">
              <a:xfrm>
                <a:off x="7826646" y="2024062"/>
                <a:ext cx="47625" cy="60325"/>
              </a:xfrm>
              <a:custGeom>
                <a:avLst/>
                <a:gdLst>
                  <a:gd name="T0" fmla="*/ 3 w 11"/>
                  <a:gd name="T1" fmla="*/ 0 h 14"/>
                  <a:gd name="T2" fmla="*/ 1 w 11"/>
                  <a:gd name="T3" fmla="*/ 8 h 14"/>
                  <a:gd name="T4" fmla="*/ 7 w 11"/>
                  <a:gd name="T5" fmla="*/ 13 h 14"/>
                  <a:gd name="T6" fmla="*/ 10 w 11"/>
                  <a:gd name="T7" fmla="*/ 6 h 14"/>
                  <a:gd name="T8" fmla="*/ 3 w 11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14">
                    <a:moveTo>
                      <a:pt x="3" y="0"/>
                    </a:moveTo>
                    <a:cubicBezTo>
                      <a:pt x="1" y="1"/>
                      <a:pt x="0" y="5"/>
                      <a:pt x="1" y="8"/>
                    </a:cubicBezTo>
                    <a:cubicBezTo>
                      <a:pt x="2" y="12"/>
                      <a:pt x="4" y="14"/>
                      <a:pt x="7" y="13"/>
                    </a:cubicBezTo>
                    <a:cubicBezTo>
                      <a:pt x="9" y="13"/>
                      <a:pt x="11" y="9"/>
                      <a:pt x="10" y="6"/>
                    </a:cubicBezTo>
                    <a:cubicBezTo>
                      <a:pt x="9" y="2"/>
                      <a:pt x="6" y="0"/>
                      <a:pt x="3" y="0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5" name="Freeform 114"/>
              <p:cNvSpPr/>
              <p:nvPr/>
            </p:nvSpPr>
            <p:spPr bwMode="auto">
              <a:xfrm>
                <a:off x="7491684" y="2678112"/>
                <a:ext cx="30163" cy="50800"/>
              </a:xfrm>
              <a:custGeom>
                <a:avLst/>
                <a:gdLst>
                  <a:gd name="T0" fmla="*/ 5 w 7"/>
                  <a:gd name="T1" fmla="*/ 1 h 12"/>
                  <a:gd name="T2" fmla="*/ 1 w 7"/>
                  <a:gd name="T3" fmla="*/ 5 h 12"/>
                  <a:gd name="T4" fmla="*/ 2 w 7"/>
                  <a:gd name="T5" fmla="*/ 11 h 12"/>
                  <a:gd name="T6" fmla="*/ 6 w 7"/>
                  <a:gd name="T7" fmla="*/ 7 h 12"/>
                  <a:gd name="T8" fmla="*/ 5 w 7"/>
                  <a:gd name="T9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2">
                    <a:moveTo>
                      <a:pt x="5" y="1"/>
                    </a:moveTo>
                    <a:cubicBezTo>
                      <a:pt x="4" y="0"/>
                      <a:pt x="2" y="2"/>
                      <a:pt x="1" y="5"/>
                    </a:cubicBezTo>
                    <a:cubicBezTo>
                      <a:pt x="0" y="8"/>
                      <a:pt x="0" y="11"/>
                      <a:pt x="2" y="11"/>
                    </a:cubicBezTo>
                    <a:cubicBezTo>
                      <a:pt x="3" y="12"/>
                      <a:pt x="5" y="10"/>
                      <a:pt x="6" y="7"/>
                    </a:cubicBezTo>
                    <a:cubicBezTo>
                      <a:pt x="7" y="4"/>
                      <a:pt x="7" y="1"/>
                      <a:pt x="5" y="1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6" name="Freeform 115"/>
              <p:cNvSpPr/>
              <p:nvPr/>
            </p:nvSpPr>
            <p:spPr bwMode="auto">
              <a:xfrm>
                <a:off x="7512321" y="2686049"/>
                <a:ext cx="30163" cy="47625"/>
              </a:xfrm>
              <a:custGeom>
                <a:avLst/>
                <a:gdLst>
                  <a:gd name="T0" fmla="*/ 5 w 7"/>
                  <a:gd name="T1" fmla="*/ 0 h 11"/>
                  <a:gd name="T2" fmla="*/ 1 w 7"/>
                  <a:gd name="T3" fmla="*/ 4 h 11"/>
                  <a:gd name="T4" fmla="*/ 1 w 7"/>
                  <a:gd name="T5" fmla="*/ 11 h 11"/>
                  <a:gd name="T6" fmla="*/ 6 w 7"/>
                  <a:gd name="T7" fmla="*/ 6 h 11"/>
                  <a:gd name="T8" fmla="*/ 5 w 7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11">
                    <a:moveTo>
                      <a:pt x="5" y="0"/>
                    </a:moveTo>
                    <a:cubicBezTo>
                      <a:pt x="4" y="0"/>
                      <a:pt x="2" y="1"/>
                      <a:pt x="1" y="4"/>
                    </a:cubicBezTo>
                    <a:cubicBezTo>
                      <a:pt x="0" y="7"/>
                      <a:pt x="0" y="10"/>
                      <a:pt x="1" y="11"/>
                    </a:cubicBezTo>
                    <a:cubicBezTo>
                      <a:pt x="3" y="11"/>
                      <a:pt x="5" y="9"/>
                      <a:pt x="6" y="6"/>
                    </a:cubicBezTo>
                    <a:cubicBezTo>
                      <a:pt x="7" y="3"/>
                      <a:pt x="7" y="1"/>
                      <a:pt x="5" y="0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7" name="Freeform 116"/>
              <p:cNvSpPr/>
              <p:nvPr/>
            </p:nvSpPr>
            <p:spPr bwMode="auto">
              <a:xfrm>
                <a:off x="7529784" y="2695574"/>
                <a:ext cx="33338" cy="50800"/>
              </a:xfrm>
              <a:custGeom>
                <a:avLst/>
                <a:gdLst>
                  <a:gd name="T0" fmla="*/ 6 w 8"/>
                  <a:gd name="T1" fmla="*/ 1 h 12"/>
                  <a:gd name="T2" fmla="*/ 1 w 8"/>
                  <a:gd name="T3" fmla="*/ 5 h 12"/>
                  <a:gd name="T4" fmla="*/ 2 w 8"/>
                  <a:gd name="T5" fmla="*/ 12 h 12"/>
                  <a:gd name="T6" fmla="*/ 7 w 8"/>
                  <a:gd name="T7" fmla="*/ 7 h 12"/>
                  <a:gd name="T8" fmla="*/ 6 w 8"/>
                  <a:gd name="T9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12">
                    <a:moveTo>
                      <a:pt x="6" y="1"/>
                    </a:moveTo>
                    <a:cubicBezTo>
                      <a:pt x="4" y="0"/>
                      <a:pt x="2" y="2"/>
                      <a:pt x="1" y="5"/>
                    </a:cubicBezTo>
                    <a:cubicBezTo>
                      <a:pt x="0" y="8"/>
                      <a:pt x="0" y="11"/>
                      <a:pt x="2" y="12"/>
                    </a:cubicBezTo>
                    <a:cubicBezTo>
                      <a:pt x="3" y="12"/>
                      <a:pt x="5" y="10"/>
                      <a:pt x="7" y="7"/>
                    </a:cubicBezTo>
                    <a:cubicBezTo>
                      <a:pt x="8" y="4"/>
                      <a:pt x="7" y="1"/>
                      <a:pt x="6" y="1"/>
                    </a:cubicBezTo>
                    <a:close/>
                  </a:path>
                </a:pathLst>
              </a:custGeom>
              <a:solidFill>
                <a:srgbClr val="FFE3D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8" name="Oval 117"/>
              <p:cNvSpPr>
                <a:spLocks noChangeArrowheads="1"/>
              </p:cNvSpPr>
              <p:nvPr/>
            </p:nvSpPr>
            <p:spPr bwMode="auto">
              <a:xfrm>
                <a:off x="7631384" y="1879599"/>
                <a:ext cx="187325" cy="246063"/>
              </a:xfrm>
              <a:prstGeom prst="ellipse">
                <a:avLst/>
              </a:prstGeom>
              <a:solidFill>
                <a:srgbClr val="643A12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9" name="Freeform 118"/>
              <p:cNvSpPr/>
              <p:nvPr/>
            </p:nvSpPr>
            <p:spPr bwMode="auto">
              <a:xfrm>
                <a:off x="8221934" y="1001712"/>
                <a:ext cx="152400" cy="73025"/>
              </a:xfrm>
              <a:custGeom>
                <a:avLst/>
                <a:gdLst>
                  <a:gd name="T0" fmla="*/ 0 w 36"/>
                  <a:gd name="T1" fmla="*/ 1 h 17"/>
                  <a:gd name="T2" fmla="*/ 36 w 36"/>
                  <a:gd name="T3" fmla="*/ 0 h 17"/>
                  <a:gd name="T4" fmla="*/ 0 w 36"/>
                  <a:gd name="T5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17">
                    <a:moveTo>
                      <a:pt x="0" y="1"/>
                    </a:moveTo>
                    <a:cubicBezTo>
                      <a:pt x="7" y="12"/>
                      <a:pt x="31" y="10"/>
                      <a:pt x="36" y="0"/>
                    </a:cubicBezTo>
                    <a:cubicBezTo>
                      <a:pt x="34" y="12"/>
                      <a:pt x="3" y="17"/>
                      <a:pt x="0" y="1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0" name="Freeform 119"/>
              <p:cNvSpPr/>
              <p:nvPr/>
            </p:nvSpPr>
            <p:spPr bwMode="auto">
              <a:xfrm>
                <a:off x="8463234" y="1485899"/>
                <a:ext cx="111125" cy="46038"/>
              </a:xfrm>
              <a:custGeom>
                <a:avLst/>
                <a:gdLst>
                  <a:gd name="T0" fmla="*/ 0 w 26"/>
                  <a:gd name="T1" fmla="*/ 0 h 11"/>
                  <a:gd name="T2" fmla="*/ 26 w 26"/>
                  <a:gd name="T3" fmla="*/ 4 h 11"/>
                  <a:gd name="T4" fmla="*/ 0 w 26"/>
                  <a:gd name="T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" h="11">
                    <a:moveTo>
                      <a:pt x="0" y="0"/>
                    </a:moveTo>
                    <a:cubicBezTo>
                      <a:pt x="8" y="6"/>
                      <a:pt x="18" y="7"/>
                      <a:pt x="26" y="4"/>
                    </a:cubicBezTo>
                    <a:cubicBezTo>
                      <a:pt x="22" y="11"/>
                      <a:pt x="3" y="9"/>
                      <a:pt x="0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130" name="Group 1552"/>
            <p:cNvGrpSpPr/>
            <p:nvPr/>
          </p:nvGrpSpPr>
          <p:grpSpPr>
            <a:xfrm>
              <a:off x="16738" y="5303"/>
              <a:ext cx="747" cy="2418"/>
              <a:chOff x="9849190" y="2640012"/>
              <a:chExt cx="474594" cy="1535113"/>
            </a:xfrm>
          </p:grpSpPr>
          <p:cxnSp>
            <p:nvCxnSpPr>
              <p:cNvPr id="131" name="Straight Connector 1545"/>
              <p:cNvCxnSpPr/>
              <p:nvPr/>
            </p:nvCxnSpPr>
            <p:spPr>
              <a:xfrm flipV="1">
                <a:off x="10086487" y="3073399"/>
                <a:ext cx="0" cy="110172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dash"/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2" name="Group 1550"/>
              <p:cNvGrpSpPr/>
              <p:nvPr/>
            </p:nvGrpSpPr>
            <p:grpSpPr>
              <a:xfrm>
                <a:off x="9849190" y="2640012"/>
                <a:ext cx="474594" cy="474594"/>
                <a:chOff x="10063283" y="2640012"/>
                <a:chExt cx="474594" cy="474594"/>
              </a:xfrm>
            </p:grpSpPr>
            <p:sp>
              <p:nvSpPr>
                <p:cNvPr id="133" name="Oval 703"/>
                <p:cNvSpPr/>
                <p:nvPr/>
              </p:nvSpPr>
              <p:spPr>
                <a:xfrm>
                  <a:off x="10063283" y="2640012"/>
                  <a:ext cx="474594" cy="4745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  <a:effectLst>
                  <a:outerShdw blurRad="368300" dist="50800" dir="5400000" sx="94000" sy="94000" algn="t" rotWithShape="0">
                    <a:prstClr val="black">
                      <a:alpha val="3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" name="Freeform 13"/>
                <p:cNvSpPr>
                  <a:spLocks noEditPoints="1"/>
                </p:cNvSpPr>
                <p:nvPr/>
              </p:nvSpPr>
              <p:spPr bwMode="auto">
                <a:xfrm>
                  <a:off x="10209125" y="2808428"/>
                  <a:ext cx="182911" cy="137762"/>
                </a:xfrm>
                <a:custGeom>
                  <a:avLst/>
                  <a:gdLst>
                    <a:gd name="T0" fmla="*/ 250825 w 158"/>
                    <a:gd name="T1" fmla="*/ 188912 h 119"/>
                    <a:gd name="T2" fmla="*/ 0 w 158"/>
                    <a:gd name="T3" fmla="*/ 188912 h 119"/>
                    <a:gd name="T4" fmla="*/ 0 w 158"/>
                    <a:gd name="T5" fmla="*/ 0 h 119"/>
                    <a:gd name="T6" fmla="*/ 12700 w 158"/>
                    <a:gd name="T7" fmla="*/ 0 h 119"/>
                    <a:gd name="T8" fmla="*/ 12700 w 158"/>
                    <a:gd name="T9" fmla="*/ 171450 h 119"/>
                    <a:gd name="T10" fmla="*/ 250825 w 158"/>
                    <a:gd name="T11" fmla="*/ 171450 h 119"/>
                    <a:gd name="T12" fmla="*/ 250825 w 158"/>
                    <a:gd name="T13" fmla="*/ 188912 h 119"/>
                    <a:gd name="T14" fmla="*/ 233363 w 158"/>
                    <a:gd name="T15" fmla="*/ 155575 h 119"/>
                    <a:gd name="T16" fmla="*/ 30163 w 158"/>
                    <a:gd name="T17" fmla="*/ 155575 h 119"/>
                    <a:gd name="T18" fmla="*/ 30163 w 158"/>
                    <a:gd name="T19" fmla="*/ 85725 h 119"/>
                    <a:gd name="T20" fmla="*/ 85725 w 158"/>
                    <a:gd name="T21" fmla="*/ 14287 h 119"/>
                    <a:gd name="T22" fmla="*/ 153988 w 158"/>
                    <a:gd name="T23" fmla="*/ 85725 h 119"/>
                    <a:gd name="T24" fmla="*/ 201613 w 158"/>
                    <a:gd name="T25" fmla="*/ 44450 h 119"/>
                    <a:gd name="T26" fmla="*/ 233363 w 158"/>
                    <a:gd name="T27" fmla="*/ 155575 h 119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58" h="119">
                      <a:moveTo>
                        <a:pt x="158" y="119"/>
                      </a:moveTo>
                      <a:lnTo>
                        <a:pt x="0" y="119"/>
                      </a:lnTo>
                      <a:lnTo>
                        <a:pt x="0" y="0"/>
                      </a:lnTo>
                      <a:lnTo>
                        <a:pt x="8" y="0"/>
                      </a:lnTo>
                      <a:lnTo>
                        <a:pt x="8" y="108"/>
                      </a:lnTo>
                      <a:lnTo>
                        <a:pt x="158" y="108"/>
                      </a:lnTo>
                      <a:lnTo>
                        <a:pt x="158" y="119"/>
                      </a:lnTo>
                      <a:close/>
                      <a:moveTo>
                        <a:pt x="147" y="98"/>
                      </a:moveTo>
                      <a:lnTo>
                        <a:pt x="19" y="98"/>
                      </a:lnTo>
                      <a:lnTo>
                        <a:pt x="19" y="54"/>
                      </a:lnTo>
                      <a:lnTo>
                        <a:pt x="54" y="9"/>
                      </a:lnTo>
                      <a:lnTo>
                        <a:pt x="97" y="54"/>
                      </a:lnTo>
                      <a:lnTo>
                        <a:pt x="127" y="28"/>
                      </a:lnTo>
                      <a:lnTo>
                        <a:pt x="147" y="9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35" name="Group 1553"/>
            <p:cNvGrpSpPr/>
            <p:nvPr/>
          </p:nvGrpSpPr>
          <p:grpSpPr>
            <a:xfrm>
              <a:off x="14639" y="1942"/>
              <a:ext cx="747" cy="2418"/>
              <a:chOff x="8706122" y="793059"/>
              <a:chExt cx="474594" cy="1535113"/>
            </a:xfrm>
          </p:grpSpPr>
          <p:cxnSp>
            <p:nvCxnSpPr>
              <p:cNvPr id="136" name="Straight Connector 707"/>
              <p:cNvCxnSpPr/>
              <p:nvPr/>
            </p:nvCxnSpPr>
            <p:spPr>
              <a:xfrm flipV="1">
                <a:off x="8943419" y="1226446"/>
                <a:ext cx="0" cy="110172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dash"/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7" name="Group 1549"/>
              <p:cNvGrpSpPr/>
              <p:nvPr/>
            </p:nvGrpSpPr>
            <p:grpSpPr>
              <a:xfrm>
                <a:off x="8706122" y="793059"/>
                <a:ext cx="474594" cy="474594"/>
                <a:chOff x="8920215" y="793059"/>
                <a:chExt cx="474594" cy="474594"/>
              </a:xfrm>
            </p:grpSpPr>
            <p:sp>
              <p:nvSpPr>
                <p:cNvPr id="138" name="Oval 708"/>
                <p:cNvSpPr/>
                <p:nvPr/>
              </p:nvSpPr>
              <p:spPr>
                <a:xfrm>
                  <a:off x="8920215" y="793059"/>
                  <a:ext cx="474594" cy="4745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  <a:effectLst>
                  <a:outerShdw blurRad="368300" dist="50800" dir="5400000" sx="94000" sy="94000" algn="t" rotWithShape="0">
                    <a:prstClr val="black">
                      <a:alpha val="3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Freeform 66"/>
                <p:cNvSpPr>
                  <a:spLocks noEditPoints="1"/>
                </p:cNvSpPr>
                <p:nvPr/>
              </p:nvSpPr>
              <p:spPr bwMode="auto">
                <a:xfrm>
                  <a:off x="9088632" y="949899"/>
                  <a:ext cx="137761" cy="160915"/>
                </a:xfrm>
                <a:custGeom>
                  <a:avLst/>
                  <a:gdLst>
                    <a:gd name="T0" fmla="*/ 188912 w 55"/>
                    <a:gd name="T1" fmla="*/ 31031 h 64"/>
                    <a:gd name="T2" fmla="*/ 188912 w 55"/>
                    <a:gd name="T3" fmla="*/ 48270 h 64"/>
                    <a:gd name="T4" fmla="*/ 92739 w 55"/>
                    <a:gd name="T5" fmla="*/ 79301 h 64"/>
                    <a:gd name="T6" fmla="*/ 0 w 55"/>
                    <a:gd name="T7" fmla="*/ 48270 h 64"/>
                    <a:gd name="T8" fmla="*/ 0 w 55"/>
                    <a:gd name="T9" fmla="*/ 31031 h 64"/>
                    <a:gd name="T10" fmla="*/ 92739 w 55"/>
                    <a:gd name="T11" fmla="*/ 0 h 64"/>
                    <a:gd name="T12" fmla="*/ 188912 w 55"/>
                    <a:gd name="T13" fmla="*/ 31031 h 64"/>
                    <a:gd name="T14" fmla="*/ 188912 w 55"/>
                    <a:gd name="T15" fmla="*/ 72405 h 64"/>
                    <a:gd name="T16" fmla="*/ 188912 w 55"/>
                    <a:gd name="T17" fmla="*/ 93092 h 64"/>
                    <a:gd name="T18" fmla="*/ 92739 w 55"/>
                    <a:gd name="T19" fmla="*/ 127571 h 64"/>
                    <a:gd name="T20" fmla="*/ 0 w 55"/>
                    <a:gd name="T21" fmla="*/ 93092 h 64"/>
                    <a:gd name="T22" fmla="*/ 0 w 55"/>
                    <a:gd name="T23" fmla="*/ 72405 h 64"/>
                    <a:gd name="T24" fmla="*/ 92739 w 55"/>
                    <a:gd name="T25" fmla="*/ 93092 h 64"/>
                    <a:gd name="T26" fmla="*/ 188912 w 55"/>
                    <a:gd name="T27" fmla="*/ 72405 h 64"/>
                    <a:gd name="T28" fmla="*/ 188912 w 55"/>
                    <a:gd name="T29" fmla="*/ 120675 h 64"/>
                    <a:gd name="T30" fmla="*/ 188912 w 55"/>
                    <a:gd name="T31" fmla="*/ 141362 h 64"/>
                    <a:gd name="T32" fmla="*/ 92739 w 55"/>
                    <a:gd name="T33" fmla="*/ 172393 h 64"/>
                    <a:gd name="T34" fmla="*/ 0 w 55"/>
                    <a:gd name="T35" fmla="*/ 141362 h 64"/>
                    <a:gd name="T36" fmla="*/ 0 w 55"/>
                    <a:gd name="T37" fmla="*/ 120675 h 64"/>
                    <a:gd name="T38" fmla="*/ 92739 w 55"/>
                    <a:gd name="T39" fmla="*/ 141362 h 64"/>
                    <a:gd name="T40" fmla="*/ 188912 w 55"/>
                    <a:gd name="T41" fmla="*/ 120675 h 64"/>
                    <a:gd name="T42" fmla="*/ 188912 w 55"/>
                    <a:gd name="T43" fmla="*/ 168945 h 64"/>
                    <a:gd name="T44" fmla="*/ 188912 w 55"/>
                    <a:gd name="T45" fmla="*/ 189632 h 64"/>
                    <a:gd name="T46" fmla="*/ 92739 w 55"/>
                    <a:gd name="T47" fmla="*/ 220663 h 64"/>
                    <a:gd name="T48" fmla="*/ 0 w 55"/>
                    <a:gd name="T49" fmla="*/ 189632 h 64"/>
                    <a:gd name="T50" fmla="*/ 0 w 55"/>
                    <a:gd name="T51" fmla="*/ 168945 h 64"/>
                    <a:gd name="T52" fmla="*/ 92739 w 55"/>
                    <a:gd name="T53" fmla="*/ 189632 h 64"/>
                    <a:gd name="T54" fmla="*/ 188912 w 55"/>
                    <a:gd name="T55" fmla="*/ 168945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55" h="64">
                      <a:moveTo>
                        <a:pt x="55" y="9"/>
                      </a:moveTo>
                      <a:cubicBezTo>
                        <a:pt x="55" y="14"/>
                        <a:pt x="55" y="14"/>
                        <a:pt x="55" y="14"/>
                      </a:cubicBezTo>
                      <a:cubicBezTo>
                        <a:pt x="55" y="19"/>
                        <a:pt x="42" y="23"/>
                        <a:pt x="27" y="23"/>
                      </a:cubicBezTo>
                      <a:cubicBezTo>
                        <a:pt x="12" y="23"/>
                        <a:pt x="0" y="19"/>
                        <a:pt x="0" y="14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0" y="4"/>
                        <a:pt x="12" y="0"/>
                        <a:pt x="27" y="0"/>
                      </a:cubicBezTo>
                      <a:cubicBezTo>
                        <a:pt x="42" y="0"/>
                        <a:pt x="55" y="4"/>
                        <a:pt x="55" y="9"/>
                      </a:cubicBezTo>
                      <a:close/>
                      <a:moveTo>
                        <a:pt x="55" y="21"/>
                      </a:moveTo>
                      <a:cubicBezTo>
                        <a:pt x="55" y="27"/>
                        <a:pt x="55" y="27"/>
                        <a:pt x="55" y="27"/>
                      </a:cubicBezTo>
                      <a:cubicBezTo>
                        <a:pt x="55" y="32"/>
                        <a:pt x="42" y="37"/>
                        <a:pt x="27" y="37"/>
                      </a:cubicBezTo>
                      <a:cubicBezTo>
                        <a:pt x="12" y="37"/>
                        <a:pt x="0" y="32"/>
                        <a:pt x="0" y="27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6" y="25"/>
                        <a:pt x="16" y="27"/>
                        <a:pt x="27" y="27"/>
                      </a:cubicBezTo>
                      <a:cubicBezTo>
                        <a:pt x="38" y="27"/>
                        <a:pt x="49" y="25"/>
                        <a:pt x="55" y="21"/>
                      </a:cubicBezTo>
                      <a:close/>
                      <a:moveTo>
                        <a:pt x="55" y="35"/>
                      </a:moveTo>
                      <a:cubicBezTo>
                        <a:pt x="55" y="41"/>
                        <a:pt x="55" y="41"/>
                        <a:pt x="55" y="41"/>
                      </a:cubicBezTo>
                      <a:cubicBezTo>
                        <a:pt x="55" y="46"/>
                        <a:pt x="42" y="50"/>
                        <a:pt x="27" y="50"/>
                      </a:cubicBezTo>
                      <a:cubicBezTo>
                        <a:pt x="12" y="50"/>
                        <a:pt x="0" y="46"/>
                        <a:pt x="0" y="41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6" y="39"/>
                        <a:pt x="16" y="41"/>
                        <a:pt x="27" y="41"/>
                      </a:cubicBezTo>
                      <a:cubicBezTo>
                        <a:pt x="38" y="41"/>
                        <a:pt x="49" y="39"/>
                        <a:pt x="55" y="35"/>
                      </a:cubicBezTo>
                      <a:close/>
                      <a:moveTo>
                        <a:pt x="55" y="49"/>
                      </a:moveTo>
                      <a:cubicBezTo>
                        <a:pt x="55" y="55"/>
                        <a:pt x="55" y="55"/>
                        <a:pt x="55" y="55"/>
                      </a:cubicBezTo>
                      <a:cubicBezTo>
                        <a:pt x="55" y="60"/>
                        <a:pt x="42" y="64"/>
                        <a:pt x="27" y="64"/>
                      </a:cubicBezTo>
                      <a:cubicBezTo>
                        <a:pt x="12" y="64"/>
                        <a:pt x="0" y="60"/>
                        <a:pt x="0" y="55"/>
                      </a:cubicBezTo>
                      <a:cubicBezTo>
                        <a:pt x="0" y="49"/>
                        <a:pt x="0" y="49"/>
                        <a:pt x="0" y="49"/>
                      </a:cubicBezTo>
                      <a:cubicBezTo>
                        <a:pt x="6" y="53"/>
                        <a:pt x="16" y="55"/>
                        <a:pt x="27" y="55"/>
                      </a:cubicBezTo>
                      <a:cubicBezTo>
                        <a:pt x="38" y="55"/>
                        <a:pt x="49" y="53"/>
                        <a:pt x="55" y="4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40" name="Group 1554"/>
            <p:cNvGrpSpPr/>
            <p:nvPr/>
          </p:nvGrpSpPr>
          <p:grpSpPr>
            <a:xfrm>
              <a:off x="11289" y="3402"/>
              <a:ext cx="747" cy="2766"/>
              <a:chOff x="6858776" y="1603782"/>
              <a:chExt cx="474594" cy="1756264"/>
            </a:xfrm>
          </p:grpSpPr>
          <p:cxnSp>
            <p:nvCxnSpPr>
              <p:cNvPr id="141" name="Straight Connector 704"/>
              <p:cNvCxnSpPr/>
              <p:nvPr/>
            </p:nvCxnSpPr>
            <p:spPr>
              <a:xfrm flipV="1">
                <a:off x="7096073" y="2016124"/>
                <a:ext cx="0" cy="134392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dash"/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2" name="Group 1548"/>
              <p:cNvGrpSpPr/>
              <p:nvPr/>
            </p:nvGrpSpPr>
            <p:grpSpPr>
              <a:xfrm>
                <a:off x="6858776" y="1603782"/>
                <a:ext cx="474594" cy="474594"/>
                <a:chOff x="7072869" y="1603782"/>
                <a:chExt cx="474594" cy="474594"/>
              </a:xfrm>
            </p:grpSpPr>
            <p:sp>
              <p:nvSpPr>
                <p:cNvPr id="143" name="Oval 705"/>
                <p:cNvSpPr/>
                <p:nvPr/>
              </p:nvSpPr>
              <p:spPr>
                <a:xfrm>
                  <a:off x="7072869" y="1603782"/>
                  <a:ext cx="474594" cy="4745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  <a:effectLst>
                  <a:outerShdw blurRad="368300" dist="50800" dir="5400000" sx="94000" sy="94000" algn="t" rotWithShape="0">
                    <a:prstClr val="black">
                      <a:alpha val="3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Freeform 158"/>
                <p:cNvSpPr>
                  <a:spLocks noEditPoints="1"/>
                </p:cNvSpPr>
                <p:nvPr/>
              </p:nvSpPr>
              <p:spPr bwMode="auto">
                <a:xfrm>
                  <a:off x="7230287" y="1777987"/>
                  <a:ext cx="159758" cy="126185"/>
                </a:xfrm>
                <a:custGeom>
                  <a:avLst/>
                  <a:gdLst>
                    <a:gd name="T0" fmla="*/ 219075 w 64"/>
                    <a:gd name="T1" fmla="*/ 38068 h 50"/>
                    <a:gd name="T2" fmla="*/ 208806 w 64"/>
                    <a:gd name="T3" fmla="*/ 44990 h 50"/>
                    <a:gd name="T4" fmla="*/ 6846 w 64"/>
                    <a:gd name="T5" fmla="*/ 44990 h 50"/>
                    <a:gd name="T6" fmla="*/ 0 w 64"/>
                    <a:gd name="T7" fmla="*/ 38068 h 50"/>
                    <a:gd name="T8" fmla="*/ 0 w 64"/>
                    <a:gd name="T9" fmla="*/ 6921 h 50"/>
                    <a:gd name="T10" fmla="*/ 6846 w 64"/>
                    <a:gd name="T11" fmla="*/ 0 h 50"/>
                    <a:gd name="T12" fmla="*/ 208806 w 64"/>
                    <a:gd name="T13" fmla="*/ 0 h 50"/>
                    <a:gd name="T14" fmla="*/ 219075 w 64"/>
                    <a:gd name="T15" fmla="*/ 6921 h 50"/>
                    <a:gd name="T16" fmla="*/ 219075 w 64"/>
                    <a:gd name="T17" fmla="*/ 38068 h 50"/>
                    <a:gd name="T18" fmla="*/ 219075 w 64"/>
                    <a:gd name="T19" fmla="*/ 100361 h 50"/>
                    <a:gd name="T20" fmla="*/ 208806 w 64"/>
                    <a:gd name="T21" fmla="*/ 110744 h 50"/>
                    <a:gd name="T22" fmla="*/ 6846 w 64"/>
                    <a:gd name="T23" fmla="*/ 110744 h 50"/>
                    <a:gd name="T24" fmla="*/ 0 w 64"/>
                    <a:gd name="T25" fmla="*/ 100361 h 50"/>
                    <a:gd name="T26" fmla="*/ 0 w 64"/>
                    <a:gd name="T27" fmla="*/ 69215 h 50"/>
                    <a:gd name="T28" fmla="*/ 6846 w 64"/>
                    <a:gd name="T29" fmla="*/ 62293 h 50"/>
                    <a:gd name="T30" fmla="*/ 208806 w 64"/>
                    <a:gd name="T31" fmla="*/ 62293 h 50"/>
                    <a:gd name="T32" fmla="*/ 219075 w 64"/>
                    <a:gd name="T33" fmla="*/ 69215 h 50"/>
                    <a:gd name="T34" fmla="*/ 219075 w 64"/>
                    <a:gd name="T35" fmla="*/ 100361 h 50"/>
                    <a:gd name="T36" fmla="*/ 219075 w 64"/>
                    <a:gd name="T37" fmla="*/ 166116 h 50"/>
                    <a:gd name="T38" fmla="*/ 208806 w 64"/>
                    <a:gd name="T39" fmla="*/ 173037 h 50"/>
                    <a:gd name="T40" fmla="*/ 6846 w 64"/>
                    <a:gd name="T41" fmla="*/ 173037 h 50"/>
                    <a:gd name="T42" fmla="*/ 0 w 64"/>
                    <a:gd name="T43" fmla="*/ 166116 h 50"/>
                    <a:gd name="T44" fmla="*/ 0 w 64"/>
                    <a:gd name="T45" fmla="*/ 131508 h 50"/>
                    <a:gd name="T46" fmla="*/ 6846 w 64"/>
                    <a:gd name="T47" fmla="*/ 124587 h 50"/>
                    <a:gd name="T48" fmla="*/ 208806 w 64"/>
                    <a:gd name="T49" fmla="*/ 124587 h 50"/>
                    <a:gd name="T50" fmla="*/ 219075 w 64"/>
                    <a:gd name="T51" fmla="*/ 131508 h 50"/>
                    <a:gd name="T52" fmla="*/ 219075 w 64"/>
                    <a:gd name="T53" fmla="*/ 166116 h 50"/>
                    <a:gd name="T54" fmla="*/ 201960 w 64"/>
                    <a:gd name="T55" fmla="*/ 93440 h 50"/>
                    <a:gd name="T56" fmla="*/ 201960 w 64"/>
                    <a:gd name="T57" fmla="*/ 76136 h 50"/>
                    <a:gd name="T58" fmla="*/ 78730 w 64"/>
                    <a:gd name="T59" fmla="*/ 76136 h 50"/>
                    <a:gd name="T60" fmla="*/ 78730 w 64"/>
                    <a:gd name="T61" fmla="*/ 93440 h 50"/>
                    <a:gd name="T62" fmla="*/ 201960 w 64"/>
                    <a:gd name="T63" fmla="*/ 93440 h 50"/>
                    <a:gd name="T64" fmla="*/ 201960 w 64"/>
                    <a:gd name="T65" fmla="*/ 155733 h 50"/>
                    <a:gd name="T66" fmla="*/ 201960 w 64"/>
                    <a:gd name="T67" fmla="*/ 141890 h 50"/>
                    <a:gd name="T68" fmla="*/ 123230 w 64"/>
                    <a:gd name="T69" fmla="*/ 141890 h 50"/>
                    <a:gd name="T70" fmla="*/ 123230 w 64"/>
                    <a:gd name="T71" fmla="*/ 155733 h 50"/>
                    <a:gd name="T72" fmla="*/ 201960 w 64"/>
                    <a:gd name="T73" fmla="*/ 155733 h 50"/>
                    <a:gd name="T74" fmla="*/ 201960 w 64"/>
                    <a:gd name="T75" fmla="*/ 31147 h 50"/>
                    <a:gd name="T76" fmla="*/ 201960 w 64"/>
                    <a:gd name="T77" fmla="*/ 13843 h 50"/>
                    <a:gd name="T78" fmla="*/ 154037 w 64"/>
                    <a:gd name="T79" fmla="*/ 13843 h 50"/>
                    <a:gd name="T80" fmla="*/ 154037 w 64"/>
                    <a:gd name="T81" fmla="*/ 31147 h 50"/>
                    <a:gd name="T82" fmla="*/ 201960 w 64"/>
                    <a:gd name="T83" fmla="*/ 31147 h 50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4" h="50">
                      <a:moveTo>
                        <a:pt x="64" y="11"/>
                      </a:moveTo>
                      <a:cubicBezTo>
                        <a:pt x="64" y="12"/>
                        <a:pt x="63" y="13"/>
                        <a:pt x="61" y="13"/>
                      </a:cubicBezTo>
                      <a:cubicBezTo>
                        <a:pt x="2" y="13"/>
                        <a:pt x="2" y="13"/>
                        <a:pt x="2" y="13"/>
                      </a:cubicBezTo>
                      <a:cubicBezTo>
                        <a:pt x="1" y="13"/>
                        <a:pt x="0" y="12"/>
                        <a:pt x="0" y="11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61" y="0"/>
                        <a:pt x="61" y="0"/>
                        <a:pt x="61" y="0"/>
                      </a:cubicBezTo>
                      <a:cubicBezTo>
                        <a:pt x="63" y="0"/>
                        <a:pt x="64" y="1"/>
                        <a:pt x="64" y="2"/>
                      </a:cubicBezTo>
                      <a:lnTo>
                        <a:pt x="64" y="11"/>
                      </a:lnTo>
                      <a:close/>
                      <a:moveTo>
                        <a:pt x="64" y="29"/>
                      </a:moveTo>
                      <a:cubicBezTo>
                        <a:pt x="64" y="30"/>
                        <a:pt x="63" y="32"/>
                        <a:pt x="61" y="32"/>
                      </a:cubicBezTo>
                      <a:cubicBezTo>
                        <a:pt x="2" y="32"/>
                        <a:pt x="2" y="32"/>
                        <a:pt x="2" y="32"/>
                      </a:cubicBezTo>
                      <a:cubicBezTo>
                        <a:pt x="1" y="32"/>
                        <a:pt x="0" y="30"/>
                        <a:pt x="0" y="29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19"/>
                        <a:pt x="1" y="18"/>
                        <a:pt x="2" y="18"/>
                      </a:cubicBezTo>
                      <a:cubicBezTo>
                        <a:pt x="61" y="18"/>
                        <a:pt x="61" y="18"/>
                        <a:pt x="61" y="18"/>
                      </a:cubicBezTo>
                      <a:cubicBezTo>
                        <a:pt x="63" y="18"/>
                        <a:pt x="64" y="19"/>
                        <a:pt x="64" y="20"/>
                      </a:cubicBezTo>
                      <a:lnTo>
                        <a:pt x="64" y="29"/>
                      </a:lnTo>
                      <a:close/>
                      <a:moveTo>
                        <a:pt x="64" y="48"/>
                      </a:moveTo>
                      <a:cubicBezTo>
                        <a:pt x="64" y="49"/>
                        <a:pt x="63" y="50"/>
                        <a:pt x="61" y="50"/>
                      </a:cubicBezTo>
                      <a:cubicBezTo>
                        <a:pt x="2" y="50"/>
                        <a:pt x="2" y="50"/>
                        <a:pt x="2" y="50"/>
                      </a:cubicBezTo>
                      <a:cubicBezTo>
                        <a:pt x="1" y="50"/>
                        <a:pt x="0" y="49"/>
                        <a:pt x="0" y="48"/>
                      </a:cubicBez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0" y="37"/>
                        <a:pt x="1" y="36"/>
                        <a:pt x="2" y="36"/>
                      </a:cubicBezTo>
                      <a:cubicBezTo>
                        <a:pt x="61" y="36"/>
                        <a:pt x="61" y="36"/>
                        <a:pt x="61" y="36"/>
                      </a:cubicBezTo>
                      <a:cubicBezTo>
                        <a:pt x="63" y="36"/>
                        <a:pt x="64" y="37"/>
                        <a:pt x="64" y="38"/>
                      </a:cubicBezTo>
                      <a:lnTo>
                        <a:pt x="64" y="48"/>
                      </a:lnTo>
                      <a:close/>
                      <a:moveTo>
                        <a:pt x="59" y="27"/>
                      </a:moveTo>
                      <a:cubicBezTo>
                        <a:pt x="59" y="22"/>
                        <a:pt x="59" y="22"/>
                        <a:pt x="59" y="22"/>
                      </a:cubicBezTo>
                      <a:cubicBezTo>
                        <a:pt x="23" y="22"/>
                        <a:pt x="23" y="22"/>
                        <a:pt x="23" y="22"/>
                      </a:cubicBezTo>
                      <a:cubicBezTo>
                        <a:pt x="23" y="27"/>
                        <a:pt x="23" y="27"/>
                        <a:pt x="23" y="27"/>
                      </a:cubicBezTo>
                      <a:lnTo>
                        <a:pt x="59" y="27"/>
                      </a:lnTo>
                      <a:close/>
                      <a:moveTo>
                        <a:pt x="59" y="45"/>
                      </a:moveTo>
                      <a:cubicBezTo>
                        <a:pt x="59" y="41"/>
                        <a:pt x="59" y="41"/>
                        <a:pt x="59" y="41"/>
                      </a:cubicBezTo>
                      <a:cubicBezTo>
                        <a:pt x="36" y="41"/>
                        <a:pt x="36" y="41"/>
                        <a:pt x="36" y="41"/>
                      </a:cubicBezTo>
                      <a:cubicBezTo>
                        <a:pt x="36" y="45"/>
                        <a:pt x="36" y="45"/>
                        <a:pt x="36" y="45"/>
                      </a:cubicBezTo>
                      <a:lnTo>
                        <a:pt x="59" y="45"/>
                      </a:lnTo>
                      <a:close/>
                      <a:moveTo>
                        <a:pt x="59" y="9"/>
                      </a:moveTo>
                      <a:cubicBezTo>
                        <a:pt x="59" y="4"/>
                        <a:pt x="59" y="4"/>
                        <a:pt x="59" y="4"/>
                      </a:cubicBezTo>
                      <a:cubicBezTo>
                        <a:pt x="45" y="4"/>
                        <a:pt x="45" y="4"/>
                        <a:pt x="45" y="4"/>
                      </a:cubicBezTo>
                      <a:cubicBezTo>
                        <a:pt x="45" y="9"/>
                        <a:pt x="45" y="9"/>
                        <a:pt x="45" y="9"/>
                      </a:cubicBezTo>
                      <a:lnTo>
                        <a:pt x="59" y="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174" name="文本框 173"/>
          <p:cNvSpPr txBox="1"/>
          <p:nvPr/>
        </p:nvSpPr>
        <p:spPr>
          <a:xfrm>
            <a:off x="865505" y="2338705"/>
            <a:ext cx="5680075" cy="38754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90000"/>
              </a:lnSpc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组队原则：6 组并行，每组约 12 人；每组完成同一项目主题。</a:t>
            </a:r>
            <a:endParaRPr lang="zh-CN" altLang="en-US" sz="1400" dirty="0"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>
              <a:lnSpc>
                <a:spcPct val="190000"/>
              </a:lnSpc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岗位结构：Java 2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0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、AI/人工智能 19、产品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9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、测试 7、前端 6、专项 7。</a:t>
            </a:r>
            <a:endParaRPr lang="zh-CN" altLang="en-US" sz="1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90000"/>
              </a:lnSpc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角色覆盖：每组建议覆盖产品、前端、后端、AI、测试、交付支撑。</a:t>
            </a:r>
            <a:endParaRPr lang="zh-CN" altLang="en-US" sz="1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90000"/>
              </a:lnSpc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任务分配：不硬性指定到个人，由组内根据能力与节奏自行拆分。</a:t>
            </a:r>
            <a:endParaRPr lang="zh-CN" altLang="en-US" sz="14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90000"/>
              </a:lnSpc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验收口径：每组独立交付用户端、后台端、Java 接口、MySQL 表、Agent 工具调用与日志、测试报告和部署文档。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90000"/>
              </a:lnSpc>
            </a:pP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>
              <a:lnSpc>
                <a:spcPct val="190000"/>
              </a:lnSpc>
            </a:pPr>
            <a:endParaRPr lang="en-US" altLang="zh-CN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90000"/>
              </a:lnSpc>
            </a:pP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824761" y="1138415"/>
            <a:ext cx="24054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人员分组</a:t>
            </a:r>
            <a:endParaRPr lang="en-US" altLang="zh-CN" sz="3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>
                <a:gradFill flip="none" rotWithShape="1">
                  <a:gsLst>
                    <a:gs pos="0">
                      <a:srgbClr val="F87047"/>
                    </a:gs>
                    <a:gs pos="100000">
                      <a:srgbClr val="F87047">
                        <a:lumMod val="75000"/>
                      </a:srgbClr>
                    </a:gs>
                  </a:gsLst>
                  <a:lin ang="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建议</a:t>
            </a:r>
            <a:endParaRPr lang="zh-CN" altLang="en-US" sz="3600" b="1" dirty="0">
              <a:gradFill flip="none" rotWithShape="1">
                <a:gsLst>
                  <a:gs pos="0">
                    <a:srgbClr val="F87047"/>
                  </a:gs>
                  <a:gs pos="100000">
                    <a:srgbClr val="F87047">
                      <a:lumMod val="75000"/>
                    </a:srgbClr>
                  </a:gs>
                </a:gsLst>
                <a:lin ang="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6635115" y="1506220"/>
          <a:ext cx="4503420" cy="5036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9812"/>
                <a:gridCol w="2323465"/>
              </a:tblGrid>
              <a:tr h="37846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b="1" i="0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岗位</a:t>
                      </a:r>
                      <a:endParaRPr lang="en-US" altLang="zh-CN" sz="1400" b="1" i="0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6343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b="1" i="0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人数</a:t>
                      </a:r>
                      <a:endParaRPr lang="zh-CN" altLang="en-US" sz="1400" b="1" i="0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6343"/>
                    </a:solidFill>
                  </a:tcPr>
                </a:tc>
              </a:tr>
              <a:tr h="22606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b="1" i="0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j-ea"/>
                        </a:rPr>
                        <a:t>产品</a:t>
                      </a:r>
                      <a:endParaRPr lang="zh-CN" altLang="en-US" sz="1200" b="1" i="0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j-ea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855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200" b="0" i="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9</a:t>
                      </a:r>
                      <a:endParaRPr lang="en-US" altLang="en-US" sz="1200" b="0" i="0" baseline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b="1" i="0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</a:t>
                      </a:r>
                      <a:endParaRPr lang="zh-CN" altLang="en-US" sz="1200" b="1" i="0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855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200" b="0" i="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</a:t>
                      </a:r>
                      <a:endParaRPr lang="en-US" altLang="en-US" sz="1200" b="0" i="0" baseline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2606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b="1" i="0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AI/人工智能</a:t>
                      </a:r>
                      <a:endParaRPr lang="zh-CN" altLang="en-US" sz="1200" b="1" i="0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855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200" b="0" i="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19</a:t>
                      </a:r>
                      <a:endParaRPr lang="en-US" altLang="en-US" sz="1200" b="0" i="0" baseline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b="1" i="0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j-ea"/>
                        </a:rPr>
                        <a:t>前端</a:t>
                      </a:r>
                      <a:endParaRPr lang="zh-CN" altLang="en-US" sz="1200" b="1" i="0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j-ea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855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200" b="0" i="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</a:t>
                      </a:r>
                      <a:endParaRPr lang="en-US" altLang="en-US" sz="1200" b="0" i="0" baseline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b="1" i="0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</a:t>
                      </a:r>
                      <a:endParaRPr lang="zh-CN" altLang="en-US" sz="1200" b="1" i="0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855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200" b="0" i="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</a:t>
                      </a:r>
                      <a:endParaRPr lang="en-US" altLang="en-US" sz="1200" b="0" i="0" baseline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b="1" i="0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专项</a:t>
                      </a:r>
                      <a:endParaRPr lang="zh-CN" altLang="en-US" sz="1200" b="1" i="0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855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200" b="0" i="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</a:t>
                      </a:r>
                      <a:endParaRPr lang="en-US" altLang="en-US" sz="1200" b="0" i="0" baseline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b="1" i="0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  <a:endParaRPr lang="en-US" altLang="zh-CN" sz="1200" b="1" i="0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855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200" b="0" i="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68</a:t>
                      </a:r>
                      <a:endParaRPr lang="en-US" altLang="en-US" sz="1200" b="0" i="0" baseline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endParaRPr lang="zh-CN" altLang="en-US" sz="1200" b="1" i="0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855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endParaRPr lang="en-US" altLang="en-US" sz="1200" b="0" i="0" baseline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b="1" i="0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建议组数</a:t>
                      </a:r>
                      <a:endParaRPr lang="zh-CN" sz="1200" b="1" i="0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855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200" b="0" i="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</a:t>
                      </a:r>
                      <a:endParaRPr lang="en-US" altLang="en-US" sz="1200" b="0" i="0" baseline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b="1" i="0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单组规模</a:t>
                      </a:r>
                      <a:endParaRPr lang="zh-CN" altLang="en-US" sz="1200" b="1" i="0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855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200" b="0" i="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约12人</a:t>
                      </a:r>
                      <a:endParaRPr lang="en-US" altLang="en-US" sz="1200" b="0" i="0" baseline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b="1" i="0" baseline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项目主题</a:t>
                      </a:r>
                      <a:endParaRPr lang="zh-CN" altLang="en-US" sz="1200" b="1" i="0" baseline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855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200" b="0" i="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统一同题</a:t>
                      </a:r>
                      <a:endParaRPr lang="en-US" altLang="en-US" sz="1200" b="0" i="0" baseline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sz="1200" b="1" i="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任务分配</a:t>
                      </a:r>
                      <a:endParaRPr lang="zh-CN" altLang="en-US" sz="1200" b="1" i="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855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200" b="1" i="0" baseline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组内自定</a:t>
                      </a:r>
                      <a:endParaRPr lang="en-US" altLang="en-US" sz="1200" b="1" i="0" baseline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12700" marR="12700" marT="12700"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图片 71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446" y="506951"/>
            <a:ext cx="1180401" cy="401409"/>
          </a:xfrm>
          <a:prstGeom prst="rect">
            <a:avLst/>
          </a:prstGeom>
        </p:spPr>
      </p:pic>
      <p:sp>
        <p:nvSpPr>
          <p:cNvPr id="171" name="Rectangle 9"/>
          <p:cNvSpPr/>
          <p:nvPr/>
        </p:nvSpPr>
        <p:spPr>
          <a:xfrm>
            <a:off x="-1" y="1654629"/>
            <a:ext cx="4760985" cy="4164332"/>
          </a:xfrm>
          <a:prstGeom prst="rect">
            <a:avLst/>
          </a:prstGeom>
          <a:gradFill flip="none" rotWithShape="1">
            <a:gsLst>
              <a:gs pos="0">
                <a:srgbClr val="F87047">
                  <a:alpha val="88000"/>
                </a:srgbClr>
              </a:gs>
              <a:gs pos="90000">
                <a:srgbClr val="E30E1F">
                  <a:alpha val="80000"/>
                </a:srgb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+mn-ea"/>
              <a:cs typeface="+mn-cs"/>
            </a:endParaRPr>
          </a:p>
        </p:txBody>
      </p:sp>
      <p:sp>
        <p:nvSpPr>
          <p:cNvPr id="185" name="TextBox 44"/>
          <p:cNvSpPr txBox="1"/>
          <p:nvPr/>
        </p:nvSpPr>
        <p:spPr>
          <a:xfrm>
            <a:off x="310234" y="1910738"/>
            <a:ext cx="32738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050" spc="300" dirty="0">
                <a:solidFill>
                  <a:prstClr val="white"/>
                </a:solidFill>
                <a:latin typeface="Muli"/>
              </a:rPr>
              <a:t>Aspire Mini Project</a:t>
            </a:r>
            <a:endParaRPr lang="en-US" sz="1050" spc="300" dirty="0">
              <a:solidFill>
                <a:prstClr val="white"/>
              </a:solidFill>
              <a:latin typeface="Muli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310234" y="2230638"/>
            <a:ext cx="1301750" cy="1445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endParaRPr kumimoji="1"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kumimoji="1"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377755" y="3735478"/>
            <a:ext cx="41877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 Agent 日程与任务协同助手，强调从自然语言目标到任务拆解、排期确认、执行追踪和复盘总结的完整闭环。</a:t>
            </a:r>
            <a:endParaRPr kumimoji="1" lang="zh-CN" altLang="en-US" sz="1600" dirty="0"/>
          </a:p>
        </p:txBody>
      </p:sp>
      <p:sp>
        <p:nvSpPr>
          <p:cNvPr id="204" name="文本框 203"/>
          <p:cNvSpPr txBox="1"/>
          <p:nvPr/>
        </p:nvSpPr>
        <p:spPr>
          <a:xfrm>
            <a:off x="5336678" y="2875063"/>
            <a:ext cx="612522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>
              <a:lnSpc>
                <a:spcPct val="150000"/>
              </a:lnSpc>
              <a:buNone/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用户端：用户通过自然语言输入目标，查看 Agent 生成的任务计划、日历排期、冲突提醒和执行状态，并确认是否落库执行。</a:t>
            </a:r>
            <a:endParaRPr lang="zh-CN" altLang="en-US" b="0" dirty="0"/>
          </a:p>
        </p:txBody>
      </p:sp>
      <p:sp>
        <p:nvSpPr>
          <p:cNvPr id="205" name="文本框 204"/>
          <p:cNvSpPr txBox="1"/>
          <p:nvPr/>
        </p:nvSpPr>
        <p:spPr>
          <a:xfrm>
            <a:off x="5336677" y="4316150"/>
            <a:ext cx="612521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管理后台：用户注册和管理，Prompt 模板、工具注册、多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注册与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切换，Agent 会话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01310" y="1743710"/>
            <a:ext cx="5313045" cy="1153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产品名称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Agent 日程与任务协同助手</a:t>
            </a:r>
            <a:endParaRPr kumimoji="1"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图片 71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446" y="506951"/>
            <a:ext cx="1180401" cy="401409"/>
          </a:xfrm>
          <a:prstGeom prst="rect">
            <a:avLst/>
          </a:prstGeom>
        </p:spPr>
      </p:pic>
      <p:sp>
        <p:nvSpPr>
          <p:cNvPr id="64" name="Rectangle 2"/>
          <p:cNvSpPr/>
          <p:nvPr/>
        </p:nvSpPr>
        <p:spPr>
          <a:xfrm>
            <a:off x="0" y="1824545"/>
            <a:ext cx="1362014" cy="3655250"/>
          </a:xfrm>
          <a:prstGeom prst="rect">
            <a:avLst/>
          </a:prstGeom>
          <a:gradFill flip="none" rotWithShape="1">
            <a:gsLst>
              <a:gs pos="0">
                <a:srgbClr val="F87047"/>
              </a:gs>
              <a:gs pos="90000">
                <a:srgbClr val="E30E1F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+mn-ea"/>
              <a:cs typeface="+mn-cs"/>
            </a:endParaRPr>
          </a:p>
        </p:txBody>
      </p:sp>
      <p:sp>
        <p:nvSpPr>
          <p:cNvPr id="65" name="TextBox 3"/>
          <p:cNvSpPr txBox="1"/>
          <p:nvPr/>
        </p:nvSpPr>
        <p:spPr>
          <a:xfrm>
            <a:off x="288986" y="3131002"/>
            <a:ext cx="1169548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5400" dirty="0">
                <a:solidFill>
                  <a:prstClr val="white"/>
                </a:solidFill>
                <a:latin typeface="Muli"/>
              </a:rPr>
              <a:t>01</a:t>
            </a:r>
            <a:endParaRPr lang="en-US" sz="5400" dirty="0">
              <a:solidFill>
                <a:prstClr val="white"/>
              </a:solidFill>
              <a:latin typeface="Muli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59147" y="384489"/>
            <a:ext cx="88402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Agent 日程与任务协同助手 </a:t>
            </a:r>
            <a:r>
              <a:rPr lang="en-US" altLang="zh-CN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gradFill flip="none" rotWithShape="1">
                  <a:gsLst>
                    <a:gs pos="0">
                      <a:srgbClr val="F87047"/>
                    </a:gs>
                    <a:gs pos="100000">
                      <a:srgbClr val="F87047">
                        <a:lumMod val="75000"/>
                      </a:srgbClr>
                    </a:gs>
                  </a:gsLst>
                  <a:lin ang="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功能描述</a:t>
            </a:r>
            <a:endParaRPr lang="zh-CN" altLang="en-US" sz="3200" b="1" dirty="0">
              <a:gradFill flip="none" rotWithShape="1">
                <a:gsLst>
                  <a:gs pos="0">
                    <a:srgbClr val="F87047"/>
                  </a:gs>
                  <a:gs pos="100000">
                    <a:srgbClr val="F87047">
                      <a:lumMod val="75000"/>
                    </a:srgbClr>
                  </a:gs>
                </a:gsLst>
                <a:lin ang="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占位符 2"/>
          <p:cNvSpPr txBox="1"/>
          <p:nvPr/>
        </p:nvSpPr>
        <p:spPr>
          <a:xfrm>
            <a:off x="1480185" y="2223135"/>
            <a:ext cx="10520680" cy="273812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今年能力聚焦：个人全栈、AI Agent 应用、工程闭环、安全边界。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个人全栈：能讲清页面入口、接口设计、数据模型、关键逻辑、测试方式和部署依赖。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 应用：完成目标理解、任务规划、工具调用、人工确认、结果落库和日志追踪。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工程闭环：用户输入、前端展示、后端处理、数据库写入和日志记录全部跑通。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安全边界：批量创建、修改、删除、提醒推送等敏感动作必须用户确认。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GB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系统核心能力：自然语言输入、任务拆解、日程协同、确认执行、追踪复盘。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Font typeface="+mj-lt"/>
              <a:buAutoNum type="arabicPeriod"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Font typeface="+mj-lt"/>
              <a:buAutoNum type="arabicPeriod"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Font typeface="+mj-lt"/>
              <a:buAutoNum type="arabicPeriod"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Font typeface="+mj-lt"/>
              <a:buAutoNum type="arabicPeriod"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Font typeface="+mj-lt"/>
              <a:buAutoNum type="arabicPeriod"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Font typeface="+mj-lt"/>
              <a:buAutoNum type="arabicPeriod"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图片 71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446" y="506951"/>
            <a:ext cx="1180401" cy="401409"/>
          </a:xfrm>
          <a:prstGeom prst="rect">
            <a:avLst/>
          </a:prstGeom>
        </p:spPr>
      </p:pic>
      <p:sp>
        <p:nvSpPr>
          <p:cNvPr id="65" name="TextBox 3"/>
          <p:cNvSpPr txBox="1"/>
          <p:nvPr/>
        </p:nvSpPr>
        <p:spPr>
          <a:xfrm>
            <a:off x="11024041" y="3151189"/>
            <a:ext cx="11695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uli"/>
                <a:ea typeface="+mn-ea"/>
                <a:cs typeface="+mn-cs"/>
              </a:rPr>
              <a:t>0</a:t>
            </a: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uli"/>
                <a:ea typeface="+mn-ea"/>
                <a:cs typeface="+mn-cs"/>
              </a:rPr>
              <a:t>2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uli"/>
              <a:ea typeface="+mn-ea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183835" y="378248"/>
            <a:ext cx="88402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Agent 日程与任务协同助手 </a:t>
            </a:r>
            <a:r>
              <a:rPr lang="en-US" altLang="zh-CN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gradFill flip="none" rotWithShape="1">
                  <a:gsLst>
                    <a:gs pos="0">
                      <a:srgbClr val="F87047"/>
                    </a:gs>
                    <a:gs pos="100000">
                      <a:srgbClr val="F87047">
                        <a:lumMod val="75000"/>
                      </a:srgbClr>
                    </a:gs>
                  </a:gsLst>
                  <a:lin ang="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核心流程</a:t>
            </a:r>
            <a:endParaRPr lang="zh-CN" altLang="en-US" sz="3200" b="1" dirty="0">
              <a:gradFill flip="none" rotWithShape="1">
                <a:gsLst>
                  <a:gs pos="0">
                    <a:srgbClr val="F87047"/>
                  </a:gs>
                  <a:gs pos="100000">
                    <a:srgbClr val="F87047">
                      <a:lumMod val="75000"/>
                    </a:srgbClr>
                  </a:gs>
                </a:gsLst>
                <a:lin ang="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2"/>
          <p:cNvSpPr/>
          <p:nvPr/>
        </p:nvSpPr>
        <p:spPr>
          <a:xfrm>
            <a:off x="10831574" y="1850303"/>
            <a:ext cx="1362014" cy="3655250"/>
          </a:xfrm>
          <a:prstGeom prst="rect">
            <a:avLst/>
          </a:prstGeom>
          <a:gradFill flip="none" rotWithShape="1">
            <a:gsLst>
              <a:gs pos="0">
                <a:srgbClr val="F87047"/>
              </a:gs>
              <a:gs pos="90000">
                <a:srgbClr val="E30E1F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/>
              <a:ea typeface="+mn-ea"/>
              <a:cs typeface="+mn-cs"/>
            </a:endParaRPr>
          </a:p>
        </p:txBody>
      </p:sp>
      <p:sp>
        <p:nvSpPr>
          <p:cNvPr id="19" name="TextBox 3"/>
          <p:cNvSpPr txBox="1"/>
          <p:nvPr/>
        </p:nvSpPr>
        <p:spPr>
          <a:xfrm>
            <a:off x="11173265" y="3135170"/>
            <a:ext cx="1169548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5400" dirty="0">
                <a:solidFill>
                  <a:prstClr val="white"/>
                </a:solidFill>
                <a:latin typeface="Muli"/>
              </a:rPr>
              <a:t>0</a:t>
            </a:r>
            <a:r>
              <a:rPr lang="en-US" altLang="zh-CN" sz="5400" dirty="0">
                <a:solidFill>
                  <a:prstClr val="white"/>
                </a:solidFill>
                <a:latin typeface="Muli"/>
              </a:rPr>
              <a:t>2</a:t>
            </a:r>
            <a:endParaRPr lang="en-US" altLang="zh-CN" sz="5400" dirty="0">
              <a:solidFill>
                <a:prstClr val="white"/>
              </a:solidFill>
              <a:latin typeface="Muli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3446" y="1771954"/>
            <a:ext cx="9787276" cy="379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一、标准演示场景（用户视角）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用户输入：“帮我安排下周五前完成新人培训汇报，包括材料整理、PPT 初稿、评审修改和最终彩排。”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Agent 识别目标、截止时间、交付物和任务类型。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Agent 拆解子任务，生成预计耗时、优先级和依赖关系。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Agent 调用工具查询已有日程，检测冲突并推荐空闲时间片。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 系统展示排期方案预览，用户确认后再批量创建任务、日程和提醒。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二、AI 关键作用点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 意图识别与结构化：把自然语言目标转成可执行计划。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 工具调用：查询日程、检测冲突、创建任务、设置提醒、生成总结。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 人工确认：敏感动作执行前必须给用户确认。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 执行追踪：保留模型输入输出、计划结果、工具调用参数和执行结果。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10. 失败兜底：工具失败、信息不足或低置信度时给出追问和建议。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图片 71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446" y="506951"/>
            <a:ext cx="1180401" cy="401409"/>
          </a:xfrm>
          <a:prstGeom prst="rect">
            <a:avLst/>
          </a:prstGeom>
        </p:spPr>
      </p:pic>
      <p:sp>
        <p:nvSpPr>
          <p:cNvPr id="64" name="Rectangle 2"/>
          <p:cNvSpPr/>
          <p:nvPr/>
        </p:nvSpPr>
        <p:spPr>
          <a:xfrm>
            <a:off x="0" y="1824545"/>
            <a:ext cx="1362014" cy="3655250"/>
          </a:xfrm>
          <a:prstGeom prst="rect">
            <a:avLst/>
          </a:prstGeom>
          <a:gradFill flip="none" rotWithShape="1">
            <a:gsLst>
              <a:gs pos="0">
                <a:srgbClr val="F87047"/>
              </a:gs>
              <a:gs pos="90000">
                <a:srgbClr val="E30E1F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Box 3"/>
          <p:cNvSpPr txBox="1"/>
          <p:nvPr/>
        </p:nvSpPr>
        <p:spPr>
          <a:xfrm>
            <a:off x="283906" y="3073217"/>
            <a:ext cx="1169548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5400" dirty="0">
                <a:solidFill>
                  <a:prstClr val="white"/>
                </a:solidFill>
                <a:latin typeface="Muli"/>
              </a:rPr>
              <a:t>03</a:t>
            </a:r>
            <a:endParaRPr lang="en-US" sz="5400" dirty="0">
              <a:solidFill>
                <a:prstClr val="white"/>
              </a:solidFill>
              <a:latin typeface="Muli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71503" y="384489"/>
            <a:ext cx="88402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Agent 日程与任务协同助手 </a:t>
            </a:r>
            <a:r>
              <a:rPr lang="en-US" altLang="zh-CN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gradFill flip="none" rotWithShape="1">
                  <a:gsLst>
                    <a:gs pos="0">
                      <a:srgbClr val="F87047"/>
                    </a:gs>
                    <a:gs pos="100000">
                      <a:srgbClr val="F87047">
                        <a:lumMod val="75000"/>
                      </a:srgbClr>
                    </a:gs>
                  </a:gsLst>
                  <a:lin ang="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用户端模块</a:t>
            </a:r>
            <a:endParaRPr lang="zh-CN" altLang="en-US" sz="3200" b="1" dirty="0">
              <a:gradFill flip="none" rotWithShape="1">
                <a:gsLst>
                  <a:gs pos="0">
                    <a:srgbClr val="F87047"/>
                  </a:gs>
                  <a:gs pos="100000">
                    <a:srgbClr val="F87047">
                      <a:lumMod val="75000"/>
                    </a:srgbClr>
                  </a:gs>
                </a:gsLst>
                <a:lin ang="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554479" y="1062885"/>
            <a:ext cx="3171135" cy="2651866"/>
            <a:chOff x="660399" y="1587875"/>
            <a:chExt cx="3583941" cy="1932403"/>
          </a:xfrm>
        </p:grpSpPr>
        <p:sp>
          <p:nvSpPr>
            <p:cNvPr id="6" name="ComponentBackground1"/>
            <p:cNvSpPr/>
            <p:nvPr/>
          </p:nvSpPr>
          <p:spPr>
            <a:xfrm>
              <a:off x="660399" y="1828801"/>
              <a:ext cx="3583941" cy="1691477"/>
            </a:xfrm>
            <a:prstGeom prst="plaque">
              <a:avLst>
                <a:gd name="adj" fmla="val 4705"/>
              </a:avLst>
            </a:prstGeom>
            <a:noFill/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1"/>
            <p:cNvSpPr txBox="1"/>
            <p:nvPr/>
          </p:nvSpPr>
          <p:spPr>
            <a:xfrm>
              <a:off x="767714" y="1949377"/>
              <a:ext cx="3369312" cy="15709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 fontScale="92500" lnSpcReduction="10000"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功能定位：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系统入口，支持用户用自然语言输入目标、约束和截止时间。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应具备功能：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输入文本或语音；展示识别出的目标、时间、事项、优先级；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识别不完整时给出追问；用户可确认或修改解析结果。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交互形式：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输入框 + 实时解析反馈 + 建议动作确认按钮。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Bullet1"/>
            <p:cNvSpPr txBox="1"/>
            <p:nvPr/>
          </p:nvSpPr>
          <p:spPr>
            <a:xfrm>
              <a:off x="973096" y="1587875"/>
              <a:ext cx="2958546" cy="340330"/>
            </a:xfrm>
            <a:prstGeom prst="plaque">
              <a:avLst>
                <a:gd name="adj" fmla="val 9502"/>
              </a:avLst>
            </a:prstGeom>
            <a:solidFill>
              <a:srgbClr val="F5713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rPr>
                <a:t>自然语言输入与目标识别区</a:t>
              </a:r>
              <a:endParaRPr lang="de-DE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918079" y="1093580"/>
            <a:ext cx="3171135" cy="2651866"/>
            <a:chOff x="660399" y="1587875"/>
            <a:chExt cx="3583941" cy="1932403"/>
          </a:xfrm>
        </p:grpSpPr>
        <p:sp>
          <p:nvSpPr>
            <p:cNvPr id="26" name="ComponentBackground1"/>
            <p:cNvSpPr/>
            <p:nvPr/>
          </p:nvSpPr>
          <p:spPr>
            <a:xfrm>
              <a:off x="660399" y="1828801"/>
              <a:ext cx="3583941" cy="1691477"/>
            </a:xfrm>
            <a:prstGeom prst="plaque">
              <a:avLst>
                <a:gd name="adj" fmla="val 4705"/>
              </a:avLst>
            </a:prstGeom>
            <a:noFill/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1"/>
            <p:cNvSpPr txBox="1"/>
            <p:nvPr/>
          </p:nvSpPr>
          <p:spPr>
            <a:xfrm>
              <a:off x="767714" y="1949377"/>
              <a:ext cx="3369312" cy="15709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 lnSpcReduction="10000"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功能定位：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提供今日、本周任务与日程摘要，帮助用户快速理解当前安排。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应具备功能：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展示任务列表、日历视图、冲突提醒、Agent 推荐优先级；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支持筛选、排序、快速查看详情；提供“新增目标”“智能整理”入口。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交互形式：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卡片式任务展示 + 时间线 / 日历切换。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增加周报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月报功能，进行员工任务汇总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Bullet1"/>
            <p:cNvSpPr txBox="1"/>
            <p:nvPr/>
          </p:nvSpPr>
          <p:spPr>
            <a:xfrm>
              <a:off x="973096" y="1587875"/>
              <a:ext cx="2958546" cy="340330"/>
            </a:xfrm>
            <a:prstGeom prst="plaque">
              <a:avLst>
                <a:gd name="adj" fmla="val 9502"/>
              </a:avLst>
            </a:prstGeom>
            <a:solidFill>
              <a:srgbClr val="F5713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日程与任务总览首页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376633" y="1093580"/>
            <a:ext cx="3171135" cy="2651866"/>
            <a:chOff x="660399" y="1587875"/>
            <a:chExt cx="3583941" cy="1932403"/>
          </a:xfrm>
        </p:grpSpPr>
        <p:sp>
          <p:nvSpPr>
            <p:cNvPr id="32" name="ComponentBackground1"/>
            <p:cNvSpPr/>
            <p:nvPr/>
          </p:nvSpPr>
          <p:spPr>
            <a:xfrm>
              <a:off x="660399" y="1828801"/>
              <a:ext cx="3583941" cy="1691477"/>
            </a:xfrm>
            <a:prstGeom prst="plaque">
              <a:avLst>
                <a:gd name="adj" fmla="val 4705"/>
              </a:avLst>
            </a:prstGeom>
            <a:noFill/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Text1"/>
            <p:cNvSpPr txBox="1"/>
            <p:nvPr/>
          </p:nvSpPr>
          <p:spPr>
            <a:xfrm>
              <a:off x="767714" y="1949378"/>
              <a:ext cx="3369312" cy="1570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 fontScale="92500" lnSpcReduction="10000"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功能定位：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展示 Agent 拆解后的任务计划和排期建议，作为执行前确认页。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应具备功能：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展示子任务、预计耗时、依赖关系、推荐时间片和冲突说明；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支持用户接受、调整、删除单项计划；敏感操作需二次确认。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交互形式：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计划清单 + 冲突标识 + 一键确认 / 手动调整。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Bullet1"/>
            <p:cNvSpPr txBox="1"/>
            <p:nvPr/>
          </p:nvSpPr>
          <p:spPr>
            <a:xfrm>
              <a:off x="973096" y="1587875"/>
              <a:ext cx="2958546" cy="340330"/>
            </a:xfrm>
            <a:prstGeom prst="plaque">
              <a:avLst>
                <a:gd name="adj" fmla="val 9502"/>
              </a:avLst>
            </a:prstGeom>
            <a:solidFill>
              <a:srgbClr val="F5713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计划预览与确认页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538093" y="3849678"/>
            <a:ext cx="3171135" cy="2651866"/>
            <a:chOff x="660399" y="1587875"/>
            <a:chExt cx="3583941" cy="1932403"/>
          </a:xfrm>
        </p:grpSpPr>
        <p:sp>
          <p:nvSpPr>
            <p:cNvPr id="36" name="ComponentBackground1"/>
            <p:cNvSpPr/>
            <p:nvPr/>
          </p:nvSpPr>
          <p:spPr>
            <a:xfrm>
              <a:off x="660399" y="1828801"/>
              <a:ext cx="3583941" cy="1691477"/>
            </a:xfrm>
            <a:prstGeom prst="plaque">
              <a:avLst>
                <a:gd name="adj" fmla="val 4705"/>
              </a:avLst>
            </a:prstGeom>
            <a:noFill/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Text1"/>
            <p:cNvSpPr txBox="1"/>
            <p:nvPr/>
          </p:nvSpPr>
          <p:spPr>
            <a:xfrm>
              <a:off x="767714" y="1949377"/>
              <a:ext cx="3369312" cy="15709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 fontScale="92500" lnSpcReduction="10000"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功能定位：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查看单个任务的状态、执行记录、提醒和复盘信息。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应具备功能：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展示任务标题、时间、状态、来源目标、Agent 建议和变更记录；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支持标记完成、延期、重新规划、生成总结；保留操作轨迹。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交互形式：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详情表单 + 状态流转 + Agent 建议区。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Bullet1"/>
            <p:cNvSpPr txBox="1"/>
            <p:nvPr/>
          </p:nvSpPr>
          <p:spPr>
            <a:xfrm>
              <a:off x="973096" y="1587875"/>
              <a:ext cx="2958546" cy="340330"/>
            </a:xfrm>
            <a:prstGeom prst="plaque">
              <a:avLst>
                <a:gd name="adj" fmla="val 9502"/>
              </a:avLst>
            </a:prstGeom>
            <a:solidFill>
              <a:srgbClr val="F5713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GB" altLang="zh-CN" sz="14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90204" pitchFamily="34" charset="0"/>
                </a:rPr>
                <a:t>任务详情与执行追踪页</a:t>
              </a:r>
              <a:endParaRPr lang="de-DE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6998974" y="3879523"/>
            <a:ext cx="3171135" cy="2651866"/>
            <a:chOff x="660399" y="1587875"/>
            <a:chExt cx="3583941" cy="1932403"/>
          </a:xfrm>
        </p:grpSpPr>
        <p:sp>
          <p:nvSpPr>
            <p:cNvPr id="40" name="ComponentBackground1"/>
            <p:cNvSpPr/>
            <p:nvPr/>
          </p:nvSpPr>
          <p:spPr>
            <a:xfrm>
              <a:off x="660399" y="1828801"/>
              <a:ext cx="3583941" cy="1691477"/>
            </a:xfrm>
            <a:prstGeom prst="plaque">
              <a:avLst>
                <a:gd name="adj" fmla="val 4705"/>
              </a:avLst>
            </a:prstGeom>
            <a:noFill/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Text1"/>
            <p:cNvSpPr txBox="1"/>
            <p:nvPr/>
          </p:nvSpPr>
          <p:spPr>
            <a:xfrm>
              <a:off x="767714" y="1949377"/>
              <a:ext cx="3369312" cy="15709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 lnSpcReduction="10000"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功能定位：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为任务和日程设置提醒时间、提醒方式和重复规则。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应具备功能：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支持提前提醒、重复提醒、失败重试提示；支持统一提醒偏好；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提醒创建、修改、删除等动作需用户确认。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交互形式：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时间选择器 + 开关控件 + 确认弹窗。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通知形式可以选择站内信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or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接入其他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通讯应用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Bullet1"/>
            <p:cNvSpPr txBox="1"/>
            <p:nvPr/>
          </p:nvSpPr>
          <p:spPr>
            <a:xfrm>
              <a:off x="973096" y="1587875"/>
              <a:ext cx="2958546" cy="340330"/>
            </a:xfrm>
            <a:prstGeom prst="plaque">
              <a:avLst>
                <a:gd name="adj" fmla="val 9502"/>
              </a:avLst>
            </a:prstGeom>
            <a:solidFill>
              <a:srgbClr val="F5713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提醒设置与通知管理*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1643847" y="6635436"/>
            <a:ext cx="2807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 可根据项目时间选择实现深度，但主链路必须可演示。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图片 71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446" y="506951"/>
            <a:ext cx="1180401" cy="401409"/>
          </a:xfrm>
          <a:prstGeom prst="rect">
            <a:avLst/>
          </a:prstGeom>
        </p:spPr>
      </p:pic>
      <p:sp>
        <p:nvSpPr>
          <p:cNvPr id="64" name="Rectangle 2"/>
          <p:cNvSpPr/>
          <p:nvPr/>
        </p:nvSpPr>
        <p:spPr>
          <a:xfrm>
            <a:off x="10831574" y="1824545"/>
            <a:ext cx="1362014" cy="3655250"/>
          </a:xfrm>
          <a:prstGeom prst="rect">
            <a:avLst/>
          </a:prstGeom>
          <a:gradFill flip="none" rotWithShape="1">
            <a:gsLst>
              <a:gs pos="0">
                <a:srgbClr val="F87047"/>
              </a:gs>
              <a:gs pos="90000">
                <a:srgbClr val="E30E1F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Box 3"/>
          <p:cNvSpPr txBox="1"/>
          <p:nvPr/>
        </p:nvSpPr>
        <p:spPr>
          <a:xfrm>
            <a:off x="11112940" y="3139892"/>
            <a:ext cx="1169548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5400" dirty="0">
                <a:solidFill>
                  <a:prstClr val="white"/>
                </a:solidFill>
                <a:latin typeface="Muli"/>
              </a:rPr>
              <a:t>0</a:t>
            </a:r>
            <a:endParaRPr lang="en-US" sz="5400" dirty="0">
              <a:solidFill>
                <a:prstClr val="white"/>
              </a:solidFill>
              <a:latin typeface="Muli"/>
            </a:endParaRPr>
          </a:p>
          <a:p>
            <a:pPr defTabSz="914400"/>
            <a:r>
              <a:rPr lang="en-US" sz="5400" dirty="0">
                <a:solidFill>
                  <a:prstClr val="white"/>
                </a:solidFill>
                <a:latin typeface="Muli"/>
              </a:rPr>
              <a:t>4</a:t>
            </a:r>
            <a:endParaRPr lang="en-US" sz="5400" dirty="0">
              <a:solidFill>
                <a:prstClr val="white"/>
              </a:solidFill>
              <a:latin typeface="Muli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83835" y="384489"/>
            <a:ext cx="88402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Agent 日程与任务协同助手 </a:t>
            </a:r>
            <a:r>
              <a:rPr lang="en-US" altLang="zh-CN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gradFill flip="none" rotWithShape="1">
                  <a:gsLst>
                    <a:gs pos="0">
                      <a:srgbClr val="F87047"/>
                    </a:gs>
                    <a:gs pos="100000">
                      <a:srgbClr val="F87047">
                        <a:lumMod val="75000"/>
                      </a:srgbClr>
                    </a:gs>
                  </a:gsLst>
                  <a:lin ang="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后台管理模块</a:t>
            </a:r>
            <a:endParaRPr lang="zh-CN" altLang="en-US" sz="3200" b="1" dirty="0">
              <a:gradFill flip="none" rotWithShape="1">
                <a:gsLst>
                  <a:gs pos="0">
                    <a:srgbClr val="F87047"/>
                  </a:gs>
                  <a:gs pos="100000">
                    <a:srgbClr val="F87047">
                      <a:lumMod val="75000"/>
                    </a:srgbClr>
                  </a:gs>
                </a:gsLst>
                <a:lin ang="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49793" y="1062885"/>
            <a:ext cx="3171135" cy="2651866"/>
            <a:chOff x="660399" y="1587875"/>
            <a:chExt cx="3583941" cy="1932403"/>
          </a:xfrm>
        </p:grpSpPr>
        <p:sp>
          <p:nvSpPr>
            <p:cNvPr id="8" name="ComponentBackground1"/>
            <p:cNvSpPr/>
            <p:nvPr/>
          </p:nvSpPr>
          <p:spPr>
            <a:xfrm>
              <a:off x="660399" y="1828801"/>
              <a:ext cx="3583941" cy="1691477"/>
            </a:xfrm>
            <a:prstGeom prst="plaque">
              <a:avLst>
                <a:gd name="adj" fmla="val 4705"/>
              </a:avLst>
            </a:prstGeom>
            <a:noFill/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1"/>
            <p:cNvSpPr txBox="1"/>
            <p:nvPr/>
          </p:nvSpPr>
          <p:spPr>
            <a:xfrm>
              <a:off x="767714" y="1949377"/>
              <a:ext cx="3369312" cy="15709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功能定位：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管理后台账号、角色、菜单和操作权限，不管理用户个人任务明细。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应具备功能：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配置管理员角色；控制 Agent、Prompt、渠道、统计等菜单权限；记录配置发布和修改操作。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Bullet1"/>
            <p:cNvSpPr txBox="1"/>
            <p:nvPr/>
          </p:nvSpPr>
          <p:spPr>
            <a:xfrm>
              <a:off x="973096" y="1587875"/>
              <a:ext cx="2958546" cy="340330"/>
            </a:xfrm>
            <a:prstGeom prst="plaque">
              <a:avLst>
                <a:gd name="adj" fmla="val 9502"/>
              </a:avLst>
            </a:prstGeom>
            <a:solidFill>
              <a:srgbClr val="F5713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账号与权限管理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713393" y="1093580"/>
            <a:ext cx="3171135" cy="2651866"/>
            <a:chOff x="660399" y="1587875"/>
            <a:chExt cx="3583941" cy="1932403"/>
          </a:xfrm>
        </p:grpSpPr>
        <p:sp>
          <p:nvSpPr>
            <p:cNvPr id="12" name="ComponentBackground1"/>
            <p:cNvSpPr/>
            <p:nvPr/>
          </p:nvSpPr>
          <p:spPr>
            <a:xfrm>
              <a:off x="660399" y="1828801"/>
              <a:ext cx="3583941" cy="1691477"/>
            </a:xfrm>
            <a:prstGeom prst="plaque">
              <a:avLst>
                <a:gd name="adj" fmla="val 4705"/>
              </a:avLst>
            </a:prstGeom>
            <a:noFill/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1"/>
            <p:cNvSpPr txBox="1"/>
            <p:nvPr/>
          </p:nvSpPr>
          <p:spPr>
            <a:xfrm>
              <a:off x="767714" y="1949377"/>
              <a:ext cx="3369312" cy="15709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 lnSpcReduction="10000"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功能定位：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 Agent 类型、工具能力、接口动作和调用权限，明确能做什么、不能做什么。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应具备功能：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注册日程解析、排期、提醒、总结等 Agent；配置工具入参、权限边界、失败兜底和人工确认规则。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Bullet1"/>
            <p:cNvSpPr txBox="1"/>
            <p:nvPr/>
          </p:nvSpPr>
          <p:spPr>
            <a:xfrm>
              <a:off x="973096" y="1587875"/>
              <a:ext cx="2958546" cy="340330"/>
            </a:xfrm>
            <a:prstGeom prst="plaque">
              <a:avLst>
                <a:gd name="adj" fmla="val 9502"/>
              </a:avLst>
            </a:prstGeom>
            <a:solidFill>
              <a:srgbClr val="F5713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GB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多Agent 注册与工具管理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171947" y="1093580"/>
            <a:ext cx="3171135" cy="2651866"/>
            <a:chOff x="660399" y="1587875"/>
            <a:chExt cx="3583941" cy="1932403"/>
          </a:xfrm>
        </p:grpSpPr>
        <p:sp>
          <p:nvSpPr>
            <p:cNvPr id="16" name="ComponentBackground1"/>
            <p:cNvSpPr/>
            <p:nvPr/>
          </p:nvSpPr>
          <p:spPr>
            <a:xfrm>
              <a:off x="660399" y="1828801"/>
              <a:ext cx="3583941" cy="1691477"/>
            </a:xfrm>
            <a:prstGeom prst="plaque">
              <a:avLst>
                <a:gd name="adj" fmla="val 4705"/>
              </a:avLst>
            </a:prstGeom>
            <a:noFill/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1"/>
            <p:cNvSpPr txBox="1"/>
            <p:nvPr/>
          </p:nvSpPr>
          <p:spPr>
            <a:xfrm>
              <a:off x="767714" y="1949378"/>
              <a:ext cx="3369312" cy="1570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 lnSpcReduction="10000"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功能定位：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管理规则而非用户任务，让 Agent 的拆解、排期和冲突处理可解释、可调整。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应具备功能：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配置优先级、截止时间、依赖关系、冲突检测、推荐时间片策略；区分自动生成与必须确认的动作。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Bullet1"/>
            <p:cNvSpPr txBox="1"/>
            <p:nvPr/>
          </p:nvSpPr>
          <p:spPr>
            <a:xfrm>
              <a:off x="973096" y="1587875"/>
              <a:ext cx="2958546" cy="340330"/>
            </a:xfrm>
            <a:prstGeom prst="plaque">
              <a:avLst>
                <a:gd name="adj" fmla="val 9502"/>
              </a:avLst>
            </a:prstGeom>
            <a:solidFill>
              <a:srgbClr val="F5713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10000"/>
            </a:bodyPr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计划生成与冲突处理策略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615982" y="3809673"/>
            <a:ext cx="3171135" cy="2651866"/>
            <a:chOff x="660399" y="1587875"/>
            <a:chExt cx="3583941" cy="1932403"/>
          </a:xfrm>
        </p:grpSpPr>
        <p:sp>
          <p:nvSpPr>
            <p:cNvPr id="20" name="ComponentBackground1"/>
            <p:cNvSpPr/>
            <p:nvPr/>
          </p:nvSpPr>
          <p:spPr>
            <a:xfrm>
              <a:off x="660399" y="1828801"/>
              <a:ext cx="3583941" cy="1691477"/>
            </a:xfrm>
            <a:prstGeom prst="plaque">
              <a:avLst>
                <a:gd name="adj" fmla="val 4705"/>
              </a:avLst>
            </a:prstGeom>
            <a:noFill/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1"/>
            <p:cNvSpPr txBox="1"/>
            <p:nvPr/>
          </p:nvSpPr>
          <p:spPr>
            <a:xfrm>
              <a:off x="767714" y="1949377"/>
              <a:ext cx="3369312" cy="15709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 lnSpcReduction="10000"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功能定位：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沉淀 Prompt 模板、示例输入、FAQ、业务知识和 Skill 配置，提升输出稳定性。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应具备功能：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维护模板版本、约束规则和知识来源；支持效果反馈；可扩展 RAG 知识库或会议纪要导入能力。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Bullet1"/>
            <p:cNvSpPr txBox="1"/>
            <p:nvPr/>
          </p:nvSpPr>
          <p:spPr>
            <a:xfrm>
              <a:off x="973096" y="1587875"/>
              <a:ext cx="2958546" cy="340330"/>
            </a:xfrm>
            <a:prstGeom prst="plaque">
              <a:avLst>
                <a:gd name="adj" fmla="val 9502"/>
              </a:avLst>
            </a:prstGeom>
            <a:solidFill>
              <a:srgbClr val="F5713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Prompt 模板与Skill工具管理*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316893" y="3800783"/>
            <a:ext cx="3171135" cy="2651866"/>
            <a:chOff x="660399" y="1587875"/>
            <a:chExt cx="3583941" cy="1932403"/>
          </a:xfrm>
        </p:grpSpPr>
        <p:sp>
          <p:nvSpPr>
            <p:cNvPr id="24" name="ComponentBackground1"/>
            <p:cNvSpPr/>
            <p:nvPr/>
          </p:nvSpPr>
          <p:spPr>
            <a:xfrm>
              <a:off x="660399" y="1828801"/>
              <a:ext cx="3583941" cy="1691477"/>
            </a:xfrm>
            <a:prstGeom prst="plaque">
              <a:avLst>
                <a:gd name="adj" fmla="val 4705"/>
              </a:avLst>
            </a:prstGeom>
            <a:noFill/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1"/>
            <p:cNvSpPr txBox="1"/>
            <p:nvPr/>
          </p:nvSpPr>
          <p:spPr>
            <a:xfrm>
              <a:off x="767714" y="1949377"/>
              <a:ext cx="3369312" cy="15709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 fontScale="92500" lnSpcReduction="10000"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功能定位：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统一管理提醒触达通道和发送策略，支撑用户端通知体验。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应具备功能：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基础通道为站内信、邮箱；微信、企业微信、飞书等作为加分扩展；配置渠道开关、模板、频率、失败重试和优先级。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 typeface="Arial" panose="020B0604020202090204" pitchFamily="34" charset="0"/>
                <a:buChar char="•"/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Bullet1"/>
            <p:cNvSpPr txBox="1"/>
            <p:nvPr/>
          </p:nvSpPr>
          <p:spPr>
            <a:xfrm>
              <a:off x="973096" y="1587875"/>
              <a:ext cx="2958546" cy="340330"/>
            </a:xfrm>
            <a:prstGeom prst="plaque">
              <a:avLst>
                <a:gd name="adj" fmla="val 9502"/>
              </a:avLst>
            </a:prstGeom>
            <a:solidFill>
              <a:srgbClr val="F5713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en-US"/>
              </a:defPPr>
              <a:lvl1pPr algn="ctr">
                <a:defRPr b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通知渠道配置管理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439161" y="6635436"/>
            <a:ext cx="2807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 后台管理模块重点负责配置、权限、规则、渠道、效果与安全；不直接管理用户个人任务明细，仅保留脱敏统计、异常样例和必要审计记录。</a:t>
            </a:r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图片 71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446" y="506951"/>
            <a:ext cx="1180401" cy="40140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091805" y="908360"/>
            <a:ext cx="4009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产品经理</a:t>
            </a:r>
            <a:r>
              <a:rPr lang="zh-CN" altLang="en-US" sz="3600" b="1" dirty="0">
                <a:gradFill flip="none" rotWithShape="1">
                  <a:gsLst>
                    <a:gs pos="0">
                      <a:srgbClr val="F87047"/>
                    </a:gs>
                    <a:gs pos="100000">
                      <a:srgbClr val="F87047">
                        <a:lumMod val="75000"/>
                      </a:srgbClr>
                    </a:gs>
                  </a:gsLst>
                  <a:lin ang="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工作要求</a:t>
            </a:r>
            <a:endParaRPr lang="zh-CN" altLang="en-US" sz="3600" b="1" dirty="0">
              <a:gradFill flip="none" rotWithShape="1">
                <a:gsLst>
                  <a:gs pos="0">
                    <a:srgbClr val="F87047"/>
                  </a:gs>
                  <a:gs pos="100000">
                    <a:srgbClr val="F87047">
                      <a:lumMod val="75000"/>
                    </a:srgbClr>
                  </a:gs>
                </a:gsLst>
                <a:lin ang="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3446" y="1680632"/>
            <a:ext cx="11538054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需求跟进和分析：围绕“AI Agent 日程与任务协同助手”完成用户场景梳理、竞品调研、标准演示脚本和需求边界定义，明确用户端、后台端、Agent、数据安全和验收证据，并设计原型、流程图和需求规格说明书。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模型评估与选型：能根据意图识别、任务拆解、排期推荐等不同场景，评估并选择适合的大模型能力；设计模型效果评测方案（如构造测试集、设计评测指标），能对比不同模型/不同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Prompt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策略的输出质量。并同时考虑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Agent 边界设计，说明哪些动作可以自动规划，哪些动作必须人工确认，哪些异常需要兜底追问。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应用效果评估体系：设计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Agent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核心效果指标体系（如意图识别准确率、任务拆解合理性评分、排期冲突解决率、人工干预率等）；基于用户确认/修改/反馈行为，设计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Agent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自优化的数据飞轮闭环。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商业化敏感度与成本意识：理解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AI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产品的成本结构，能在产品设计中做功能优先级与成本的平衡判断；具备基础的商业化思维，能思考产品的付费切入点（如免费基础功能+增值高级功能模式）；理解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AI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产品从"功能收费"向"按效果付费"的商业模式演进趋势，在设计之初预留商业化扩展空间。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交付物：产品规划文档、原型图、标准演示脚本、需求说明书、验收汇报 PPT（含以上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2-4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内容，对关键思路、过程、和成果进行阐述）、项目复盘。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rgbClr val="F57136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图片 71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446" y="506951"/>
            <a:ext cx="1180401" cy="40140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16846" y="908360"/>
            <a:ext cx="3159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研发</a:t>
            </a:r>
            <a:r>
              <a:rPr lang="zh-CN" altLang="en-US" sz="3600" b="1" dirty="0">
                <a:gradFill flip="none" rotWithShape="1">
                  <a:gsLst>
                    <a:gs pos="0">
                      <a:srgbClr val="F87047"/>
                    </a:gs>
                    <a:gs pos="100000">
                      <a:srgbClr val="F87047">
                        <a:lumMod val="75000"/>
                      </a:srgbClr>
                    </a:gs>
                  </a:gsLst>
                  <a:lin ang="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工作要求</a:t>
            </a:r>
            <a:endParaRPr lang="zh-CN" altLang="en-US" sz="3600" b="1" dirty="0">
              <a:gradFill flip="none" rotWithShape="1">
                <a:gsLst>
                  <a:gs pos="0">
                    <a:srgbClr val="F87047"/>
                  </a:gs>
                  <a:gs pos="100000">
                    <a:srgbClr val="F87047">
                      <a:lumMod val="75000"/>
                    </a:srgbClr>
                  </a:gs>
                </a:gsLst>
                <a:lin ang="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3900" y="1579880"/>
            <a:ext cx="10382885" cy="452691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 SpringBoot 单体应用或 SpringCloud 微服务架构进行项目实现；使用 JDK17 及以</a:t>
            </a:r>
            <a:b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上版本开发；数据库推荐使用 MySQL；前端推荐使用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vue3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必须完成用户端页面、后台管理页、Java 接口、业务服务、数据库表结构、Agent 工具调用</a:t>
            </a:r>
            <a:b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和执行日志。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 Agent 能力需贯穿主流程：目标理解、任务规划、工具调用、人工确认、结果落库、失败兜底。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需保留模型输入输出、计划结果、工具调用参数、执行结果和失败原因，便于验收追问和复盘。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工程要求：接口文档、部署文档、测试报告、安全说明齐全；Prompt 注入、权限校验、敏感</a:t>
            </a:r>
            <a:br>
              <a:rPr kumimoji="1" lang="zh-CN" altLang="en-US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kumimoji="1" lang="zh-CN" altLang="en-US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操作确认需要有设计说明。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图片 71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446" y="506951"/>
            <a:ext cx="1180401" cy="40140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70466" y="908360"/>
            <a:ext cx="613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 项目完整研发流程</a:t>
            </a:r>
            <a:endParaRPr lang="zh-CN" altLang="en-US" sz="3600" b="1" dirty="0">
              <a:gradFill flip="none" rotWithShape="1">
                <a:gsLst>
                  <a:gs pos="0">
                    <a:srgbClr val="F87047"/>
                  </a:gs>
                  <a:gs pos="100000">
                    <a:srgbClr val="F87047">
                      <a:lumMod val="75000"/>
                    </a:srgbClr>
                  </a:gs>
                </a:gsLst>
                <a:lin ang="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869474" y="2052002"/>
          <a:ext cx="1045464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6685"/>
                <a:gridCol w="4283075"/>
                <a:gridCol w="3484880"/>
              </a:tblGrid>
              <a:tr h="4591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i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流程</a:t>
                      </a:r>
                      <a:endParaRPr lang="zh-CN" altLang="en-US" sz="1800" b="1" i="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rgbClr val="F571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i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工作内容</a:t>
                      </a:r>
                      <a:endParaRPr lang="zh-CN" altLang="en-US" sz="1800" b="1" i="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rgbClr val="F571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 i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产出</a:t>
                      </a:r>
                      <a:endParaRPr lang="zh-CN" altLang="en-US" sz="1800" b="1" i="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rgbClr val="F57136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0" i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1</a:t>
                      </a:r>
                      <a:endParaRPr lang="en-US" altLang="zh-CN" sz="1800" b="0" i="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0" i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需求边界、评分口径</a:t>
                      </a:r>
                      <a:endParaRPr lang="zh-CN" altLang="en-US" sz="1800" b="0" i="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0" i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需求、原型</a:t>
                      </a:r>
                      <a:endParaRPr lang="zh-CN" altLang="en-US" sz="1800" b="0" i="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0" i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2</a:t>
                      </a:r>
                      <a:endParaRPr lang="en-US" altLang="zh-CN" sz="1800" b="0" i="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0" i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架构、接口、表结构</a:t>
                      </a:r>
                      <a:endParaRPr lang="zh-CN" altLang="en-US" sz="1800" b="0" i="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0" i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设计、接口</a:t>
                      </a:r>
                      <a:endParaRPr lang="zh-CN" altLang="en-US" sz="1800" b="0" i="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0" i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3</a:t>
                      </a:r>
                      <a:endParaRPr lang="en-US" altLang="zh-CN" sz="1800" b="0" i="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0" i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页面、接口、Agent 日志</a:t>
                      </a:r>
                      <a:endParaRPr lang="zh-CN" altLang="en-US" sz="1800" b="0" i="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0" i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系统、代码</a:t>
                      </a:r>
                      <a:endParaRPr lang="zh-CN" altLang="en-US" sz="1800" b="0" i="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0" i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4</a:t>
                      </a:r>
                      <a:endParaRPr lang="en-US" altLang="zh-CN" sz="1800" b="0" i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0" i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主链路、异常、安全</a:t>
                      </a:r>
                      <a:endParaRPr lang="en-US" altLang="zh-CN" sz="1800" b="0" i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 b="0" i="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测试、安全</a:t>
                      </a:r>
                      <a:endParaRPr lang="zh-CN" altLang="en-US" sz="1800" b="0" i="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0" i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5</a:t>
                      </a:r>
                      <a:endParaRPr lang="en-US" altLang="zh-CN" sz="1800" b="0" i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0" i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演示、问答、复盘</a:t>
                      </a:r>
                      <a:endParaRPr lang="zh-CN" altLang="en-US" sz="1800" b="0" i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0" i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ea"/>
                          <a:sym typeface="+mn-lt"/>
                        </a:rPr>
                        <a:t>PPT、总结</a:t>
                      </a:r>
                      <a:endParaRPr lang="zh-CN" altLang="en-US" sz="1800" b="0" i="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ea"/>
                        <a:sym typeface="+mn-lt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图片 71" descr="文本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446" y="506951"/>
            <a:ext cx="1180401" cy="40140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986746" y="908360"/>
            <a:ext cx="3159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3600" b="1" dirty="0">
                <a:gradFill flip="none" rotWithShape="1">
                  <a:gsLst>
                    <a:gs pos="0">
                      <a:srgbClr val="F87047"/>
                    </a:gs>
                    <a:gs pos="100000">
                      <a:srgbClr val="F87047">
                        <a:lumMod val="75000"/>
                      </a:srgbClr>
                    </a:gs>
                  </a:gsLst>
                  <a:lin ang="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验收</a:t>
            </a:r>
            <a:endParaRPr lang="zh-CN" altLang="en-US" sz="3600" b="1" dirty="0">
              <a:gradFill flip="none" rotWithShape="1">
                <a:gsLst>
                  <a:gs pos="0">
                    <a:srgbClr val="F87047"/>
                  </a:gs>
                  <a:gs pos="100000">
                    <a:srgbClr val="F87047">
                      <a:lumMod val="75000"/>
                    </a:srgbClr>
                  </a:gs>
                </a:gsLst>
                <a:lin ang="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3446" y="1402291"/>
            <a:ext cx="110109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验收要求：</a:t>
            </a:r>
            <a:endParaRPr lang="en-US" altLang="zh-CN" dirty="0">
              <a:solidFill>
                <a:srgbClr val="C00000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15min/组讲解 PPT + 演示系统；10min 专家提问</a:t>
            </a:r>
            <a:endParaRPr lang="zh-CN" altLang="en-US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可演示的系统：必须现场看到自然语言输入目标、Agent 生成计划、查询日程并检测冲突、用户确认后写入数据库、后台查看会话和工具调用日志。</a:t>
            </a:r>
            <a:endParaRPr lang="zh-CN" altLang="en-US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产品验收汇报 PPT：包括需求理解、产品设计、核心流程、团队分工、项目计划、经验总结、AI Agent 应用场景、模型评估与选型、效果评估、商业化等</a:t>
            </a:r>
            <a:r>
              <a:rPr lang="zh-CN" altLang="en-US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模块。</a:t>
            </a:r>
            <a:endParaRPr lang="zh-CN" altLang="en-US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过程输出文档：产品规划、原型图、系统架构、接口文档、数据库设计、Agent 专项设计、测试报告、部署文档、项目复盘。</a:t>
            </a:r>
            <a:endParaRPr lang="zh-CN" altLang="en-US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52610" y="5010573"/>
          <a:ext cx="10921736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30434"/>
                <a:gridCol w="2640330"/>
                <a:gridCol w="2820538"/>
                <a:gridCol w="2730434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分值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分值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产品设计与业务闭环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15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sym typeface="+mn-ea"/>
                        </a:rPr>
                        <a:t>全栈功能实现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</a:t>
                      </a:r>
                      <a:endParaRPr lang="en-US" altLang="zh-CN" sz="1400" b="0" i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AI Agent 能力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30</a:t>
                      </a:r>
                      <a:endParaRPr lang="en-US" altLang="zh-CN" sz="1400" b="0" i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dirty="0"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工程质量与研发流程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15</a:t>
                      </a:r>
                      <a:endParaRPr lang="en-US" altLang="zh-CN" sz="1400" b="0" i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测试、安全与部署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</a:t>
                      </a:r>
                      <a:endParaRPr lang="en-US" altLang="zh-CN" sz="1400" b="0" i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sym typeface="+mn-ea"/>
                        </a:rPr>
                        <a:t>团队协作与现场表达</a:t>
                      </a:r>
                      <a:endParaRPr lang="zh-CN" altLang="en-US" sz="1400" b="0" i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</a:t>
                      </a:r>
                      <a:endParaRPr lang="en-US" altLang="zh-CN" sz="1400" b="0" i="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63446" y="4452927"/>
            <a:ext cx="677545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评分</a:t>
            </a:r>
            <a:r>
              <a:rPr lang="zh-CN" altLang="en-US" dirty="0">
                <a:solidFill>
                  <a:srgbClr val="C0000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维度：</a:t>
            </a:r>
            <a:endParaRPr lang="en-US" altLang="zh-CN" dirty="0">
              <a:solidFill>
                <a:srgbClr val="C00000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TABLE_ENDDRAG_ORIGIN_RECT" val="234*337"/>
  <p:tag name="TABLE_ENDDRAG_RECT" val="677*202*234*337"/>
</p:tagLst>
</file>

<file path=ppt/tags/tag2.xml><?xml version="1.0" encoding="utf-8"?>
<p:tagLst xmlns:p="http://schemas.openxmlformats.org/presentationml/2006/main">
  <p:tag name="TABLE_ENDDRAG_ORIGIN_RECT" val="823*239"/>
  <p:tag name="TABLE_ENDDRAG_RECT" val="56*164*823*239"/>
</p:tagLst>
</file>

<file path=ppt/theme/theme1.xml><?xml version="1.0" encoding="utf-8"?>
<a:theme xmlns:a="http://schemas.openxmlformats.org/drawingml/2006/main" name="Default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4266</Words>
  <Application>WPS 表格</Application>
  <PresentationFormat>自定义</PresentationFormat>
  <Paragraphs>414</Paragraphs>
  <Slides>13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47" baseType="lpstr">
      <vt:lpstr>Arial</vt:lpstr>
      <vt:lpstr>宋体</vt:lpstr>
      <vt:lpstr>Wingdings</vt:lpstr>
      <vt:lpstr>Montserrat Light</vt:lpstr>
      <vt:lpstr>苹方-简</vt:lpstr>
      <vt:lpstr>Bebas Neue</vt:lpstr>
      <vt:lpstr>Lato Light</vt:lpstr>
      <vt:lpstr>Poppins Light</vt:lpstr>
      <vt:lpstr>Calibri Light</vt:lpstr>
      <vt:lpstr>Helvetica Neue</vt:lpstr>
      <vt:lpstr>Arial</vt:lpstr>
      <vt:lpstr>Open Sans Light</vt:lpstr>
      <vt:lpstr>Thonburi</vt:lpstr>
      <vt:lpstr>Open Sans</vt:lpstr>
      <vt:lpstr>微软雅黑 Light</vt:lpstr>
      <vt:lpstr>汉仪中黑KW</vt:lpstr>
      <vt:lpstr>Poppins Medium</vt:lpstr>
      <vt:lpstr>微软雅黑</vt:lpstr>
      <vt:lpstr>Montserrat Semi</vt:lpstr>
      <vt:lpstr>汉仪旗黑</vt:lpstr>
      <vt:lpstr>Montserrat ExtraBold</vt:lpstr>
      <vt:lpstr>Open Sans Extrabold</vt:lpstr>
      <vt:lpstr>Open Sans</vt:lpstr>
      <vt:lpstr>Segoe UI</vt:lpstr>
      <vt:lpstr>Poppins</vt:lpstr>
      <vt:lpstr>Muli</vt:lpstr>
      <vt:lpstr>Calibri</vt:lpstr>
      <vt:lpstr>宋体</vt:lpstr>
      <vt:lpstr>Arial Unicode MS</vt:lpstr>
      <vt:lpstr>等线 Light</vt:lpstr>
      <vt:lpstr>汉仪中等线KW</vt:lpstr>
      <vt:lpstr>等线</vt:lpstr>
      <vt:lpstr>汉仪书宋二KW</vt:lpstr>
      <vt:lpstr>Default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http://graphicriver.net/user/jetfabrik</Company>
  <LinksUpToDate>false</LinksUpToDate>
  <SharedDoc>false</SharedDoc>
  <HyperlinksChanged>false</HyperlinksChanged>
  <AppVersion>14.0000</AppVersion>
  <Manager>http://graphicriver.net/user/jetfabrik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Premium Presentations</dc:title>
  <dc:creator>Jetfabrik</dc:creator>
  <cp:keywords>http://graphicriver.net/user/jetfabrik</cp:keywords>
  <dc:description>http://graphicriver.net/user/jetfabrik</dc:description>
  <dc:subject>http://graphicriver.net/user/jetfabrik</dc:subject>
  <cp:category>http://graphicriver.net/user/jetfabrik</cp:category>
  <cp:lastModifiedBy>WPS_1687757227</cp:lastModifiedBy>
  <cp:revision>6310</cp:revision>
  <dcterms:created xsi:type="dcterms:W3CDTF">2026-07-09T11:20:13Z</dcterms:created>
  <dcterms:modified xsi:type="dcterms:W3CDTF">2026-07-09T11:20:13Z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BA279BCB178663B54B7F4F6AB9C21609_43</vt:lpwstr>
  </property>
  <property fmtid="{D5CDD505-2E9C-101B-9397-08002B2CF9AE}" pid="3" name="KSOProductBuildVer">
    <vt:lpwstr>2052-6.7.1.8828</vt:lpwstr>
  </property>
</Properties>
</file>